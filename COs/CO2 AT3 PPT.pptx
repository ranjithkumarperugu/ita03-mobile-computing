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74" r:id="rId3"/>
    <p:sldId id="272"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5" r:id="rId20"/>
  </p:sldIdLst>
  <p:sldSz cx="12192000" cy="6858000"/>
  <p:notesSz cx="6858000" cy="9144000"/>
  <p:embeddedFontLst>
    <p:embeddedFont>
      <p:font typeface="Helvetica Neue" panose="020B0604020202020204"/>
      <p:regular r:id="rId24"/>
    </p:embeddedFont>
    <p:embeddedFont>
      <p:font typeface="Trade Gothic Next Light" panose="020B0403040303020004" charset="0"/>
      <p:regular r:id="rId25"/>
      <p:italic r:id="rId26"/>
    </p:embeddedFont>
    <p:embeddedFont>
      <p:font typeface="Haettenschweiler" panose="020B070604090206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7EA03-5715-4021-BAC4-E0CCA1AC6F7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81D478-3B9C-4EAF-92C6-F1863FC1D231}"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g36bc379c7b1_0_5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g36bc379c7b1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with Pictur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11" name="Picture Placeholder 10"/>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4" name="Date Placeholder 3"/>
          <p:cNvSpPr>
            <a:spLocks noGrp="1"/>
          </p:cNvSpPr>
          <p:nvPr>
            <p:ph type="dt" sz="half" idx="10"/>
          </p:nvPr>
        </p:nvSpPr>
        <p:spPr>
          <a:xfrm>
            <a:off x="6938587" y="207982"/>
            <a:ext cx="2662798" cy="413360"/>
          </a:xfrm>
        </p:spPr>
        <p:txBody>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fld>
            <a:endParaRPr lang="en-US"/>
          </a:p>
        </p:txBody>
      </p:sp>
      <p:cxnSp>
        <p:nvCxnSpPr>
          <p:cNvPr id="9" name="Straight Connector 8"/>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20559" y="2139696"/>
            <a:ext cx="11253668" cy="4288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Footer Placeholder 8"/>
          <p:cNvSpPr>
            <a:spLocks noGrp="1"/>
          </p:cNvSpPr>
          <p:nvPr>
            <p:ph type="ftr" sz="quarter" idx="11"/>
          </p:nvPr>
        </p:nvSpPr>
        <p:spPr/>
        <p:txBody>
          <a:bodyPr/>
          <a:lstStyle/>
          <a:p>
            <a:endParaRPr lang="en-US"/>
          </a:p>
        </p:txBody>
      </p:sp>
      <p:sp>
        <p:nvSpPr>
          <p:cNvPr id="8" name="Date Placeholder 7"/>
          <p:cNvSpPr>
            <a:spLocks noGrp="1"/>
          </p:cNvSpPr>
          <p:nvPr>
            <p:ph type="dt" sz="half" idx="10"/>
          </p:nvPr>
        </p:nvSpPr>
        <p:spPr/>
        <p:txBody>
          <a:bodyPr/>
          <a:lstStyle/>
          <a:p>
            <a:fld id="{5BCAD085-E8A6-8845-BD4E-CB4CCA059FC4}" type="datetimeFigureOut">
              <a:rPr lang="en-US" smtClean="0"/>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fld>
            <a:endParaRPr lang="en-US"/>
          </a:p>
        </p:txBody>
      </p:sp>
      <p:cxnSp>
        <p:nvCxnSpPr>
          <p:cNvPr id="7" name="Straight Connector 6"/>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Title with Pictur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5" name="Footer Placeholder 4"/>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US"/>
          </a:p>
        </p:txBody>
      </p:sp>
      <p:sp>
        <p:nvSpPr>
          <p:cNvPr id="4" name="Date Placeholder 3"/>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C1FF6DA9-008F-8B48-92A6-B652298478BF}" type="slidenum">
              <a:rPr lang="en-US" smtClean="0"/>
            </a:fld>
            <a:endParaRPr lang="en-US"/>
          </a:p>
        </p:txBody>
      </p:sp>
      <p:cxnSp>
        <p:nvCxnSpPr>
          <p:cNvPr id="7" name="Straight Connector 6"/>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Titl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p:cNvSpPr>
            <a:spLocks noGrp="1"/>
          </p:cNvSpPr>
          <p:nvPr>
            <p:ph type="dt" sz="half" idx="10"/>
          </p:nvPr>
        </p:nvSpPr>
        <p:spPr>
          <a:xfrm>
            <a:off x="7921742" y="6254496"/>
            <a:ext cx="1679642" cy="413360"/>
          </a:xfrm>
        </p:spPr>
        <p:txBody>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6254496"/>
            <a:ext cx="546447" cy="413360"/>
          </a:xfrm>
        </p:spPr>
        <p:txBody>
          <a:bodyPr/>
          <a:lstStyle>
            <a:lvl1pPr>
              <a:defRPr>
                <a:solidFill>
                  <a:schemeClr val="tx2"/>
                </a:solidFill>
              </a:defRPr>
            </a:lvl1pPr>
          </a:lstStyle>
          <a:p>
            <a:fld id="{C1FF6DA9-008F-8B48-92A6-B652298478BF}" type="slidenum">
              <a:rPr lang="en-US" smtClean="0"/>
            </a:fld>
            <a:endParaRPr lang="en-US"/>
          </a:p>
        </p:txBody>
      </p:sp>
      <p:cxnSp>
        <p:nvCxnSpPr>
          <p:cNvPr id="8" name="Straight Connector 7"/>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Section Header">
    <p:bg>
      <p:bgPr>
        <a:solidFill>
          <a:srgbClr val="C835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p:cNvSpPr>
            <a:spLocks noGrp="1"/>
          </p:cNvSpPr>
          <p:nvPr>
            <p:ph type="dt" sz="half" idx="10"/>
          </p:nvPr>
        </p:nvSpPr>
        <p:spPr/>
        <p:txBody>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fld>
            <a:endParaRPr lang="en-US"/>
          </a:p>
        </p:txBody>
      </p:sp>
      <p:cxnSp>
        <p:nvCxnSpPr>
          <p:cNvPr id="8" name="Straight Connector 7"/>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showMasterSp="0">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p:cNvSpPr>
            <a:spLocks noGrp="1"/>
          </p:cNvSpPr>
          <p:nvPr>
            <p:ph type="ftr" sz="quarter" idx="11"/>
          </p:nvPr>
        </p:nvSpPr>
        <p:spPr/>
        <p:txBody>
          <a:bodyPr/>
          <a:lstStyle/>
          <a:p>
            <a:endParaRPr lang="en-US"/>
          </a:p>
        </p:txBody>
      </p:sp>
      <p:sp>
        <p:nvSpPr>
          <p:cNvPr id="3" name="Content Placeholder 2"/>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fld>
            <a:endParaRPr lang="en-US"/>
          </a:p>
        </p:txBody>
      </p:sp>
      <p:cxnSp>
        <p:nvCxnSpPr>
          <p:cNvPr id="9" name="Straight Connector 8"/>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3" name="Content Placeholder 2"/>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a:xfrm>
            <a:off x="5271899" y="210312"/>
            <a:ext cx="2962656" cy="411480"/>
          </a:xfrm>
        </p:spPr>
        <p:txBody>
          <a:bodyPr/>
          <a:lstStyle/>
          <a:p>
            <a:endParaRPr lang="en-US"/>
          </a:p>
        </p:txBody>
      </p:sp>
      <p:sp>
        <p:nvSpPr>
          <p:cNvPr id="4" name="Date Placeholder 3"/>
          <p:cNvSpPr>
            <a:spLocks noGrp="1"/>
          </p:cNvSpPr>
          <p:nvPr>
            <p:ph type="dt" sz="half" idx="10"/>
          </p:nvPr>
        </p:nvSpPr>
        <p:spPr>
          <a:xfrm>
            <a:off x="9573511" y="210312"/>
            <a:ext cx="1679642"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9" name="Straight Connector 8"/>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showMasterSp="0">
  <p:cSld name="Content 2">
    <p:spTree>
      <p:nvGrpSpPr>
        <p:cNvPr id="1" name=""/>
        <p:cNvGrpSpPr/>
        <p:nvPr/>
      </p:nvGrpSpPr>
      <p:grpSpPr>
        <a:xfrm>
          <a:off x="0" y="0"/>
          <a:ext cx="0" cy="0"/>
          <a:chOff x="0" y="0"/>
          <a:chExt cx="0" cy="0"/>
        </a:xfrm>
      </p:grpSpPr>
      <p:sp>
        <p:nvSpPr>
          <p:cNvPr id="2" name="Title 1"/>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p:cNvSpPr>
            <a:spLocks noGrp="1"/>
          </p:cNvSpPr>
          <p:nvPr>
            <p:ph type="ftr" sz="quarter" idx="11"/>
          </p:nvPr>
        </p:nvSpPr>
        <p:spPr/>
        <p:txBody>
          <a:bodyPr/>
          <a:lstStyle/>
          <a:p>
            <a:endParaRPr lang="en-US"/>
          </a:p>
        </p:txBody>
      </p:sp>
      <p:sp>
        <p:nvSpPr>
          <p:cNvPr id="3" name="Content Placeholder 2"/>
          <p:cNvSpPr>
            <a:spLocks noGrp="1"/>
          </p:cNvSpPr>
          <p:nvPr>
            <p:ph idx="1"/>
          </p:nvPr>
        </p:nvSpPr>
        <p:spPr>
          <a:xfrm>
            <a:off x="5751577" y="2210542"/>
            <a:ext cx="5869293" cy="2432477"/>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7"/>
          <p:cNvSpPr>
            <a:spLocks noGrp="1"/>
          </p:cNvSpPr>
          <p:nvPr>
            <p:ph type="dt" sz="half" idx="10"/>
          </p:nvPr>
        </p:nvSpPr>
        <p:spPr>
          <a:xfrm>
            <a:off x="5751577" y="207982"/>
            <a:ext cx="1921315" cy="413360"/>
          </a:xfrm>
        </p:spPr>
        <p:txBody>
          <a:bodyPr/>
          <a:lstStyle/>
          <a:p>
            <a:fld id="{5BCAD085-E8A6-8845-BD4E-CB4CCA059FC4}" type="datetimeFigureOut">
              <a:rPr lang="en-US" smtClean="0"/>
            </a:fld>
            <a:endParaRPr lang="en-US"/>
          </a:p>
        </p:txBody>
      </p:sp>
      <p:sp>
        <p:nvSpPr>
          <p:cNvPr id="12" name="Slide Number Placeholder 11"/>
          <p:cNvSpPr>
            <a:spLocks noGrp="1"/>
          </p:cNvSpPr>
          <p:nvPr>
            <p:ph type="sldNum" sz="quarter" idx="12"/>
          </p:nvPr>
        </p:nvSpPr>
        <p:spPr/>
        <p:txBody>
          <a:bodyPr/>
          <a:lstStyle/>
          <a:p>
            <a:fld id="{C1FF6DA9-008F-8B48-92A6-B652298478BF}" type="slidenum">
              <a:rPr lang="en-US" smtClean="0"/>
            </a:fld>
            <a:endParaRPr lang="en-US"/>
          </a:p>
        </p:txBody>
      </p:sp>
      <p:cxnSp>
        <p:nvCxnSpPr>
          <p:cNvPr id="7" name="Straight Connector 6"/>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p:cNvSpPr>
            <a:spLocks noGrp="1"/>
          </p:cNvSpPr>
          <p:nvPr>
            <p:ph type="ftr" sz="quarter" idx="11"/>
          </p:nvPr>
        </p:nvSpPr>
        <p:spPr/>
        <p:txBody>
          <a:bodyPr/>
          <a:lstStyle/>
          <a:p>
            <a:endParaRPr lang="en-US"/>
          </a:p>
        </p:txBody>
      </p:sp>
      <p:sp>
        <p:nvSpPr>
          <p:cNvPr id="3" name="Content Placeholder 2"/>
          <p:cNvSpPr>
            <a:spLocks noGrp="1"/>
          </p:cNvSpPr>
          <p:nvPr>
            <p:ph idx="1"/>
          </p:nvPr>
        </p:nvSpPr>
        <p:spPr>
          <a:xfrm>
            <a:off x="5358384" y="1249959"/>
            <a:ext cx="6440424" cy="523876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7"/>
          <p:cNvSpPr>
            <a:spLocks noGrp="1"/>
          </p:cNvSpPr>
          <p:nvPr>
            <p:ph type="dt" sz="half" idx="10"/>
          </p:nvPr>
        </p:nvSpPr>
        <p:spPr>
          <a:xfrm>
            <a:off x="5363852" y="207982"/>
            <a:ext cx="1921315" cy="413360"/>
          </a:xfrm>
        </p:spPr>
        <p:txBody>
          <a:bodyPr/>
          <a:lstStyle/>
          <a:p>
            <a:fld id="{5BCAD085-E8A6-8845-BD4E-CB4CCA059FC4}" type="datetimeFigureOut">
              <a:rPr lang="en-US" smtClean="0"/>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fld>
            <a:endParaRPr lang="en-US"/>
          </a:p>
        </p:txBody>
      </p:sp>
      <p:cxnSp>
        <p:nvCxnSpPr>
          <p:cNvPr id="7" name="Straight Connector 6"/>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5" name="Footer Placeholder 4"/>
          <p:cNvSpPr>
            <a:spLocks noGrp="1"/>
          </p:cNvSpPr>
          <p:nvPr>
            <p:ph type="ftr" sz="quarter" idx="11"/>
          </p:nvPr>
        </p:nvSpPr>
        <p:spPr>
          <a:xfrm>
            <a:off x="5330875" y="213482"/>
            <a:ext cx="2962656" cy="411480"/>
          </a:xfrm>
        </p:spPr>
        <p:txBody>
          <a:bodyPr/>
          <a:lstStyle/>
          <a:p>
            <a:endParaRPr lang="en-US"/>
          </a:p>
        </p:txBody>
      </p:sp>
      <p:sp>
        <p:nvSpPr>
          <p:cNvPr id="4" name="Date Placeholder 3"/>
          <p:cNvSpPr>
            <a:spLocks noGrp="1"/>
          </p:cNvSpPr>
          <p:nvPr>
            <p:ph type="dt" sz="half" idx="10"/>
          </p:nvPr>
        </p:nvSpPr>
        <p:spPr>
          <a:xfrm>
            <a:off x="9609227" y="210312"/>
            <a:ext cx="1679642"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5330875" y="2944368"/>
            <a:ext cx="6442025" cy="35716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8" name="Straight Connector 7"/>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9" name="Footer Placeholder 8"/>
          <p:cNvSpPr>
            <a:spLocks noGrp="1"/>
          </p:cNvSpPr>
          <p:nvPr>
            <p:ph type="ftr" sz="quarter" idx="15"/>
          </p:nvPr>
        </p:nvSpPr>
        <p:spPr>
          <a:xfrm>
            <a:off x="4750307" y="210312"/>
            <a:ext cx="3531437" cy="413360"/>
          </a:xfrm>
        </p:spPr>
        <p:txBody>
          <a:bodyPr/>
          <a:lstStyle/>
          <a:p>
            <a:endParaRPr lang="en-US"/>
          </a:p>
        </p:txBody>
      </p:sp>
      <p:sp>
        <p:nvSpPr>
          <p:cNvPr id="7" name="Date Placeholder 6"/>
          <p:cNvSpPr>
            <a:spLocks noGrp="1"/>
          </p:cNvSpPr>
          <p:nvPr>
            <p:ph type="dt" sz="half" idx="14"/>
          </p:nvPr>
        </p:nvSpPr>
        <p:spPr>
          <a:xfrm>
            <a:off x="9582299" y="210312"/>
            <a:ext cx="1679642" cy="413360"/>
          </a:xfrm>
        </p:spPr>
        <p:txBody>
          <a:bodyPr/>
          <a:lstStyle/>
          <a:p>
            <a:fld id="{5BCAD085-E8A6-8845-BD4E-CB4CCA059FC4}" type="datetimeFigureOut">
              <a:rPr lang="en-US" smtClean="0"/>
            </a:fld>
            <a:endParaRPr lang="en-US"/>
          </a:p>
        </p:txBody>
      </p:sp>
      <p:sp>
        <p:nvSpPr>
          <p:cNvPr id="11" name="Slide Number Placeholder 10"/>
          <p:cNvSpPr>
            <a:spLocks noGrp="1"/>
          </p:cNvSpPr>
          <p:nvPr>
            <p:ph type="sldNum" sz="quarter" idx="16"/>
          </p:nvPr>
        </p:nvSpPr>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4750307" y="1746503"/>
            <a:ext cx="7022592" cy="480669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8" name="Straight Connector 7"/>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Content with Picture 3">
    <p:spTree>
      <p:nvGrpSpPr>
        <p:cNvPr id="1" name=""/>
        <p:cNvGrpSpPr/>
        <p:nvPr/>
      </p:nvGrpSpPr>
      <p:grpSpPr>
        <a:xfrm>
          <a:off x="0" y="0"/>
          <a:ext cx="0" cy="0"/>
          <a:chOff x="0" y="0"/>
          <a:chExt cx="0" cy="0"/>
        </a:xfrm>
      </p:grpSpPr>
      <p:sp>
        <p:nvSpPr>
          <p:cNvPr id="2" name="Title 1"/>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p:cNvSpPr>
            <a:spLocks noGrp="1"/>
          </p:cNvSpPr>
          <p:nvPr>
            <p:ph type="ftr" sz="quarter" idx="15"/>
          </p:nvPr>
        </p:nvSpPr>
        <p:spPr/>
        <p:txBody>
          <a:bodyPr/>
          <a:lstStyle/>
          <a:p>
            <a:endParaRPr lang="en-US"/>
          </a:p>
        </p:txBody>
      </p:sp>
      <p:sp>
        <p:nvSpPr>
          <p:cNvPr id="9" name="Date Placeholder 8"/>
          <p:cNvSpPr>
            <a:spLocks noGrp="1"/>
          </p:cNvSpPr>
          <p:nvPr>
            <p:ph type="dt" sz="half" idx="14"/>
          </p:nvPr>
        </p:nvSpPr>
        <p:spPr>
          <a:xfrm>
            <a:off x="5224951" y="207982"/>
            <a:ext cx="1682496" cy="413360"/>
          </a:xfrm>
        </p:spPr>
        <p:txBody>
          <a:bodyPr/>
          <a:lstStyle/>
          <a:p>
            <a:fld id="{5BCAD085-E8A6-8845-BD4E-CB4CCA059FC4}" type="datetimeFigureOut">
              <a:rPr lang="en-US" smtClean="0"/>
            </a:fld>
            <a:endParaRPr lang="en-US"/>
          </a:p>
        </p:txBody>
      </p:sp>
      <p:sp>
        <p:nvSpPr>
          <p:cNvPr id="12" name="Slide Number Placeholder 11"/>
          <p:cNvSpPr>
            <a:spLocks noGrp="1"/>
          </p:cNvSpPr>
          <p:nvPr>
            <p:ph type="sldNum" sz="quarter" idx="16"/>
          </p:nvPr>
        </p:nvSpPr>
        <p:spPr>
          <a:xfrm>
            <a:off x="6789594" y="207982"/>
            <a:ext cx="546447" cy="413360"/>
          </a:xfrm>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317773" y="1746504"/>
            <a:ext cx="7018271" cy="480669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Picture Placeholder 9"/>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cxnSp>
        <p:nvCxnSpPr>
          <p:cNvPr id="8" name="Straight Connector 7"/>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p:cNvSpPr>
            <a:spLocks noGrp="1"/>
          </p:cNvSpPr>
          <p:nvPr>
            <p:ph type="ftr" sz="quarter" idx="11"/>
          </p:nvPr>
        </p:nvSpPr>
        <p:spPr>
          <a:xfrm>
            <a:off x="317772" y="210312"/>
            <a:ext cx="2962656" cy="411480"/>
          </a:xfrm>
        </p:spPr>
        <p:txBody>
          <a:bodyPr/>
          <a:lstStyle/>
          <a:p>
            <a:endParaRPr lang="en-US"/>
          </a:p>
        </p:txBody>
      </p:sp>
      <p:sp>
        <p:nvSpPr>
          <p:cNvPr id="4" name="Date Placeholder 3"/>
          <p:cNvSpPr>
            <a:spLocks noGrp="1"/>
          </p:cNvSpPr>
          <p:nvPr>
            <p:ph type="dt" sz="half" idx="10"/>
          </p:nvPr>
        </p:nvSpPr>
        <p:spPr>
          <a:xfrm>
            <a:off x="3969163" y="210312"/>
            <a:ext cx="1679642"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5614093" y="210312"/>
            <a:ext cx="546447" cy="413360"/>
          </a:xfrm>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317773" y="1993391"/>
            <a:ext cx="5778227" cy="455980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Picture Placeholder 9"/>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cxnSp>
        <p:nvCxnSpPr>
          <p:cNvPr id="8" name="Straight Connector 7"/>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p:cNvSpPr>
            <a:spLocks noGrp="1"/>
          </p:cNvSpPr>
          <p:nvPr>
            <p:ph type="ftr" sz="quarter" idx="11"/>
          </p:nvPr>
        </p:nvSpPr>
        <p:spPr>
          <a:xfrm>
            <a:off x="317773" y="210312"/>
            <a:ext cx="2260057" cy="411480"/>
          </a:xfrm>
        </p:spPr>
        <p:txBody>
          <a:bodyPr/>
          <a:lstStyle/>
          <a:p>
            <a:endParaRPr lang="en-US"/>
          </a:p>
        </p:txBody>
      </p:sp>
      <p:sp>
        <p:nvSpPr>
          <p:cNvPr id="4" name="Date Placeholder 3"/>
          <p:cNvSpPr>
            <a:spLocks noGrp="1"/>
          </p:cNvSpPr>
          <p:nvPr>
            <p:ph type="dt" sz="half" idx="10"/>
          </p:nvPr>
        </p:nvSpPr>
        <p:spPr>
          <a:xfrm>
            <a:off x="3029329" y="210312"/>
            <a:ext cx="1058111"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4010197" y="210312"/>
            <a:ext cx="440969" cy="413360"/>
          </a:xfrm>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329704" y="2578609"/>
            <a:ext cx="4130606" cy="37124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Picture Placeholder 9"/>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endParaRPr lang="en-US" dirty="0"/>
          </a:p>
        </p:txBody>
      </p:sp>
      <p:cxnSp>
        <p:nvCxnSpPr>
          <p:cNvPr id="8" name="Straight Connector 7"/>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p:cNvSpPr>
            <a:spLocks noGrp="1"/>
          </p:cNvSpPr>
          <p:nvPr>
            <p:ph type="ftr" sz="quarter" idx="15"/>
          </p:nvPr>
        </p:nvSpPr>
        <p:spPr/>
        <p:txBody>
          <a:bodyPr/>
          <a:lstStyle/>
          <a:p>
            <a:endParaRPr lang="en-US"/>
          </a:p>
        </p:txBody>
      </p:sp>
      <p:sp>
        <p:nvSpPr>
          <p:cNvPr id="7" name="Date Placeholder 6"/>
          <p:cNvSpPr>
            <a:spLocks noGrp="1"/>
          </p:cNvSpPr>
          <p:nvPr>
            <p:ph type="dt" sz="half" idx="14"/>
          </p:nvPr>
        </p:nvSpPr>
        <p:spPr/>
        <p:txBody>
          <a:bodyPr/>
          <a:lstStyle/>
          <a:p>
            <a:fld id="{5BCAD085-E8A6-8845-BD4E-CB4CCA059FC4}" type="datetimeFigureOut">
              <a:rPr lang="en-US" smtClean="0"/>
            </a:fld>
            <a:endParaRPr lang="en-US"/>
          </a:p>
        </p:txBody>
      </p:sp>
      <p:sp>
        <p:nvSpPr>
          <p:cNvPr id="12" name="Slide Number Placeholder 11"/>
          <p:cNvSpPr>
            <a:spLocks noGrp="1"/>
          </p:cNvSpPr>
          <p:nvPr>
            <p:ph type="sldNum" sz="quarter" idx="16"/>
          </p:nvPr>
        </p:nvSpPr>
        <p:spPr/>
        <p:txBody>
          <a:bodyPr/>
          <a:lstStyle/>
          <a:p>
            <a:fld id="{C1FF6DA9-008F-8B48-92A6-B652298478BF}" type="slidenum">
              <a:rPr lang="en-US" smtClean="0"/>
            </a:fld>
            <a:endParaRPr lang="en-US"/>
          </a:p>
        </p:txBody>
      </p:sp>
      <p:sp>
        <p:nvSpPr>
          <p:cNvPr id="3" name="Content Placeholder 2"/>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Picture Placeholder 9"/>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endParaRPr lang="en-US" dirty="0"/>
          </a:p>
        </p:txBody>
      </p:sp>
      <p:cxnSp>
        <p:nvCxnSpPr>
          <p:cNvPr id="8" name="Straight Connector 7"/>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3" name="Content Placeholder 2"/>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a:xfrm>
            <a:off x="317772" y="6437376"/>
            <a:ext cx="2962656" cy="365125"/>
          </a:xfrm>
        </p:spPr>
        <p:txBody>
          <a:bodyPr/>
          <a:lstStyle/>
          <a:p>
            <a:endParaRPr lang="en-US"/>
          </a:p>
        </p:txBody>
      </p:sp>
      <p:sp>
        <p:nvSpPr>
          <p:cNvPr id="4" name="Date Placeholder 3"/>
          <p:cNvSpPr>
            <a:spLocks noGrp="1"/>
          </p:cNvSpPr>
          <p:nvPr>
            <p:ph type="dt" sz="half" idx="10"/>
          </p:nvPr>
        </p:nvSpPr>
        <p:spPr>
          <a:xfrm>
            <a:off x="4699121" y="6437193"/>
            <a:ext cx="4549413" cy="365125"/>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6437376"/>
            <a:ext cx="546447" cy="413360"/>
          </a:xfrm>
        </p:spPr>
        <p:txBody>
          <a:bodyPr/>
          <a:lstStyle/>
          <a:p>
            <a:fld id="{C1FF6DA9-008F-8B48-92A6-B652298478BF}" type="slidenum">
              <a:rPr lang="en-US" smtClean="0"/>
            </a:fld>
            <a:endParaRPr lang="en-US"/>
          </a:p>
        </p:txBody>
      </p:sp>
      <p:cxnSp>
        <p:nvCxnSpPr>
          <p:cNvPr id="9" name="Straight Connector 8"/>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p:cNvSpPr>
            <a:spLocks noGrp="1"/>
          </p:cNvSpPr>
          <p:nvPr>
            <p:ph type="ftr" sz="quarter" idx="15"/>
          </p:nvPr>
        </p:nvSpPr>
        <p:spPr/>
        <p:txBody>
          <a:bodyPr/>
          <a:lstStyle/>
          <a:p>
            <a:endParaRPr lang="en-US"/>
          </a:p>
        </p:txBody>
      </p:sp>
      <p:sp>
        <p:nvSpPr>
          <p:cNvPr id="8" name="Date Placeholder 7"/>
          <p:cNvSpPr>
            <a:spLocks noGrp="1"/>
          </p:cNvSpPr>
          <p:nvPr>
            <p:ph type="dt" sz="half" idx="14"/>
          </p:nvPr>
        </p:nvSpPr>
        <p:spPr/>
        <p:txBody>
          <a:bodyPr/>
          <a:lstStyle/>
          <a:p>
            <a:fld id="{5BCAD085-E8A6-8845-BD4E-CB4CCA059FC4}" type="datetimeFigureOut">
              <a:rPr lang="en-US" smtClean="0"/>
            </a:fld>
            <a:endParaRPr lang="en-US"/>
          </a:p>
        </p:txBody>
      </p:sp>
      <p:sp>
        <p:nvSpPr>
          <p:cNvPr id="11" name="Slide Number Placeholder 10"/>
          <p:cNvSpPr>
            <a:spLocks noGrp="1"/>
          </p:cNvSpPr>
          <p:nvPr>
            <p:ph type="sldNum" sz="quarter" idx="16"/>
          </p:nvPr>
        </p:nvSpPr>
        <p:spPr/>
        <p:txBody>
          <a:bodyPr/>
          <a:lstStyle/>
          <a:p>
            <a:fld id="{C1FF6DA9-008F-8B48-92A6-B652298478BF}" type="slidenum">
              <a:rPr lang="en-US" smtClean="0"/>
            </a:fld>
            <a:endParaRPr lang="en-US"/>
          </a:p>
        </p:txBody>
      </p:sp>
      <p:sp>
        <p:nvSpPr>
          <p:cNvPr id="10" name="Picture Placeholder 9"/>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3" name="Content Placeholder 2"/>
          <p:cNvSpPr>
            <a:spLocks noGrp="1"/>
          </p:cNvSpPr>
          <p:nvPr>
            <p:ph idx="1"/>
          </p:nvPr>
        </p:nvSpPr>
        <p:spPr>
          <a:xfrm>
            <a:off x="7680068" y="762000"/>
            <a:ext cx="4092813" cy="579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7" name="Straight Connector 6"/>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p:cNvSpPr>
            <a:spLocks noGrp="1"/>
          </p:cNvSpPr>
          <p:nvPr>
            <p:ph type="ftr" sz="quarter" idx="11"/>
          </p:nvPr>
        </p:nvSpPr>
        <p:spPr>
          <a:xfrm>
            <a:off x="317772" y="213482"/>
            <a:ext cx="2962656" cy="411480"/>
          </a:xfrm>
        </p:spPr>
        <p:txBody>
          <a:bodyPr/>
          <a:lstStyle/>
          <a:p>
            <a:endParaRPr lang="en-US"/>
          </a:p>
        </p:txBody>
      </p:sp>
      <p:sp>
        <p:nvSpPr>
          <p:cNvPr id="4" name="Date Placeholder 3"/>
          <p:cNvSpPr>
            <a:spLocks noGrp="1"/>
          </p:cNvSpPr>
          <p:nvPr>
            <p:ph type="dt" sz="half" idx="10"/>
          </p:nvPr>
        </p:nvSpPr>
        <p:spPr>
          <a:xfrm>
            <a:off x="7568892" y="210312"/>
            <a:ext cx="1679642"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207982"/>
            <a:ext cx="546447" cy="411480"/>
          </a:xfrm>
        </p:spPr>
        <p:txBody>
          <a:bodyPr/>
          <a:lstStyle/>
          <a:p>
            <a:fld id="{C1FF6DA9-008F-8B48-92A6-B652298478BF}" type="slidenum">
              <a:rPr lang="en-US" smtClean="0"/>
            </a:fld>
            <a:endParaRPr lang="en-US"/>
          </a:p>
        </p:txBody>
      </p:sp>
      <p:sp>
        <p:nvSpPr>
          <p:cNvPr id="10" name="Picture Placeholder 9"/>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endParaRPr lang="en-US" dirty="0"/>
          </a:p>
        </p:txBody>
      </p:sp>
      <p:sp>
        <p:nvSpPr>
          <p:cNvPr id="3" name="Content Placeholder 2"/>
          <p:cNvSpPr>
            <a:spLocks noGrp="1"/>
          </p:cNvSpPr>
          <p:nvPr>
            <p:ph idx="1"/>
          </p:nvPr>
        </p:nvSpPr>
        <p:spPr>
          <a:xfrm>
            <a:off x="3801441" y="2130553"/>
            <a:ext cx="7971459" cy="442264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7" name="Straight Connector 6"/>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endParaRPr lang="en-US" dirty="0"/>
          </a:p>
        </p:txBody>
      </p:sp>
      <p:sp>
        <p:nvSpPr>
          <p:cNvPr id="5" name="Footer Placeholder 4"/>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US"/>
          </a:p>
        </p:txBody>
      </p:sp>
      <p:sp>
        <p:nvSpPr>
          <p:cNvPr id="4" name="Date Placeholder 3"/>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C1FF6DA9-008F-8B48-92A6-B652298478BF}" type="slidenum">
              <a:rPr lang="en-US" smtClean="0"/>
            </a:fld>
            <a:endParaRPr lang="en-US"/>
          </a:p>
        </p:txBody>
      </p:sp>
      <p:cxnSp>
        <p:nvCxnSpPr>
          <p:cNvPr id="10" name="Straight Connector 9"/>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Footer Placeholder 3"/>
          <p:cNvSpPr>
            <a:spLocks noGrp="1"/>
          </p:cNvSpPr>
          <p:nvPr>
            <p:ph type="ftr" sz="quarter" idx="11"/>
          </p:nvPr>
        </p:nvSpPr>
        <p:spPr>
          <a:xfrm>
            <a:off x="317773" y="6263640"/>
            <a:ext cx="2963692" cy="413360"/>
          </a:xfrm>
        </p:spPr>
        <p:txBody>
          <a:bodyPr/>
          <a:lstStyle/>
          <a:p>
            <a:endParaRPr lang="en-US"/>
          </a:p>
        </p:txBody>
      </p:sp>
      <p:sp>
        <p:nvSpPr>
          <p:cNvPr id="3" name="Date Placeholder 2"/>
          <p:cNvSpPr>
            <a:spLocks noGrp="1"/>
          </p:cNvSpPr>
          <p:nvPr>
            <p:ph type="dt" sz="half" idx="10"/>
          </p:nvPr>
        </p:nvSpPr>
        <p:spPr>
          <a:xfrm>
            <a:off x="7680069" y="6263640"/>
            <a:ext cx="1921315" cy="413360"/>
          </a:xfrm>
        </p:spPr>
        <p:txBody>
          <a:bodyPr/>
          <a:lstStyle/>
          <a:p>
            <a:fld id="{5BCAD085-E8A6-8845-BD4E-CB4CCA059FC4}" type="datetimeFigureOut">
              <a:rPr lang="en-US" smtClean="0"/>
            </a:fld>
            <a:endParaRPr lang="en-US"/>
          </a:p>
        </p:txBody>
      </p:sp>
      <p:sp>
        <p:nvSpPr>
          <p:cNvPr id="5" name="Slide Number Placeholder 4"/>
          <p:cNvSpPr>
            <a:spLocks noGrp="1"/>
          </p:cNvSpPr>
          <p:nvPr>
            <p:ph type="sldNum" sz="quarter" idx="12"/>
          </p:nvPr>
        </p:nvSpPr>
        <p:spPr>
          <a:xfrm>
            <a:off x="11288870" y="6263640"/>
            <a:ext cx="546447" cy="413360"/>
          </a:xfrm>
        </p:spPr>
        <p:txBody>
          <a:bodyPr/>
          <a:lstStyle/>
          <a:p>
            <a:fld id="{C1FF6DA9-008F-8B48-92A6-B652298478BF}" type="slidenum">
              <a:rPr lang="en-US" smtClean="0"/>
            </a:fld>
            <a:endParaRPr lang="en-US"/>
          </a:p>
        </p:txBody>
      </p:sp>
      <p:cxnSp>
        <p:nvCxnSpPr>
          <p:cNvPr id="6" name="Straight Connector 5"/>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endParaRPr lang="en-US" dirty="0"/>
          </a:p>
        </p:txBody>
      </p:sp>
      <p:sp>
        <p:nvSpPr>
          <p:cNvPr id="3" name="Content Placeholder 2"/>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endParaRPr lang="en-US" dirty="0"/>
          </a:p>
        </p:txBody>
      </p:sp>
      <p:sp>
        <p:nvSpPr>
          <p:cNvPr id="5" name="Footer Placeholder 4"/>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US"/>
          </a:p>
        </p:txBody>
      </p:sp>
      <p:sp>
        <p:nvSpPr>
          <p:cNvPr id="4" name="Date Placeholder 3"/>
          <p:cNvSpPr>
            <a:spLocks noGrp="1"/>
          </p:cNvSpPr>
          <p:nvPr>
            <p:ph type="dt" sz="half" idx="10"/>
          </p:nvPr>
        </p:nvSpPr>
        <p:spPr>
          <a:xfrm>
            <a:off x="7568892" y="210312"/>
            <a:ext cx="2443788" cy="411480"/>
          </a:xfrm>
        </p:spPr>
        <p:txBody>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210312"/>
            <a:ext cx="546447" cy="411480"/>
          </a:xfrm>
        </p:spPr>
        <p:txBody>
          <a:bodyPr/>
          <a:lstStyle>
            <a:lvl1pPr>
              <a:defRPr>
                <a:solidFill>
                  <a:schemeClr val="tx2"/>
                </a:solidFill>
              </a:defRPr>
            </a:lvl1pPr>
          </a:lstStyle>
          <a:p>
            <a:fld id="{C1FF6DA9-008F-8B48-92A6-B652298478BF}" type="slidenum">
              <a:rPr lang="en-US" smtClean="0"/>
            </a:fld>
            <a:endParaRPr lang="en-US"/>
          </a:p>
        </p:txBody>
      </p:sp>
      <p:cxnSp>
        <p:nvCxnSpPr>
          <p:cNvPr id="9" name="Straight Connector 8"/>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p:cNvSpPr>
            <a:spLocks noGrp="1"/>
          </p:cNvSpPr>
          <p:nvPr>
            <p:ph type="ftr" sz="quarter" idx="11"/>
          </p:nvPr>
        </p:nvSpPr>
        <p:spPr/>
        <p:txBody>
          <a:bodyPr/>
          <a:lstStyle/>
          <a:p>
            <a:endParaRPr lang="en-US"/>
          </a:p>
        </p:txBody>
      </p:sp>
      <p:sp>
        <p:nvSpPr>
          <p:cNvPr id="9" name="Date Placeholder 8"/>
          <p:cNvSpPr>
            <a:spLocks noGrp="1"/>
          </p:cNvSpPr>
          <p:nvPr>
            <p:ph type="dt" sz="half" idx="10"/>
          </p:nvPr>
        </p:nvSpPr>
        <p:spPr/>
        <p:txBody>
          <a:bodyPr/>
          <a:lstStyle/>
          <a:p>
            <a:fld id="{5BCAD085-E8A6-8845-BD4E-CB4CCA059FC4}" type="datetimeFigureOut">
              <a:rPr lang="en-US" smtClean="0"/>
            </a:fld>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fld>
            <a:endParaRPr lang="en-US"/>
          </a:p>
        </p:txBody>
      </p:sp>
      <p:sp>
        <p:nvSpPr>
          <p:cNvPr id="3" name="Content Placeholder 2"/>
          <p:cNvSpPr>
            <a:spLocks noGrp="1"/>
          </p:cNvSpPr>
          <p:nvPr>
            <p:ph sz="half" idx="1"/>
          </p:nvPr>
        </p:nvSpPr>
        <p:spPr>
          <a:xfrm>
            <a:off x="317773" y="1773857"/>
            <a:ext cx="5349240" cy="445312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24987" y="1773858"/>
            <a:ext cx="5349240" cy="445312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8" name="Straight Connector 7"/>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
        <p:nvSpPr>
          <p:cNvPr id="3" name="Text Placeholder 2"/>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17773" y="2368476"/>
            <a:ext cx="5349064" cy="385876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24796" y="2368476"/>
            <a:ext cx="5349240" cy="385876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10" name="Straight Connector 9"/>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showMasterSp="0">
  <p:cSld name="Empt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US"/>
          </a:p>
        </p:txBody>
      </p:sp>
      <p:sp>
        <p:nvSpPr>
          <p:cNvPr id="4" name="Date Placeholder 3"/>
          <p:cNvSpPr>
            <a:spLocks noGrp="1"/>
          </p:cNvSpPr>
          <p:nvPr>
            <p:ph type="dt" sz="half" idx="10"/>
          </p:nvPr>
        </p:nvSpPr>
        <p:spPr>
          <a:xfrm>
            <a:off x="7568891" y="6263640"/>
            <a:ext cx="1933553" cy="411480"/>
          </a:xfrm>
        </p:spPr>
        <p:txBody>
          <a:bodyPr/>
          <a:lstStyle>
            <a:lvl1pPr>
              <a:defRPr>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a:xfrm>
            <a:off x="11288870" y="6263640"/>
            <a:ext cx="546447" cy="413360"/>
          </a:xfrm>
        </p:spPr>
        <p:txBody>
          <a:bodyPr/>
          <a:lstStyle>
            <a:lvl1pPr>
              <a:defRPr>
                <a:solidFill>
                  <a:schemeClr val="tx2"/>
                </a:solidFill>
              </a:defRPr>
            </a:lvl1pPr>
          </a:lstStyle>
          <a:p>
            <a:fld id="{C1FF6DA9-008F-8B48-92A6-B652298478BF}" type="slidenum">
              <a:rPr lang="en-US" smtClean="0"/>
            </a:fld>
            <a:endParaRPr lang="en-US"/>
          </a:p>
        </p:txBody>
      </p:sp>
      <p:sp>
        <p:nvSpPr>
          <p:cNvPr id="3" name="Content Placeholder 2"/>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showMasterSp="0">
  <p:cSld name="Conclusion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a:xfrm>
            <a:off x="317772" y="213482"/>
            <a:ext cx="2962656" cy="411480"/>
          </a:xfrm>
        </p:spPr>
        <p:txBody>
          <a:bodyPr/>
          <a:lstStyle/>
          <a:p>
            <a:endParaRPr lang="en-US"/>
          </a:p>
        </p:txBody>
      </p:sp>
      <p:sp>
        <p:nvSpPr>
          <p:cNvPr id="4" name="Date Placeholder 3"/>
          <p:cNvSpPr>
            <a:spLocks noGrp="1"/>
          </p:cNvSpPr>
          <p:nvPr>
            <p:ph type="dt" sz="half" idx="10"/>
          </p:nvPr>
        </p:nvSpPr>
        <p:spPr>
          <a:xfrm>
            <a:off x="7568892" y="210312"/>
            <a:ext cx="1679642" cy="411480"/>
          </a:xfrm>
        </p:spPr>
        <p:txBody>
          <a:bodyPr/>
          <a:lstStyle/>
          <a:p>
            <a:fld id="{5BCAD085-E8A6-8845-BD4E-CB4CCA059FC4}" type="datetimeFigureOut">
              <a:rPr lang="en-US" smtClean="0"/>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7" name="Straight Connector 6"/>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showMasterSp="0" matchingName="Title">
  <p:cSld name="1_Title">
    <p:spTree>
      <p:nvGrpSpPr>
        <p:cNvPr id="1" name="Shape 11"/>
        <p:cNvGrpSpPr/>
        <p:nvPr/>
      </p:nvGrpSpPr>
      <p:grpSpPr>
        <a:xfrm>
          <a:off x="0" y="0"/>
          <a:ext cx="0" cy="0"/>
          <a:chOff x="0" y="0"/>
          <a:chExt cx="0" cy="0"/>
        </a:xfrm>
      </p:grpSpPr>
      <p:sp>
        <p:nvSpPr>
          <p:cNvPr id="12" name="Google Shape;12;g36bc379c7b1_10_63"/>
          <p:cNvSpPr txBox="1">
            <a:spLocks noGrp="1"/>
          </p:cNvSpPr>
          <p:nvPr>
            <p:ph type="body" idx="1"/>
          </p:nvPr>
        </p:nvSpPr>
        <p:spPr>
          <a:xfrm>
            <a:off x="600670" y="5929931"/>
            <a:ext cx="10985550" cy="318450"/>
          </a:xfrm>
          <a:prstGeom prst="rect">
            <a:avLst/>
          </a:prstGeom>
          <a:noFill/>
          <a:ln>
            <a:noFill/>
          </a:ln>
        </p:spPr>
        <p:txBody>
          <a:bodyPr spcFirstLastPara="1" wrap="square" lIns="45700" tIns="45700" rIns="45700" bIns="45700" anchor="t" anchorCtr="0">
            <a:normAutofit/>
          </a:bodyPr>
          <a:lstStyle>
            <a:lvl1pPr marL="228600" lvl="0" indent="-114300" algn="l">
              <a:lnSpc>
                <a:spcPct val="100000"/>
              </a:lnSpc>
              <a:spcBef>
                <a:spcPts val="0"/>
              </a:spcBef>
              <a:spcAft>
                <a:spcPts val="0"/>
              </a:spcAft>
              <a:buClr>
                <a:srgbClr val="000000"/>
              </a:buClr>
              <a:buSzPts val="3600"/>
              <a:buFont typeface="Helvetica Neue" panose="020B0604020202020204"/>
              <a:buNone/>
              <a:defRPr sz="1800" b="1"/>
            </a:lvl1pPr>
            <a:lvl2pPr marL="457200" lvl="1" indent="-184785" algn="l">
              <a:lnSpc>
                <a:spcPct val="90000"/>
              </a:lnSpc>
              <a:spcBef>
                <a:spcPts val="2250"/>
              </a:spcBef>
              <a:spcAft>
                <a:spcPts val="0"/>
              </a:spcAft>
              <a:buClr>
                <a:srgbClr val="000000"/>
              </a:buClr>
              <a:buSzPts val="2214"/>
              <a:buChar char="•"/>
              <a:defRPr/>
            </a:lvl2pPr>
            <a:lvl3pPr marL="685800" lvl="2" indent="-184785" algn="l">
              <a:lnSpc>
                <a:spcPct val="90000"/>
              </a:lnSpc>
              <a:spcBef>
                <a:spcPts val="2250"/>
              </a:spcBef>
              <a:spcAft>
                <a:spcPts val="0"/>
              </a:spcAft>
              <a:buClr>
                <a:srgbClr val="000000"/>
              </a:buClr>
              <a:buSzPts val="2214"/>
              <a:buChar char="•"/>
              <a:defRPr/>
            </a:lvl3pPr>
            <a:lvl4pPr marL="914400" lvl="3" indent="-184785" algn="l">
              <a:lnSpc>
                <a:spcPct val="90000"/>
              </a:lnSpc>
              <a:spcBef>
                <a:spcPts val="2250"/>
              </a:spcBef>
              <a:spcAft>
                <a:spcPts val="0"/>
              </a:spcAft>
              <a:buClr>
                <a:srgbClr val="000000"/>
              </a:buClr>
              <a:buSzPts val="2214"/>
              <a:buChar char="•"/>
              <a:defRPr/>
            </a:lvl4pPr>
            <a:lvl5pPr marL="1143000" lvl="4" indent="-184785" algn="l">
              <a:lnSpc>
                <a:spcPct val="90000"/>
              </a:lnSpc>
              <a:spcBef>
                <a:spcPts val="2250"/>
              </a:spcBef>
              <a:spcAft>
                <a:spcPts val="0"/>
              </a:spcAft>
              <a:buClr>
                <a:srgbClr val="000000"/>
              </a:buClr>
              <a:buSzPts val="2214"/>
              <a:buChar char="•"/>
              <a:defRPr/>
            </a:lvl5pPr>
            <a:lvl6pPr marL="1371600" lvl="5" indent="-184785" algn="l">
              <a:lnSpc>
                <a:spcPct val="90000"/>
              </a:lnSpc>
              <a:spcBef>
                <a:spcPts val="2250"/>
              </a:spcBef>
              <a:spcAft>
                <a:spcPts val="0"/>
              </a:spcAft>
              <a:buClr>
                <a:srgbClr val="000000"/>
              </a:buClr>
              <a:buSzPts val="2214"/>
              <a:buChar char="•"/>
              <a:defRPr/>
            </a:lvl6pPr>
            <a:lvl7pPr marL="1600200" lvl="6" indent="-184785" algn="l">
              <a:lnSpc>
                <a:spcPct val="90000"/>
              </a:lnSpc>
              <a:spcBef>
                <a:spcPts val="2250"/>
              </a:spcBef>
              <a:spcAft>
                <a:spcPts val="0"/>
              </a:spcAft>
              <a:buClr>
                <a:srgbClr val="000000"/>
              </a:buClr>
              <a:buSzPts val="2214"/>
              <a:buChar char="•"/>
              <a:defRPr/>
            </a:lvl7pPr>
            <a:lvl8pPr marL="1828800" lvl="7" indent="-184785" algn="l">
              <a:lnSpc>
                <a:spcPct val="90000"/>
              </a:lnSpc>
              <a:spcBef>
                <a:spcPts val="2250"/>
              </a:spcBef>
              <a:spcAft>
                <a:spcPts val="0"/>
              </a:spcAft>
              <a:buClr>
                <a:srgbClr val="000000"/>
              </a:buClr>
              <a:buSzPts val="2214"/>
              <a:buChar char="•"/>
              <a:defRPr/>
            </a:lvl8pPr>
            <a:lvl9pPr marL="2057400" lvl="8" indent="-184785" algn="l">
              <a:lnSpc>
                <a:spcPct val="90000"/>
              </a:lnSpc>
              <a:spcBef>
                <a:spcPts val="2250"/>
              </a:spcBef>
              <a:spcAft>
                <a:spcPts val="0"/>
              </a:spcAft>
              <a:buClr>
                <a:srgbClr val="000000"/>
              </a:buClr>
              <a:buSzPts val="2214"/>
              <a:buChar char="•"/>
              <a:defRPr/>
            </a:lvl9pPr>
          </a:lstStyle>
          <a:p/>
        </p:txBody>
      </p:sp>
      <p:sp>
        <p:nvSpPr>
          <p:cNvPr id="13" name="Google Shape;13;g36bc379c7b1_10_63"/>
          <p:cNvSpPr txBox="1">
            <a:spLocks noGrp="1"/>
          </p:cNvSpPr>
          <p:nvPr>
            <p:ph type="title"/>
          </p:nvPr>
        </p:nvSpPr>
        <p:spPr>
          <a:xfrm>
            <a:off x="603248" y="1287496"/>
            <a:ext cx="10985550" cy="23241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panose="020B0604020202020204"/>
              <a:buNone/>
              <a:defRPr sz="58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14" name="Google Shape;14;g36bc379c7b1_10_63"/>
          <p:cNvSpPr txBox="1">
            <a:spLocks noGrp="1"/>
          </p:cNvSpPr>
          <p:nvPr>
            <p:ph type="body" idx="2"/>
          </p:nvPr>
        </p:nvSpPr>
        <p:spPr>
          <a:xfrm>
            <a:off x="600671" y="3611595"/>
            <a:ext cx="10985550" cy="952500"/>
          </a:xfrm>
          <a:prstGeom prst="rect">
            <a:avLst/>
          </a:prstGeom>
          <a:noFill/>
          <a:ln>
            <a:noFill/>
          </a:ln>
        </p:spPr>
        <p:txBody>
          <a:bodyPr spcFirstLastPara="1" wrap="square" lIns="50800" tIns="50800" rIns="50800" bIns="50800" anchor="t" anchorCtr="0">
            <a:normAutofit/>
          </a:bodyPr>
          <a:lstStyle>
            <a:lvl1pPr marL="228600" lvl="0" indent="-114300" algn="l">
              <a:lnSpc>
                <a:spcPct val="100000"/>
              </a:lnSpc>
              <a:spcBef>
                <a:spcPts val="0"/>
              </a:spcBef>
              <a:spcAft>
                <a:spcPts val="0"/>
              </a:spcAft>
              <a:buClr>
                <a:srgbClr val="000000"/>
              </a:buClr>
              <a:buSzPts val="5500"/>
              <a:buFont typeface="Helvetica Neue" panose="020B0604020202020204"/>
              <a:buNone/>
              <a:defRPr sz="2750" b="1"/>
            </a:lvl1pPr>
            <a:lvl2pPr marL="457200" lvl="1" indent="-114300" algn="l">
              <a:lnSpc>
                <a:spcPct val="100000"/>
              </a:lnSpc>
              <a:spcBef>
                <a:spcPts val="0"/>
              </a:spcBef>
              <a:spcAft>
                <a:spcPts val="0"/>
              </a:spcAft>
              <a:buClr>
                <a:srgbClr val="000000"/>
              </a:buClr>
              <a:buSzPts val="5500"/>
              <a:buFont typeface="Helvetica Neue" panose="020B0604020202020204"/>
              <a:buNone/>
              <a:defRPr sz="2750" b="1"/>
            </a:lvl2pPr>
            <a:lvl3pPr marL="685800" lvl="2" indent="-114300" algn="l">
              <a:lnSpc>
                <a:spcPct val="100000"/>
              </a:lnSpc>
              <a:spcBef>
                <a:spcPts val="0"/>
              </a:spcBef>
              <a:spcAft>
                <a:spcPts val="0"/>
              </a:spcAft>
              <a:buClr>
                <a:srgbClr val="000000"/>
              </a:buClr>
              <a:buSzPts val="5500"/>
              <a:buFont typeface="Helvetica Neue" panose="020B0604020202020204"/>
              <a:buNone/>
              <a:defRPr sz="2750" b="1"/>
            </a:lvl3pPr>
            <a:lvl4pPr marL="914400" lvl="3" indent="-114300" algn="l">
              <a:lnSpc>
                <a:spcPct val="100000"/>
              </a:lnSpc>
              <a:spcBef>
                <a:spcPts val="0"/>
              </a:spcBef>
              <a:spcAft>
                <a:spcPts val="0"/>
              </a:spcAft>
              <a:buClr>
                <a:srgbClr val="000000"/>
              </a:buClr>
              <a:buSzPts val="5500"/>
              <a:buFont typeface="Helvetica Neue" panose="020B0604020202020204"/>
              <a:buNone/>
              <a:defRPr sz="2750" b="1"/>
            </a:lvl4pPr>
            <a:lvl5pPr marL="1143000" lvl="4" indent="-114300" algn="l">
              <a:lnSpc>
                <a:spcPct val="100000"/>
              </a:lnSpc>
              <a:spcBef>
                <a:spcPts val="0"/>
              </a:spcBef>
              <a:spcAft>
                <a:spcPts val="0"/>
              </a:spcAft>
              <a:buClr>
                <a:srgbClr val="000000"/>
              </a:buClr>
              <a:buSzPts val="5500"/>
              <a:buFont typeface="Helvetica Neue" panose="020B0604020202020204"/>
              <a:buNone/>
              <a:defRPr sz="2750" b="1"/>
            </a:lvl5pPr>
            <a:lvl6pPr marL="1371600" lvl="5" indent="-184785" algn="l">
              <a:lnSpc>
                <a:spcPct val="90000"/>
              </a:lnSpc>
              <a:spcBef>
                <a:spcPts val="2250"/>
              </a:spcBef>
              <a:spcAft>
                <a:spcPts val="0"/>
              </a:spcAft>
              <a:buClr>
                <a:srgbClr val="000000"/>
              </a:buClr>
              <a:buSzPts val="2214"/>
              <a:buChar char="•"/>
              <a:defRPr/>
            </a:lvl6pPr>
            <a:lvl7pPr marL="1600200" lvl="6" indent="-184785" algn="l">
              <a:lnSpc>
                <a:spcPct val="90000"/>
              </a:lnSpc>
              <a:spcBef>
                <a:spcPts val="2250"/>
              </a:spcBef>
              <a:spcAft>
                <a:spcPts val="0"/>
              </a:spcAft>
              <a:buClr>
                <a:srgbClr val="000000"/>
              </a:buClr>
              <a:buSzPts val="2214"/>
              <a:buChar char="•"/>
              <a:defRPr/>
            </a:lvl7pPr>
            <a:lvl8pPr marL="1828800" lvl="7" indent="-184785" algn="l">
              <a:lnSpc>
                <a:spcPct val="90000"/>
              </a:lnSpc>
              <a:spcBef>
                <a:spcPts val="2250"/>
              </a:spcBef>
              <a:spcAft>
                <a:spcPts val="0"/>
              </a:spcAft>
              <a:buClr>
                <a:srgbClr val="000000"/>
              </a:buClr>
              <a:buSzPts val="2214"/>
              <a:buChar char="•"/>
              <a:defRPr/>
            </a:lvl8pPr>
            <a:lvl9pPr marL="2057400" lvl="8" indent="-184785" algn="l">
              <a:lnSpc>
                <a:spcPct val="90000"/>
              </a:lnSpc>
              <a:spcBef>
                <a:spcPts val="2250"/>
              </a:spcBef>
              <a:spcAft>
                <a:spcPts val="0"/>
              </a:spcAft>
              <a:buClr>
                <a:srgbClr val="000000"/>
              </a:buClr>
              <a:buSzPts val="2214"/>
              <a:buChar char="•"/>
              <a:defRPr/>
            </a:lvl9pPr>
          </a:lstStyle>
          <a:p/>
        </p:txBody>
      </p:sp>
      <p:pic>
        <p:nvPicPr>
          <p:cNvPr id="15" name="Google Shape;15;g36bc379c7b1_10_63" descr="pasted-movie.heif"/>
          <p:cNvPicPr preferRelativeResize="0"/>
          <p:nvPr/>
        </p:nvPicPr>
        <p:blipFill rotWithShape="1">
          <a:blip r:embed="rId2"/>
          <a:srcRect t="388" r="85449" b="9056"/>
          <a:stretch>
            <a:fillRect/>
          </a:stretch>
        </p:blipFill>
        <p:spPr>
          <a:xfrm>
            <a:off x="76861" y="-21950"/>
            <a:ext cx="998291" cy="1118115"/>
          </a:xfrm>
          <a:prstGeom prst="rect">
            <a:avLst/>
          </a:prstGeom>
          <a:noFill/>
          <a:ln>
            <a:noFill/>
          </a:ln>
        </p:spPr>
      </p:pic>
      <p:pic>
        <p:nvPicPr>
          <p:cNvPr id="16" name="Google Shape;16;g36bc379c7b1_10_63" descr="pasted-movie.heif"/>
          <p:cNvPicPr preferRelativeResize="0"/>
          <p:nvPr/>
        </p:nvPicPr>
        <p:blipFill rotWithShape="1">
          <a:blip r:embed="rId2"/>
          <a:srcRect l="50059" r="34355" b="9675"/>
          <a:stretch>
            <a:fillRect/>
          </a:stretch>
        </p:blipFill>
        <p:spPr>
          <a:xfrm>
            <a:off x="11095094" y="106935"/>
            <a:ext cx="824848" cy="860328"/>
          </a:xfrm>
          <a:prstGeom prst="rect">
            <a:avLst/>
          </a:prstGeom>
          <a:noFill/>
          <a:ln>
            <a:noFill/>
          </a:ln>
        </p:spPr>
      </p:pic>
      <p:sp>
        <p:nvSpPr>
          <p:cNvPr id="17" name="Google Shape;17;g36bc379c7b1_10_63"/>
          <p:cNvSpPr txBox="1">
            <a:spLocks noGrp="1"/>
          </p:cNvSpPr>
          <p:nvPr>
            <p:ph type="sldNum" idx="12"/>
          </p:nvPr>
        </p:nvSpPr>
        <p:spPr>
          <a:xfrm>
            <a:off x="6000750" y="6212309"/>
            <a:ext cx="184200" cy="518091"/>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panose="020B0604020202020204"/>
              <a:buNone/>
              <a:defRPr sz="900"/>
            </a:lvl1pPr>
            <a:lvl2pPr marL="0" lvl="1" indent="0" algn="ctr">
              <a:lnSpc>
                <a:spcPct val="100000"/>
              </a:lnSpc>
              <a:spcBef>
                <a:spcPts val="0"/>
              </a:spcBef>
              <a:spcAft>
                <a:spcPts val="0"/>
              </a:spcAft>
              <a:buClr>
                <a:srgbClr val="000000"/>
              </a:buClr>
              <a:buSzPts val="1800"/>
              <a:buFont typeface="Helvetica Neue" panose="020B0604020202020204"/>
              <a:buNone/>
              <a:defRPr sz="900"/>
            </a:lvl2pPr>
            <a:lvl3pPr marL="0" lvl="2" indent="0" algn="ctr">
              <a:lnSpc>
                <a:spcPct val="100000"/>
              </a:lnSpc>
              <a:spcBef>
                <a:spcPts val="0"/>
              </a:spcBef>
              <a:spcAft>
                <a:spcPts val="0"/>
              </a:spcAft>
              <a:buClr>
                <a:srgbClr val="000000"/>
              </a:buClr>
              <a:buSzPts val="1800"/>
              <a:buFont typeface="Helvetica Neue" panose="020B0604020202020204"/>
              <a:buNone/>
              <a:defRPr sz="900"/>
            </a:lvl3pPr>
            <a:lvl4pPr marL="0" lvl="3" indent="0" algn="ctr">
              <a:lnSpc>
                <a:spcPct val="100000"/>
              </a:lnSpc>
              <a:spcBef>
                <a:spcPts val="0"/>
              </a:spcBef>
              <a:spcAft>
                <a:spcPts val="0"/>
              </a:spcAft>
              <a:buClr>
                <a:srgbClr val="000000"/>
              </a:buClr>
              <a:buSzPts val="1800"/>
              <a:buFont typeface="Helvetica Neue" panose="020B0604020202020204"/>
              <a:buNone/>
              <a:defRPr sz="900"/>
            </a:lvl4pPr>
            <a:lvl5pPr marL="0" lvl="4" indent="0" algn="ctr">
              <a:lnSpc>
                <a:spcPct val="100000"/>
              </a:lnSpc>
              <a:spcBef>
                <a:spcPts val="0"/>
              </a:spcBef>
              <a:spcAft>
                <a:spcPts val="0"/>
              </a:spcAft>
              <a:buClr>
                <a:srgbClr val="000000"/>
              </a:buClr>
              <a:buSzPts val="1800"/>
              <a:buFont typeface="Helvetica Neue" panose="020B0604020202020204"/>
              <a:buNone/>
              <a:defRPr sz="900"/>
            </a:lvl5pPr>
            <a:lvl6pPr marL="0" lvl="5" indent="0" algn="ctr">
              <a:lnSpc>
                <a:spcPct val="100000"/>
              </a:lnSpc>
              <a:spcBef>
                <a:spcPts val="0"/>
              </a:spcBef>
              <a:spcAft>
                <a:spcPts val="0"/>
              </a:spcAft>
              <a:buClr>
                <a:srgbClr val="000000"/>
              </a:buClr>
              <a:buSzPts val="1800"/>
              <a:buFont typeface="Helvetica Neue" panose="020B0604020202020204"/>
              <a:buNone/>
              <a:defRPr sz="900"/>
            </a:lvl6pPr>
            <a:lvl7pPr marL="0" lvl="6" indent="0" algn="ctr">
              <a:lnSpc>
                <a:spcPct val="100000"/>
              </a:lnSpc>
              <a:spcBef>
                <a:spcPts val="0"/>
              </a:spcBef>
              <a:spcAft>
                <a:spcPts val="0"/>
              </a:spcAft>
              <a:buClr>
                <a:srgbClr val="000000"/>
              </a:buClr>
              <a:buSzPts val="1800"/>
              <a:buFont typeface="Helvetica Neue" panose="020B0604020202020204"/>
              <a:buNone/>
              <a:defRPr sz="900"/>
            </a:lvl7pPr>
            <a:lvl8pPr marL="0" lvl="7" indent="0" algn="ctr">
              <a:lnSpc>
                <a:spcPct val="100000"/>
              </a:lnSpc>
              <a:spcBef>
                <a:spcPts val="0"/>
              </a:spcBef>
              <a:spcAft>
                <a:spcPts val="0"/>
              </a:spcAft>
              <a:buClr>
                <a:srgbClr val="000000"/>
              </a:buClr>
              <a:buSzPts val="1800"/>
              <a:buFont typeface="Helvetica Neue" panose="020B0604020202020204"/>
              <a:buNone/>
              <a:defRPr sz="900"/>
            </a:lvl8pPr>
            <a:lvl9pPr marL="0" lvl="8" indent="0" algn="ctr">
              <a:lnSpc>
                <a:spcPct val="100000"/>
              </a:lnSpc>
              <a:spcBef>
                <a:spcPts val="0"/>
              </a:spcBef>
              <a:spcAft>
                <a:spcPts val="0"/>
              </a:spcAft>
              <a:buClr>
                <a:srgbClr val="000000"/>
              </a:buClr>
              <a:buSzPts val="1800"/>
              <a:buFont typeface="Helvetica Neue" panose="020B0604020202020204"/>
              <a:buNone/>
              <a:defRPr sz="900"/>
            </a:lvl9pPr>
          </a:lstStyle>
          <a:p>
            <a:fld id="{00000000-1234-1234-1234-12341234123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9"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US"/>
          </a:p>
        </p:txBody>
      </p:sp>
      <p:sp>
        <p:nvSpPr>
          <p:cNvPr id="4" name="Date Placeholder 3"/>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5BCAD085-E8A6-8845-BD4E-CB4CCA059FC4}" type="datetimeFigureOut">
              <a:rPr lang="en-US" smtClean="0"/>
            </a:fld>
            <a:endParaRPr lang="en-US"/>
          </a:p>
        </p:txBody>
      </p:sp>
      <p:sp>
        <p:nvSpPr>
          <p:cNvPr id="6" name="Slide Number Placeholder 5"/>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C1FF6DA9-008F-8B48-92A6-B652298478BF}" type="slidenum">
              <a:rPr lang="en-US" smtClean="0"/>
            </a:fld>
            <a:endParaRPr lang="en-US"/>
          </a:p>
        </p:txBody>
      </p:sp>
      <p:sp>
        <p:nvSpPr>
          <p:cNvPr id="8" name="TextBox 7"/>
          <p:cNvSpPr txBox="1"/>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endParaRPr lang="en-US" sz="1000">
              <a:solidFill>
                <a:srgbClr val="000000">
                  <a:alpha val="50000"/>
                </a:srgbClr>
              </a:solidFill>
              <a:latin typeface="Aptos" panose="020B00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5.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0.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0.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0.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0.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0.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0" Type="http://schemas.openxmlformats.org/officeDocument/2006/relationships/slideLayout" Target="../slideLayouts/slideLayout25.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26.png"/><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6bc379c7b1_0_551"/>
          <p:cNvSpPr txBox="1">
            <a:spLocks noGrp="1"/>
          </p:cNvSpPr>
          <p:nvPr>
            <p:ph type="body" idx="1"/>
          </p:nvPr>
        </p:nvSpPr>
        <p:spPr>
          <a:xfrm>
            <a:off x="6583680" y="3840480"/>
            <a:ext cx="5257800" cy="1645920"/>
          </a:xfrm>
          <a:prstGeom prst="rect">
            <a:avLst/>
          </a:prstGeom>
          <a:noFill/>
          <a:ln>
            <a:noFill/>
          </a:ln>
        </p:spPr>
        <p:txBody>
          <a:bodyPr spcFirstLastPara="1" vert="horz" wrap="square" lIns="22850" tIns="22850" rIns="22850" bIns="22850" rtlCol="0" anchor="t" anchorCtr="0">
            <a:normAutofit/>
          </a:bodyPr>
          <a:lstStyle/>
          <a:p>
            <a:pPr marL="0" indent="0" algn="ctr"/>
            <a:r>
              <a:rPr lang="en-US" dirty="0">
                <a:latin typeface="Times New Roman" panose="02020603050405020304" pitchFamily="18" charset="0"/>
                <a:cs typeface="Times New Roman" panose="02020603050405020304" pitchFamily="18" charset="0"/>
              </a:rPr>
              <a:t>Supervisor</a:t>
            </a:r>
            <a:endParaRPr lang="en-US" dirty="0">
              <a:latin typeface="Times New Roman" panose="02020603050405020304" pitchFamily="18" charset="0"/>
              <a:cs typeface="Times New Roman" panose="02020603050405020304" pitchFamily="18" charset="0"/>
            </a:endParaRPr>
          </a:p>
          <a:p>
            <a:pPr marL="0" indent="0" algn="ctr"/>
            <a:r>
              <a:rPr lang="en-US" dirty="0">
                <a:latin typeface="Times New Roman" panose="02020603050405020304" pitchFamily="18" charset="0"/>
                <a:cs typeface="Times New Roman" panose="02020603050405020304" pitchFamily="18" charset="0"/>
              </a:rPr>
              <a:t>Dr SUDHA I, Professor</a:t>
            </a:r>
            <a:endParaRPr lang="en-US" dirty="0">
              <a:latin typeface="Times New Roman" panose="02020603050405020304" pitchFamily="18" charset="0"/>
              <a:cs typeface="Times New Roman" panose="02020603050405020304" pitchFamily="18" charset="0"/>
            </a:endParaRPr>
          </a:p>
          <a:p>
            <a:pPr marL="0" indent="0" algn="ctr"/>
            <a:r>
              <a:rPr lang="en-US" dirty="0">
                <a:latin typeface="Times New Roman" panose="02020603050405020304" pitchFamily="18" charset="0"/>
                <a:cs typeface="Times New Roman" panose="02020603050405020304" pitchFamily="18" charset="0"/>
              </a:rPr>
              <a:t>Department of Computer Science and Engineering</a:t>
            </a:r>
            <a:endParaRPr dirty="0">
              <a:latin typeface="Times New Roman" panose="02020603050405020304" pitchFamily="18" charset="0"/>
              <a:cs typeface="Times New Roman" panose="02020603050405020304" pitchFamily="18" charset="0"/>
            </a:endParaRPr>
          </a:p>
          <a:p>
            <a:pPr marL="0" indent="0" algn="ctr"/>
            <a:r>
              <a:rPr lang="en-US" dirty="0">
                <a:latin typeface="Times New Roman" panose="02020603050405020304" pitchFamily="18" charset="0"/>
                <a:cs typeface="Times New Roman" panose="02020603050405020304" pitchFamily="18" charset="0"/>
              </a:rPr>
              <a:t>SIMATS Engineering</a:t>
            </a:r>
            <a:endParaRPr dirty="0">
              <a:latin typeface="Times New Roman" panose="02020603050405020304" pitchFamily="18" charset="0"/>
              <a:cs typeface="Times New Roman" panose="02020603050405020304" pitchFamily="18" charset="0"/>
            </a:endParaRPr>
          </a:p>
        </p:txBody>
      </p:sp>
      <p:sp>
        <p:nvSpPr>
          <p:cNvPr id="91" name="Google Shape;91;g36bc379c7b1_0_551"/>
          <p:cNvSpPr txBox="1">
            <a:spLocks noGrp="1"/>
          </p:cNvSpPr>
          <p:nvPr>
            <p:ph type="title"/>
          </p:nvPr>
        </p:nvSpPr>
        <p:spPr>
          <a:xfrm>
            <a:off x="603248" y="1916533"/>
            <a:ext cx="10985550" cy="1276500"/>
          </a:xfrm>
          <a:prstGeom prst="rect">
            <a:avLst/>
          </a:prstGeom>
          <a:noFill/>
          <a:ln>
            <a:noFill/>
          </a:ln>
          <a:effectLst>
            <a:outerShdw blurRad="57150" dist="19050" dir="5400000" algn="bl" rotWithShape="0">
              <a:srgbClr val="000000">
                <a:alpha val="50000"/>
              </a:srgbClr>
            </a:outerShdw>
          </a:effectLst>
        </p:spPr>
        <p:txBody>
          <a:bodyPr spcFirstLastPara="1" vert="horz" wrap="square" lIns="25400" tIns="25400" rIns="25400" bIns="25400" rtlCol="0" anchor="ctr" anchorCtr="0">
            <a:normAutofit/>
          </a:bodyPr>
          <a:lstStyle/>
          <a:p>
            <a:pPr algn="ctr">
              <a:buClr>
                <a:schemeClr val="accent1"/>
              </a:buClr>
            </a:pPr>
            <a:r>
              <a:rPr lang="en-US" sz="3000" b="1" cap="none" dirty="0" err="1">
                <a:solidFill>
                  <a:schemeClr val="accent1"/>
                </a:solidFill>
                <a:latin typeface="Times New Roman" panose="02020603050405020304" pitchFamily="18" charset="0"/>
                <a:cs typeface="Times New Roman" panose="02020603050405020304" pitchFamily="18" charset="0"/>
                <a:sym typeface="Helvetica Neue" panose="020B0604020202020204"/>
              </a:rPr>
              <a:t>ParkEasy</a:t>
            </a:r>
            <a:r>
              <a:rPr lang="en-US" sz="3000" b="1" cap="none" dirty="0">
                <a:solidFill>
                  <a:schemeClr val="accent1"/>
                </a:solidFill>
                <a:latin typeface="Times New Roman" panose="02020603050405020304" pitchFamily="18" charset="0"/>
                <a:cs typeface="Times New Roman" panose="02020603050405020304" pitchFamily="18" charset="0"/>
                <a:sym typeface="Helvetica Neue" panose="020B0604020202020204"/>
              </a:rPr>
              <a:t> — Location-Based Smart Parking &amp; Navigation App</a:t>
            </a:r>
            <a:endParaRPr sz="3000" dirty="0">
              <a:latin typeface="Times New Roman" panose="02020603050405020304" pitchFamily="18" charset="0"/>
              <a:cs typeface="Times New Roman" panose="02020603050405020304" pitchFamily="18" charset="0"/>
            </a:endParaRPr>
          </a:p>
        </p:txBody>
      </p:sp>
      <p:sp>
        <p:nvSpPr>
          <p:cNvPr id="93" name="Google Shape;93;g36bc379c7b1_0_551"/>
          <p:cNvSpPr txBox="1">
            <a:spLocks noGrp="1"/>
          </p:cNvSpPr>
          <p:nvPr>
            <p:ph type="sldNum" idx="12"/>
          </p:nvPr>
        </p:nvSpPr>
        <p:spPr>
          <a:xfrm>
            <a:off x="5818580" y="6540604"/>
            <a:ext cx="548640" cy="189796"/>
          </a:xfrm>
          <a:prstGeom prst="rect">
            <a:avLst/>
          </a:prstGeom>
          <a:noFill/>
          <a:ln>
            <a:noFill/>
          </a:ln>
        </p:spPr>
        <p:txBody>
          <a:bodyPr spcFirstLastPara="1" vert="horz" wrap="square" lIns="25400" tIns="25400" rIns="25400" bIns="25400" rtlCol="0" anchor="b" anchorCtr="0">
            <a:spAutoFit/>
          </a:bodyPr>
          <a:lstStyle/>
          <a:p>
            <a:fld id="{00000000-1234-1234-1234-123412341234}" type="slidenum">
              <a:rPr lang="en-US"/>
            </a:fld>
            <a:endParaRPr lang="en-US"/>
          </a:p>
        </p:txBody>
      </p:sp>
      <p:sp>
        <p:nvSpPr>
          <p:cNvPr id="95" name="Google Shape;95;g36bc379c7b1_0_551"/>
          <p:cNvSpPr txBox="1"/>
          <p:nvPr/>
        </p:nvSpPr>
        <p:spPr>
          <a:xfrm>
            <a:off x="603249" y="640036"/>
            <a:ext cx="10985550" cy="1276500"/>
          </a:xfrm>
          <a:prstGeom prst="rect">
            <a:avLst/>
          </a:prstGeom>
          <a:noFill/>
          <a:ln>
            <a:noFill/>
          </a:ln>
          <a:effectLst>
            <a:outerShdw blurRad="57150" dist="19050" dir="5400000" algn="bl" rotWithShape="0">
              <a:srgbClr val="000000">
                <a:alpha val="50000"/>
              </a:srgbClr>
            </a:outerShdw>
          </a:effectLst>
        </p:spPr>
        <p:txBody>
          <a:bodyPr spcFirstLastPara="1" wrap="square" lIns="25400" tIns="25400" rIns="25400" bIns="25400" anchor="ctr" anchorCtr="0">
            <a:normAutofit/>
          </a:bodyPr>
          <a:lstStyle/>
          <a:p>
            <a:pPr algn="ctr">
              <a:lnSpc>
                <a:spcPct val="80000"/>
              </a:lnSpc>
              <a:buClr>
                <a:srgbClr val="EB220C"/>
              </a:buClr>
              <a:buSzPts val="6032"/>
            </a:pPr>
            <a:r>
              <a:rPr lang="en-US" sz="3000" b="1" dirty="0">
                <a:solidFill>
                  <a:srgbClr val="EB220C"/>
                </a:solidFill>
                <a:latin typeface="Times New Roman" panose="02020603050405020304" pitchFamily="18" charset="0"/>
                <a:ea typeface="Helvetica Neue" panose="020B0604020202020204"/>
                <a:cs typeface="Times New Roman" panose="02020603050405020304" pitchFamily="18" charset="0"/>
                <a:sym typeface="Helvetica Neue" panose="020B0604020202020204"/>
              </a:rPr>
              <a:t>SIMATS ENGINEERING</a:t>
            </a:r>
            <a:br>
              <a:rPr lang="en-US" sz="3000" b="1" dirty="0">
                <a:solidFill>
                  <a:srgbClr val="EB220C"/>
                </a:solidFill>
                <a:latin typeface="Times New Roman" panose="02020603050405020304" pitchFamily="18" charset="0"/>
                <a:ea typeface="Helvetica Neue" panose="020B0604020202020204"/>
                <a:cs typeface="Times New Roman" panose="02020603050405020304" pitchFamily="18" charset="0"/>
                <a:sym typeface="Helvetica Neue" panose="020B0604020202020204"/>
              </a:rPr>
            </a:br>
            <a:r>
              <a:rPr lang="en-US" sz="3000" b="1" dirty="0">
                <a:solidFill>
                  <a:srgbClr val="EB220C"/>
                </a:solidFill>
                <a:latin typeface="Times New Roman" panose="02020603050405020304" pitchFamily="18" charset="0"/>
                <a:ea typeface="Helvetica Neue" panose="020B0604020202020204"/>
                <a:cs typeface="Times New Roman" panose="02020603050405020304" pitchFamily="18" charset="0"/>
                <a:sym typeface="Helvetica Neue" panose="020B0604020202020204"/>
              </a:rPr>
              <a:t>Saveetha Institute of Medical and Technical Sciences</a:t>
            </a:r>
            <a:br>
              <a:rPr lang="en-US" sz="3000" b="1" dirty="0">
                <a:solidFill>
                  <a:srgbClr val="EB220C"/>
                </a:solidFill>
                <a:latin typeface="Times New Roman" panose="02020603050405020304" pitchFamily="18" charset="0"/>
                <a:ea typeface="Helvetica Neue" panose="020B0604020202020204"/>
                <a:cs typeface="Times New Roman" panose="02020603050405020304" pitchFamily="18" charset="0"/>
                <a:sym typeface="Helvetica Neue" panose="020B0604020202020204"/>
              </a:rPr>
            </a:br>
            <a:r>
              <a:rPr lang="en-US" sz="3000" b="1" dirty="0">
                <a:solidFill>
                  <a:srgbClr val="EB220C"/>
                </a:solidFill>
                <a:latin typeface="Times New Roman" panose="02020603050405020304" pitchFamily="18" charset="0"/>
                <a:ea typeface="Helvetica Neue" panose="020B0604020202020204"/>
                <a:cs typeface="Times New Roman" panose="02020603050405020304" pitchFamily="18" charset="0"/>
                <a:sym typeface="Helvetica Neue" panose="020B0604020202020204"/>
              </a:rPr>
              <a:t>Chennai-602105.</a:t>
            </a:r>
            <a:endParaRPr sz="3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2"/>
          </p:nvPr>
        </p:nvSpPr>
        <p:spPr>
          <a:xfrm>
            <a:off x="915304" y="3726877"/>
            <a:ext cx="4315458" cy="2300347"/>
          </a:xfrm>
        </p:spPr>
        <p:txBody>
          <a:bodyPr>
            <a:normAutofit/>
          </a:bodyPr>
          <a:lstStyle/>
          <a:p>
            <a:r>
              <a:rPr lang="en-IN" sz="1800" dirty="0">
                <a:latin typeface="Times New Roman" panose="02020603050405020304" pitchFamily="18" charset="0"/>
                <a:cs typeface="Times New Roman" panose="02020603050405020304" pitchFamily="18" charset="0"/>
              </a:rPr>
              <a:t>Presented by:</a:t>
            </a:r>
            <a:endParaRPr lang="en-IN" sz="1800" dirty="0">
              <a:latin typeface="Times New Roman" panose="02020603050405020304" pitchFamily="18" charset="0"/>
              <a:cs typeface="Times New Roman" panose="02020603050405020304" pitchFamily="18" charset="0"/>
            </a:endParaRPr>
          </a:p>
          <a:p>
            <a:r>
              <a:rPr lang="en-IN" sz="1800" dirty="0" err="1">
                <a:latin typeface="Times New Roman" panose="02020603050405020304" pitchFamily="18" charset="0"/>
                <a:cs typeface="Times New Roman" panose="02020603050405020304" pitchFamily="18" charset="0"/>
              </a:rPr>
              <a:t>P.Ranjithkumar</a:t>
            </a:r>
            <a:r>
              <a:rPr lang="en-IN" sz="1800" dirty="0">
                <a:latin typeface="Times New Roman" panose="02020603050405020304" pitchFamily="18" charset="0"/>
                <a:cs typeface="Times New Roman" panose="02020603050405020304" pitchFamily="18" charset="0"/>
              </a:rPr>
              <a:t> 192411119</a:t>
            </a:r>
            <a:endParaRPr lang="en-IN" sz="1800" dirty="0">
              <a:latin typeface="Times New Roman" panose="02020603050405020304" pitchFamily="18" charset="0"/>
              <a:cs typeface="Times New Roman" panose="02020603050405020304" pitchFamily="18" charset="0"/>
            </a:endParaRPr>
          </a:p>
          <a:p>
            <a:r>
              <a:rPr lang="en-IN" sz="1800" dirty="0" err="1">
                <a:latin typeface="Times New Roman" panose="02020603050405020304" pitchFamily="18" charset="0"/>
                <a:cs typeface="Times New Roman" panose="02020603050405020304" pitchFamily="18" charset="0"/>
              </a:rPr>
              <a:t>K.Narendra</a:t>
            </a:r>
            <a:r>
              <a:rPr lang="en-IN" sz="1800" dirty="0">
                <a:latin typeface="Times New Roman" panose="02020603050405020304" pitchFamily="18" charset="0"/>
                <a:cs typeface="Times New Roman" panose="02020603050405020304" pitchFamily="18" charset="0"/>
              </a:rPr>
              <a:t> Reddy-192372243</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M.Mahesh-1965260204</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Ch Jaswanth-192372199</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486025"/>
            <a:ext cx="3505200" cy="2905125"/>
          </a:xfrm>
          <a:prstGeom prst="roundRect">
            <a:avLst>
              <a:gd name="adj" fmla="val 39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486025"/>
            <a:ext cx="3505200" cy="2905125"/>
          </a:xfrm>
          <a:prstGeom prst="roundRect">
            <a:avLst>
              <a:gd name="adj" fmla="val 39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486025"/>
            <a:ext cx="3505200" cy="2905125"/>
          </a:xfrm>
          <a:prstGeom prst="roundRect">
            <a:avLst>
              <a:gd name="adj" fmla="val 39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2486025"/>
            <a:ext cx="38100" cy="29051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43400" y="2486025"/>
            <a:ext cx="38100" cy="290512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77200" y="2486025"/>
            <a:ext cx="38100" cy="29051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1"/>
          <a:stretch>
            <a:fillRect/>
          </a:stretch>
        </p:blipFill>
        <p:spPr>
          <a:xfrm>
            <a:off x="914400" y="3400425"/>
            <a:ext cx="85725" cy="142875"/>
          </a:xfrm>
          <a:prstGeom prst="rect">
            <a:avLst/>
          </a:prstGeom>
        </p:spPr>
      </p:pic>
      <p:pic>
        <p:nvPicPr>
          <p:cNvPr id="9" name="Picture 8" descr="image.png"/>
          <p:cNvPicPr>
            <a:picLocks noChangeAspect="1"/>
          </p:cNvPicPr>
          <p:nvPr/>
        </p:nvPicPr>
        <p:blipFill>
          <a:blip r:embed="rId1"/>
          <a:stretch>
            <a:fillRect/>
          </a:stretch>
        </p:blipFill>
        <p:spPr>
          <a:xfrm>
            <a:off x="914400" y="3876675"/>
            <a:ext cx="85725" cy="142875"/>
          </a:xfrm>
          <a:prstGeom prst="rect">
            <a:avLst/>
          </a:prstGeom>
        </p:spPr>
      </p:pic>
      <p:pic>
        <p:nvPicPr>
          <p:cNvPr id="10" name="Picture 9" descr="image.png"/>
          <p:cNvPicPr>
            <a:picLocks noChangeAspect="1"/>
          </p:cNvPicPr>
          <p:nvPr/>
        </p:nvPicPr>
        <p:blipFill>
          <a:blip r:embed="rId1"/>
          <a:stretch>
            <a:fillRect/>
          </a:stretch>
        </p:blipFill>
        <p:spPr>
          <a:xfrm>
            <a:off x="914400" y="4352925"/>
            <a:ext cx="85725" cy="142875"/>
          </a:xfrm>
          <a:prstGeom prst="rect">
            <a:avLst/>
          </a:prstGeom>
        </p:spPr>
      </p:pic>
      <p:pic>
        <p:nvPicPr>
          <p:cNvPr id="11" name="Picture 10" descr="image.png"/>
          <p:cNvPicPr>
            <a:picLocks noChangeAspect="1"/>
          </p:cNvPicPr>
          <p:nvPr/>
        </p:nvPicPr>
        <p:blipFill>
          <a:blip r:embed="rId1"/>
          <a:stretch>
            <a:fillRect/>
          </a:stretch>
        </p:blipFill>
        <p:spPr>
          <a:xfrm>
            <a:off x="914400" y="4648200"/>
            <a:ext cx="85725" cy="142875"/>
          </a:xfrm>
          <a:prstGeom prst="rect">
            <a:avLst/>
          </a:prstGeom>
        </p:spPr>
      </p:pic>
      <p:pic>
        <p:nvPicPr>
          <p:cNvPr id="12" name="Picture 11" descr="image.png"/>
          <p:cNvPicPr>
            <a:picLocks noChangeAspect="1"/>
          </p:cNvPicPr>
          <p:nvPr/>
        </p:nvPicPr>
        <p:blipFill>
          <a:blip r:embed="rId2"/>
          <a:stretch>
            <a:fillRect/>
          </a:stretch>
        </p:blipFill>
        <p:spPr>
          <a:xfrm>
            <a:off x="4648200" y="3400425"/>
            <a:ext cx="85725" cy="142875"/>
          </a:xfrm>
          <a:prstGeom prst="rect">
            <a:avLst/>
          </a:prstGeom>
        </p:spPr>
      </p:pic>
      <p:pic>
        <p:nvPicPr>
          <p:cNvPr id="13" name="Picture 12" descr="image.png"/>
          <p:cNvPicPr>
            <a:picLocks noChangeAspect="1"/>
          </p:cNvPicPr>
          <p:nvPr/>
        </p:nvPicPr>
        <p:blipFill>
          <a:blip r:embed="rId2"/>
          <a:stretch>
            <a:fillRect/>
          </a:stretch>
        </p:blipFill>
        <p:spPr>
          <a:xfrm>
            <a:off x="4648200" y="3876675"/>
            <a:ext cx="85725" cy="142875"/>
          </a:xfrm>
          <a:prstGeom prst="rect">
            <a:avLst/>
          </a:prstGeom>
        </p:spPr>
      </p:pic>
      <p:pic>
        <p:nvPicPr>
          <p:cNvPr id="14" name="Picture 13" descr="image.png"/>
          <p:cNvPicPr>
            <a:picLocks noChangeAspect="1"/>
          </p:cNvPicPr>
          <p:nvPr/>
        </p:nvPicPr>
        <p:blipFill>
          <a:blip r:embed="rId2"/>
          <a:stretch>
            <a:fillRect/>
          </a:stretch>
        </p:blipFill>
        <p:spPr>
          <a:xfrm>
            <a:off x="4648200" y="4171950"/>
            <a:ext cx="85725" cy="142875"/>
          </a:xfrm>
          <a:prstGeom prst="rect">
            <a:avLst/>
          </a:prstGeom>
        </p:spPr>
      </p:pic>
      <p:pic>
        <p:nvPicPr>
          <p:cNvPr id="15" name="Picture 14" descr="image.png"/>
          <p:cNvPicPr>
            <a:picLocks noChangeAspect="1"/>
          </p:cNvPicPr>
          <p:nvPr/>
        </p:nvPicPr>
        <p:blipFill>
          <a:blip r:embed="rId2"/>
          <a:stretch>
            <a:fillRect/>
          </a:stretch>
        </p:blipFill>
        <p:spPr>
          <a:xfrm>
            <a:off x="4648200" y="4648200"/>
            <a:ext cx="85725" cy="142875"/>
          </a:xfrm>
          <a:prstGeom prst="rect">
            <a:avLst/>
          </a:prstGeom>
        </p:spPr>
      </p:pic>
      <p:pic>
        <p:nvPicPr>
          <p:cNvPr id="16" name="Picture 15" descr="image.png"/>
          <p:cNvPicPr>
            <a:picLocks noChangeAspect="1"/>
          </p:cNvPicPr>
          <p:nvPr/>
        </p:nvPicPr>
        <p:blipFill>
          <a:blip r:embed="rId2"/>
          <a:stretch>
            <a:fillRect/>
          </a:stretch>
        </p:blipFill>
        <p:spPr>
          <a:xfrm>
            <a:off x="4648200" y="4943475"/>
            <a:ext cx="85725" cy="142875"/>
          </a:xfrm>
          <a:prstGeom prst="rect">
            <a:avLst/>
          </a:prstGeom>
        </p:spPr>
      </p:pic>
      <p:pic>
        <p:nvPicPr>
          <p:cNvPr id="17" name="Picture 16" descr="image.png"/>
          <p:cNvPicPr>
            <a:picLocks noChangeAspect="1"/>
          </p:cNvPicPr>
          <p:nvPr/>
        </p:nvPicPr>
        <p:blipFill>
          <a:blip r:embed="rId3"/>
          <a:stretch>
            <a:fillRect/>
          </a:stretch>
        </p:blipFill>
        <p:spPr>
          <a:xfrm>
            <a:off x="8382000" y="3400425"/>
            <a:ext cx="85725" cy="142875"/>
          </a:xfrm>
          <a:prstGeom prst="rect">
            <a:avLst/>
          </a:prstGeom>
        </p:spPr>
      </p:pic>
      <p:pic>
        <p:nvPicPr>
          <p:cNvPr id="18" name="Picture 17" descr="image.png"/>
          <p:cNvPicPr>
            <a:picLocks noChangeAspect="1"/>
          </p:cNvPicPr>
          <p:nvPr/>
        </p:nvPicPr>
        <p:blipFill>
          <a:blip r:embed="rId3"/>
          <a:stretch>
            <a:fillRect/>
          </a:stretch>
        </p:blipFill>
        <p:spPr>
          <a:xfrm>
            <a:off x="8382000" y="3876675"/>
            <a:ext cx="85725" cy="142875"/>
          </a:xfrm>
          <a:prstGeom prst="rect">
            <a:avLst/>
          </a:prstGeom>
        </p:spPr>
      </p:pic>
      <p:pic>
        <p:nvPicPr>
          <p:cNvPr id="19" name="Picture 18" descr="image.png"/>
          <p:cNvPicPr>
            <a:picLocks noChangeAspect="1"/>
          </p:cNvPicPr>
          <p:nvPr/>
        </p:nvPicPr>
        <p:blipFill>
          <a:blip r:embed="rId3"/>
          <a:stretch>
            <a:fillRect/>
          </a:stretch>
        </p:blipFill>
        <p:spPr>
          <a:xfrm>
            <a:off x="8382000" y="4352925"/>
            <a:ext cx="85725" cy="142875"/>
          </a:xfrm>
          <a:prstGeom prst="rect">
            <a:avLst/>
          </a:prstGeom>
        </p:spPr>
      </p:pic>
      <p:pic>
        <p:nvPicPr>
          <p:cNvPr id="20" name="Picture 19" descr="image.png"/>
          <p:cNvPicPr>
            <a:picLocks noChangeAspect="1"/>
          </p:cNvPicPr>
          <p:nvPr/>
        </p:nvPicPr>
        <p:blipFill>
          <a:blip r:embed="rId3"/>
          <a:stretch>
            <a:fillRect/>
          </a:stretch>
        </p:blipFill>
        <p:spPr>
          <a:xfrm>
            <a:off x="8382000" y="4829175"/>
            <a:ext cx="85725" cy="142875"/>
          </a:xfrm>
          <a:prstGeom prst="rect">
            <a:avLst/>
          </a:prstGeom>
        </p:spPr>
      </p:pic>
      <p:sp>
        <p:nvSpPr>
          <p:cNvPr id="21" name="TextBox 20"/>
          <p:cNvSpPr txBox="1"/>
          <p:nvPr/>
        </p:nvSpPr>
        <p:spPr>
          <a:xfrm>
            <a:off x="609600" y="1307200"/>
            <a:ext cx="1857375" cy="600075"/>
          </a:xfrm>
          <a:prstGeom prst="rect">
            <a:avLst/>
          </a:prstGeom>
          <a:noFill/>
        </p:spPr>
        <p:txBody>
          <a:bodyPr wrap="square" lIns="0" tIns="0" rIns="0" bIns="0" anchor="t">
            <a:spAutoFit/>
          </a:bodyPr>
          <a:lstStyle/>
          <a:p>
            <a:pPr algn="l"/>
            <a:r>
              <a:rPr sz="975" b="1" i="0" u="none">
                <a:solidFill>
                  <a:srgbClr val="EF4444"/>
                </a:solidFill>
                <a:latin typeface="Plus Jakarta Sans"/>
              </a:rPr>
              <a:t>Presentation Outline</a:t>
            </a:r>
            <a:endParaRPr sz="975" b="1" i="0" u="none">
              <a:solidFill>
                <a:srgbClr val="EF4444"/>
              </a:solidFill>
              <a:latin typeface="Plus Jakarta Sans"/>
            </a:endParaRPr>
          </a:p>
        </p:txBody>
      </p:sp>
      <p:sp>
        <p:nvSpPr>
          <p:cNvPr id="22" name="TextBox 21"/>
          <p:cNvSpPr txBox="1"/>
          <p:nvPr/>
        </p:nvSpPr>
        <p:spPr>
          <a:xfrm>
            <a:off x="9963150" y="1735825"/>
            <a:ext cx="2024062" cy="171450"/>
          </a:xfrm>
          <a:prstGeom prst="rect">
            <a:avLst/>
          </a:prstGeom>
          <a:noFill/>
        </p:spPr>
        <p:txBody>
          <a:bodyPr wrap="none" lIns="0" tIns="0" rIns="0" bIns="0" anchor="t">
            <a:spAutoFit/>
          </a:bodyPr>
          <a:lstStyle/>
          <a:p>
            <a:pPr algn="l"/>
            <a:r>
              <a:rPr sz="1050" b="1" i="0" u="none">
                <a:solidFill>
                  <a:srgbClr val="64748B"/>
                </a:solidFill>
                <a:latin typeface="Plus Jakarta Sans"/>
              </a:rPr>
              <a:t>ParkEasy Platform</a:t>
            </a:r>
            <a:endParaRPr sz="1050" b="1" i="0" u="none">
              <a:solidFill>
                <a:srgbClr val="64748B"/>
              </a:solidFill>
              <a:latin typeface="Plus Jakarta Sans"/>
            </a:endParaRPr>
          </a:p>
        </p:txBody>
      </p:sp>
      <p:sp>
        <p:nvSpPr>
          <p:cNvPr id="23" name="TextBox 22"/>
          <p:cNvSpPr txBox="1"/>
          <p:nvPr/>
        </p:nvSpPr>
        <p:spPr>
          <a:xfrm>
            <a:off x="609600" y="1545325"/>
            <a:ext cx="2312789" cy="361950"/>
          </a:xfrm>
          <a:prstGeom prst="rect">
            <a:avLst/>
          </a:prstGeom>
          <a:noFill/>
        </p:spPr>
        <p:txBody>
          <a:bodyPr wrap="none" lIns="0" tIns="0" rIns="0" bIns="0" anchor="t">
            <a:spAutoFit/>
          </a:bodyPr>
          <a:lstStyle/>
          <a:p>
            <a:pPr algn="l"/>
            <a:r>
              <a:rPr sz="2250" b="1" i="0" u="none" dirty="0">
                <a:solidFill>
                  <a:srgbClr val="0F172A"/>
                </a:solidFill>
                <a:latin typeface="Plus Jakarta Sans"/>
              </a:rPr>
              <a:t>Agenda</a:t>
            </a:r>
            <a:endParaRPr sz="2250" b="1" i="0" u="none" dirty="0">
              <a:solidFill>
                <a:srgbClr val="0F172A"/>
              </a:solidFill>
              <a:latin typeface="Plus Jakarta Sans"/>
            </a:endParaRPr>
          </a:p>
        </p:txBody>
      </p:sp>
      <p:sp>
        <p:nvSpPr>
          <p:cNvPr id="24" name="TextBox 23"/>
          <p:cNvSpPr txBox="1"/>
          <p:nvPr/>
        </p:nvSpPr>
        <p:spPr>
          <a:xfrm>
            <a:off x="914400" y="2752725"/>
            <a:ext cx="809625" cy="152400"/>
          </a:xfrm>
          <a:prstGeom prst="rect">
            <a:avLst/>
          </a:prstGeom>
          <a:noFill/>
        </p:spPr>
        <p:txBody>
          <a:bodyPr wrap="none" lIns="0" tIns="0" rIns="0" bIns="0" anchor="t">
            <a:spAutoFit/>
          </a:bodyPr>
          <a:lstStyle/>
          <a:p>
            <a:pPr algn="l"/>
            <a:r>
              <a:rPr sz="975" b="1" i="0" u="none">
                <a:solidFill>
                  <a:srgbClr val="EF4444"/>
                </a:solidFill>
                <a:latin typeface="Plus Jakarta Sans"/>
              </a:rPr>
              <a:t>PART 01</a:t>
            </a:r>
            <a:endParaRPr sz="975" b="1" i="0" u="none">
              <a:solidFill>
                <a:srgbClr val="EF4444"/>
              </a:solidFill>
              <a:latin typeface="Plus Jakarta Sans"/>
            </a:endParaRPr>
          </a:p>
        </p:txBody>
      </p:sp>
      <p:sp>
        <p:nvSpPr>
          <p:cNvPr id="25" name="TextBox 24"/>
          <p:cNvSpPr txBox="1"/>
          <p:nvPr/>
        </p:nvSpPr>
        <p:spPr>
          <a:xfrm>
            <a:off x="914400" y="2990850"/>
            <a:ext cx="3850481" cy="228600"/>
          </a:xfrm>
          <a:prstGeom prst="rect">
            <a:avLst/>
          </a:prstGeom>
          <a:noFill/>
        </p:spPr>
        <p:txBody>
          <a:bodyPr wrap="none" lIns="0" tIns="0" rIns="0" bIns="0" anchor="t">
            <a:spAutoFit/>
          </a:bodyPr>
          <a:lstStyle/>
          <a:p>
            <a:pPr algn="l"/>
            <a:r>
              <a:rPr sz="1425" b="1" i="0" u="none">
                <a:solidFill>
                  <a:srgbClr val="0F172A"/>
                </a:solidFill>
                <a:latin typeface="Plus Jakarta Sans"/>
              </a:rPr>
              <a:t>Foundation &amp; Review</a:t>
            </a:r>
            <a:endParaRPr sz="1425" b="1" i="0" u="none">
              <a:solidFill>
                <a:srgbClr val="0F172A"/>
              </a:solidFill>
              <a:latin typeface="Plus Jakarta Sans"/>
            </a:endParaRPr>
          </a:p>
        </p:txBody>
      </p:sp>
      <p:sp>
        <p:nvSpPr>
          <p:cNvPr id="26" name="TextBox 25"/>
          <p:cNvSpPr txBox="1"/>
          <p:nvPr/>
        </p:nvSpPr>
        <p:spPr>
          <a:xfrm>
            <a:off x="4648200" y="2752725"/>
            <a:ext cx="838200" cy="152400"/>
          </a:xfrm>
          <a:prstGeom prst="rect">
            <a:avLst/>
          </a:prstGeom>
          <a:noFill/>
        </p:spPr>
        <p:txBody>
          <a:bodyPr wrap="none" lIns="0" tIns="0" rIns="0" bIns="0" anchor="t">
            <a:spAutoFit/>
          </a:bodyPr>
          <a:lstStyle/>
          <a:p>
            <a:pPr algn="l"/>
            <a:r>
              <a:rPr sz="975" b="1" i="0" u="none">
                <a:solidFill>
                  <a:srgbClr val="2563EB"/>
                </a:solidFill>
                <a:latin typeface="Plus Jakarta Sans"/>
              </a:rPr>
              <a:t>PART 02</a:t>
            </a:r>
            <a:endParaRPr sz="975" b="1" i="0" u="none">
              <a:solidFill>
                <a:srgbClr val="2563EB"/>
              </a:solidFill>
              <a:latin typeface="Plus Jakarta Sans"/>
            </a:endParaRPr>
          </a:p>
        </p:txBody>
      </p:sp>
      <p:sp>
        <p:nvSpPr>
          <p:cNvPr id="27" name="TextBox 26"/>
          <p:cNvSpPr txBox="1"/>
          <p:nvPr/>
        </p:nvSpPr>
        <p:spPr>
          <a:xfrm>
            <a:off x="4648200" y="2990850"/>
            <a:ext cx="3850481" cy="228600"/>
          </a:xfrm>
          <a:prstGeom prst="rect">
            <a:avLst/>
          </a:prstGeom>
          <a:noFill/>
        </p:spPr>
        <p:txBody>
          <a:bodyPr wrap="none" lIns="0" tIns="0" rIns="0" bIns="0" anchor="t">
            <a:spAutoFit/>
          </a:bodyPr>
          <a:lstStyle/>
          <a:p>
            <a:pPr algn="l"/>
            <a:r>
              <a:rPr sz="1425" b="1" i="0" u="none">
                <a:solidFill>
                  <a:srgbClr val="0F172A"/>
                </a:solidFill>
                <a:latin typeface="Plus Jakarta Sans"/>
              </a:rPr>
              <a:t>Architecture &amp; Modules</a:t>
            </a:r>
            <a:endParaRPr sz="1425" b="1" i="0" u="none">
              <a:solidFill>
                <a:srgbClr val="0F172A"/>
              </a:solidFill>
              <a:latin typeface="Plus Jakarta Sans"/>
            </a:endParaRPr>
          </a:p>
        </p:txBody>
      </p:sp>
      <p:sp>
        <p:nvSpPr>
          <p:cNvPr id="28" name="TextBox 27"/>
          <p:cNvSpPr txBox="1"/>
          <p:nvPr/>
        </p:nvSpPr>
        <p:spPr>
          <a:xfrm>
            <a:off x="8382000" y="2752725"/>
            <a:ext cx="838200" cy="152400"/>
          </a:xfrm>
          <a:prstGeom prst="rect">
            <a:avLst/>
          </a:prstGeom>
          <a:noFill/>
        </p:spPr>
        <p:txBody>
          <a:bodyPr wrap="none" lIns="0" tIns="0" rIns="0" bIns="0" anchor="t">
            <a:spAutoFit/>
          </a:bodyPr>
          <a:lstStyle/>
          <a:p>
            <a:pPr algn="l"/>
            <a:r>
              <a:rPr sz="975" b="1" i="0" u="none">
                <a:solidFill>
                  <a:srgbClr val="059669"/>
                </a:solidFill>
                <a:latin typeface="Plus Jakarta Sans"/>
              </a:rPr>
              <a:t>PART 03</a:t>
            </a:r>
            <a:endParaRPr sz="975" b="1" i="0" u="none">
              <a:solidFill>
                <a:srgbClr val="059669"/>
              </a:solidFill>
              <a:latin typeface="Plus Jakarta Sans"/>
            </a:endParaRPr>
          </a:p>
        </p:txBody>
      </p:sp>
      <p:sp>
        <p:nvSpPr>
          <p:cNvPr id="29" name="TextBox 28"/>
          <p:cNvSpPr txBox="1"/>
          <p:nvPr/>
        </p:nvSpPr>
        <p:spPr>
          <a:xfrm>
            <a:off x="8382000" y="2990850"/>
            <a:ext cx="3810000" cy="228600"/>
          </a:xfrm>
          <a:prstGeom prst="rect">
            <a:avLst/>
          </a:prstGeom>
          <a:noFill/>
        </p:spPr>
        <p:txBody>
          <a:bodyPr wrap="none" lIns="0" tIns="0" rIns="0" bIns="0" anchor="t">
            <a:spAutoFit/>
          </a:bodyPr>
          <a:lstStyle/>
          <a:p>
            <a:pPr algn="l"/>
            <a:r>
              <a:rPr sz="1425" b="1" i="0" u="none">
                <a:solidFill>
                  <a:srgbClr val="0F172A"/>
                </a:solidFill>
                <a:latin typeface="Plus Jakarta Sans"/>
              </a:rPr>
              <a:t>Evaluation &amp; Outlook</a:t>
            </a:r>
            <a:endParaRPr sz="1425" b="1" i="0" u="none">
              <a:solidFill>
                <a:srgbClr val="0F172A"/>
              </a:solidFill>
              <a:latin typeface="Plus Jakarta Sans"/>
            </a:endParaRPr>
          </a:p>
        </p:txBody>
      </p:sp>
      <p:sp>
        <p:nvSpPr>
          <p:cNvPr id="30" name="TextBox 29"/>
          <p:cNvSpPr txBox="1"/>
          <p:nvPr/>
        </p:nvSpPr>
        <p:spPr>
          <a:xfrm>
            <a:off x="914400" y="337185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Abstract &amp; Introduction:</a:t>
            </a:r>
            <a:r>
              <a:rPr sz="1125" b="0" i="0" u="none">
                <a:solidFill>
                  <a:srgbClr val="334155"/>
                </a:solidFill>
                <a:latin typeface="Plus Jakarta Sans"/>
              </a:rPr>
              <a:t> Context &amp; Motivation</a:t>
            </a:r>
            <a:endParaRPr sz="1125" b="0" i="0" u="none">
              <a:solidFill>
                <a:srgbClr val="334155"/>
              </a:solidFill>
              <a:latin typeface="Plus Jakarta Sans"/>
            </a:endParaRPr>
          </a:p>
        </p:txBody>
      </p:sp>
      <p:sp>
        <p:nvSpPr>
          <p:cNvPr id="31" name="TextBox 30"/>
          <p:cNvSpPr txBox="1"/>
          <p:nvPr/>
        </p:nvSpPr>
        <p:spPr>
          <a:xfrm>
            <a:off x="914400" y="384810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Problem Statement:</a:t>
            </a:r>
            <a:r>
              <a:rPr sz="1125" b="0" i="0" u="none">
                <a:solidFill>
                  <a:srgbClr val="334155"/>
                </a:solidFill>
                <a:latin typeface="Plus Jakarta Sans"/>
              </a:rPr>
              <a:t> Parking Search Pain Points</a:t>
            </a:r>
            <a:endParaRPr sz="1125" b="0" i="0" u="none">
              <a:solidFill>
                <a:srgbClr val="334155"/>
              </a:solidFill>
              <a:latin typeface="Plus Jakarta Sans"/>
            </a:endParaRPr>
          </a:p>
        </p:txBody>
      </p:sp>
      <p:sp>
        <p:nvSpPr>
          <p:cNvPr id="32" name="TextBox 31"/>
          <p:cNvSpPr txBox="1"/>
          <p:nvPr/>
        </p:nvSpPr>
        <p:spPr>
          <a:xfrm>
            <a:off x="914400" y="4324350"/>
            <a:ext cx="3667125" cy="180975"/>
          </a:xfrm>
          <a:prstGeom prst="rect">
            <a:avLst/>
          </a:prstGeom>
          <a:noFill/>
        </p:spPr>
        <p:txBody>
          <a:bodyPr wrap="none" lIns="161925" tIns="0" rIns="0" bIns="0" anchor="t">
            <a:spAutoFit/>
          </a:bodyPr>
          <a:lstStyle/>
          <a:p>
            <a:pPr algn="l"/>
            <a:r>
              <a:rPr sz="1125" b="1" i="0" u="none">
                <a:solidFill>
                  <a:srgbClr val="334155"/>
                </a:solidFill>
                <a:latin typeface="Plus Jakarta Sans"/>
              </a:rPr>
              <a:t>Project Objectives:</a:t>
            </a:r>
            <a:r>
              <a:rPr sz="1125" b="0" i="0" u="none">
                <a:solidFill>
                  <a:srgbClr val="334155"/>
                </a:solidFill>
                <a:latin typeface="Plus Jakarta Sans"/>
              </a:rPr>
              <a:t> Core Targets</a:t>
            </a:r>
            <a:endParaRPr sz="1125" b="0" i="0" u="none">
              <a:solidFill>
                <a:srgbClr val="334155"/>
              </a:solidFill>
              <a:latin typeface="Plus Jakarta Sans"/>
            </a:endParaRPr>
          </a:p>
        </p:txBody>
      </p:sp>
      <p:sp>
        <p:nvSpPr>
          <p:cNvPr id="33" name="TextBox 32"/>
          <p:cNvSpPr txBox="1"/>
          <p:nvPr/>
        </p:nvSpPr>
        <p:spPr>
          <a:xfrm>
            <a:off x="914400" y="4619625"/>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Literature Review:</a:t>
            </a:r>
            <a:r>
              <a:rPr sz="1125" b="0" i="0" u="none">
                <a:solidFill>
                  <a:srgbClr val="334155"/>
                </a:solidFill>
                <a:latin typeface="Plus Jakarta Sans"/>
              </a:rPr>
              <a:t> Existing Parking Apps</a:t>
            </a:r>
            <a:endParaRPr sz="1125" b="0" i="0" u="none">
              <a:solidFill>
                <a:srgbClr val="334155"/>
              </a:solidFill>
              <a:latin typeface="Plus Jakarta Sans"/>
            </a:endParaRPr>
          </a:p>
        </p:txBody>
      </p:sp>
      <p:sp>
        <p:nvSpPr>
          <p:cNvPr id="34" name="TextBox 33"/>
          <p:cNvSpPr txBox="1"/>
          <p:nvPr/>
        </p:nvSpPr>
        <p:spPr>
          <a:xfrm>
            <a:off x="4648200" y="337185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System Methodology:</a:t>
            </a:r>
            <a:r>
              <a:rPr sz="1125" b="0" i="0" u="none">
                <a:solidFill>
                  <a:srgbClr val="334155"/>
                </a:solidFill>
                <a:latin typeface="Plus Jakarta Sans"/>
              </a:rPr>
              <a:t> 4-Module Framework</a:t>
            </a:r>
            <a:endParaRPr sz="1125" b="0" i="0" u="none">
              <a:solidFill>
                <a:srgbClr val="334155"/>
              </a:solidFill>
              <a:latin typeface="Plus Jakarta Sans"/>
            </a:endParaRPr>
          </a:p>
        </p:txBody>
      </p:sp>
      <p:sp>
        <p:nvSpPr>
          <p:cNvPr id="35" name="TextBox 34"/>
          <p:cNvSpPr txBox="1"/>
          <p:nvPr/>
        </p:nvSpPr>
        <p:spPr>
          <a:xfrm>
            <a:off x="4648200" y="3848100"/>
            <a:ext cx="3667125" cy="180975"/>
          </a:xfrm>
          <a:prstGeom prst="rect">
            <a:avLst/>
          </a:prstGeom>
          <a:noFill/>
        </p:spPr>
        <p:txBody>
          <a:bodyPr wrap="none" lIns="161925" tIns="0" rIns="0" bIns="0" anchor="t">
            <a:spAutoFit/>
          </a:bodyPr>
          <a:lstStyle/>
          <a:p>
            <a:pPr algn="l"/>
            <a:r>
              <a:rPr sz="1125" b="1" i="0" u="none">
                <a:solidFill>
                  <a:srgbClr val="334155"/>
                </a:solidFill>
                <a:latin typeface="Plus Jakarta Sans"/>
              </a:rPr>
              <a:t>Module 1:</a:t>
            </a:r>
            <a:r>
              <a:rPr sz="1125" b="0" i="0" u="none">
                <a:solidFill>
                  <a:srgbClr val="334155"/>
                </a:solidFill>
                <a:latin typeface="Plus Jakarta Sans"/>
              </a:rPr>
              <a:t> User Registration &amp; Profile</a:t>
            </a:r>
            <a:endParaRPr sz="1125" b="0" i="0" u="none">
              <a:solidFill>
                <a:srgbClr val="334155"/>
              </a:solidFill>
              <a:latin typeface="Plus Jakarta Sans"/>
            </a:endParaRPr>
          </a:p>
        </p:txBody>
      </p:sp>
      <p:sp>
        <p:nvSpPr>
          <p:cNvPr id="36" name="TextBox 35"/>
          <p:cNvSpPr txBox="1"/>
          <p:nvPr/>
        </p:nvSpPr>
        <p:spPr>
          <a:xfrm>
            <a:off x="4648200" y="4143375"/>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Module 2:</a:t>
            </a:r>
            <a:r>
              <a:rPr sz="1125" b="0" i="0" u="none">
                <a:solidFill>
                  <a:srgbClr val="334155"/>
                </a:solidFill>
                <a:latin typeface="Plus Jakarta Sans"/>
              </a:rPr>
              <a:t> Location &amp; Parking Search</a:t>
            </a:r>
            <a:endParaRPr sz="1125" b="0" i="0" u="none">
              <a:solidFill>
                <a:srgbClr val="334155"/>
              </a:solidFill>
              <a:latin typeface="Plus Jakarta Sans"/>
            </a:endParaRPr>
          </a:p>
        </p:txBody>
      </p:sp>
      <p:sp>
        <p:nvSpPr>
          <p:cNvPr id="37" name="TextBox 36"/>
          <p:cNvSpPr txBox="1"/>
          <p:nvPr/>
        </p:nvSpPr>
        <p:spPr>
          <a:xfrm>
            <a:off x="4648200" y="4619625"/>
            <a:ext cx="3667125" cy="180975"/>
          </a:xfrm>
          <a:prstGeom prst="rect">
            <a:avLst/>
          </a:prstGeom>
          <a:noFill/>
        </p:spPr>
        <p:txBody>
          <a:bodyPr wrap="none" lIns="161925" tIns="0" rIns="0" bIns="0" anchor="t">
            <a:spAutoFit/>
          </a:bodyPr>
          <a:lstStyle/>
          <a:p>
            <a:pPr algn="l"/>
            <a:r>
              <a:rPr sz="1125" b="1" i="0" u="none">
                <a:solidFill>
                  <a:srgbClr val="334155"/>
                </a:solidFill>
                <a:latin typeface="Plus Jakarta Sans"/>
              </a:rPr>
              <a:t>Module 3:</a:t>
            </a:r>
            <a:r>
              <a:rPr sz="1125" b="0" i="0" u="none">
                <a:solidFill>
                  <a:srgbClr val="334155"/>
                </a:solidFill>
                <a:latin typeface="Plus Jakarta Sans"/>
              </a:rPr>
              <a:t> Booking &amp; Payment</a:t>
            </a:r>
            <a:endParaRPr sz="1125" b="0" i="0" u="none">
              <a:solidFill>
                <a:srgbClr val="334155"/>
              </a:solidFill>
              <a:latin typeface="Plus Jakarta Sans"/>
            </a:endParaRPr>
          </a:p>
        </p:txBody>
      </p:sp>
      <p:sp>
        <p:nvSpPr>
          <p:cNvPr id="38" name="TextBox 37"/>
          <p:cNvSpPr txBox="1"/>
          <p:nvPr/>
        </p:nvSpPr>
        <p:spPr>
          <a:xfrm>
            <a:off x="4648200" y="4914900"/>
            <a:ext cx="3667125" cy="180975"/>
          </a:xfrm>
          <a:prstGeom prst="rect">
            <a:avLst/>
          </a:prstGeom>
          <a:noFill/>
        </p:spPr>
        <p:txBody>
          <a:bodyPr wrap="none" lIns="161925" tIns="0" rIns="0" bIns="0" anchor="t">
            <a:spAutoFit/>
          </a:bodyPr>
          <a:lstStyle/>
          <a:p>
            <a:pPr algn="l"/>
            <a:r>
              <a:rPr sz="1125" b="1" i="0" u="none">
                <a:solidFill>
                  <a:srgbClr val="334155"/>
                </a:solidFill>
                <a:latin typeface="Plus Jakarta Sans"/>
              </a:rPr>
              <a:t>Module 4:</a:t>
            </a:r>
            <a:r>
              <a:rPr sz="1125" b="0" i="0" u="none">
                <a:solidFill>
                  <a:srgbClr val="334155"/>
                </a:solidFill>
                <a:latin typeface="Plus Jakarta Sans"/>
              </a:rPr>
              <a:t> Navigation &amp; Management</a:t>
            </a:r>
            <a:endParaRPr sz="1125" b="0" i="0" u="none">
              <a:solidFill>
                <a:srgbClr val="334155"/>
              </a:solidFill>
              <a:latin typeface="Plus Jakarta Sans"/>
            </a:endParaRPr>
          </a:p>
        </p:txBody>
      </p:sp>
      <p:sp>
        <p:nvSpPr>
          <p:cNvPr id="39" name="TextBox 38"/>
          <p:cNvSpPr txBox="1"/>
          <p:nvPr/>
        </p:nvSpPr>
        <p:spPr>
          <a:xfrm>
            <a:off x="8382000" y="337185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Technical Implementation:</a:t>
            </a:r>
            <a:r>
              <a:rPr sz="1125" b="0" i="0" u="none">
                <a:solidFill>
                  <a:srgbClr val="334155"/>
                </a:solidFill>
                <a:latin typeface="Plus Jakarta Sans"/>
              </a:rPr>
              <a:t> Booking Pipeline</a:t>
            </a:r>
            <a:endParaRPr sz="1125" b="0" i="0" u="none">
              <a:solidFill>
                <a:srgbClr val="334155"/>
              </a:solidFill>
              <a:latin typeface="Plus Jakarta Sans"/>
            </a:endParaRPr>
          </a:p>
        </p:txBody>
      </p:sp>
      <p:sp>
        <p:nvSpPr>
          <p:cNvPr id="40" name="TextBox 39"/>
          <p:cNvSpPr txBox="1"/>
          <p:nvPr/>
        </p:nvSpPr>
        <p:spPr>
          <a:xfrm>
            <a:off x="8382000" y="384810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Results &amp; Discussion:</a:t>
            </a:r>
            <a:r>
              <a:rPr sz="1125" b="0" i="0" u="none">
                <a:solidFill>
                  <a:srgbClr val="334155"/>
                </a:solidFill>
                <a:latin typeface="Plus Jakarta Sans"/>
              </a:rPr>
              <a:t> Performance Targets</a:t>
            </a:r>
            <a:endParaRPr sz="1125" b="0" i="0" u="none">
              <a:solidFill>
                <a:srgbClr val="334155"/>
              </a:solidFill>
              <a:latin typeface="Plus Jakarta Sans"/>
            </a:endParaRPr>
          </a:p>
        </p:txBody>
      </p:sp>
      <p:sp>
        <p:nvSpPr>
          <p:cNvPr id="41" name="TextBox 40"/>
          <p:cNvSpPr txBox="1"/>
          <p:nvPr/>
        </p:nvSpPr>
        <p:spPr>
          <a:xfrm>
            <a:off x="8382000" y="432435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Challenges &amp; Limitations:</a:t>
            </a:r>
            <a:r>
              <a:rPr sz="1125" b="0" i="0" u="none">
                <a:solidFill>
                  <a:srgbClr val="334155"/>
                </a:solidFill>
                <a:latin typeface="Plus Jakarta Sans"/>
              </a:rPr>
              <a:t> GPS &amp; Data Accuracy</a:t>
            </a:r>
            <a:endParaRPr sz="1125" b="0" i="0" u="none">
              <a:solidFill>
                <a:srgbClr val="334155"/>
              </a:solidFill>
              <a:latin typeface="Plus Jakarta Sans"/>
            </a:endParaRPr>
          </a:p>
        </p:txBody>
      </p:sp>
      <p:sp>
        <p:nvSpPr>
          <p:cNvPr id="42" name="TextBox 41"/>
          <p:cNvSpPr txBox="1"/>
          <p:nvPr/>
        </p:nvSpPr>
        <p:spPr>
          <a:xfrm>
            <a:off x="8382000" y="4800600"/>
            <a:ext cx="3028950" cy="361950"/>
          </a:xfrm>
          <a:prstGeom prst="rect">
            <a:avLst/>
          </a:prstGeom>
          <a:noFill/>
        </p:spPr>
        <p:txBody>
          <a:bodyPr wrap="square" lIns="161925" tIns="0" rIns="0" bIns="0" anchor="t">
            <a:spAutoFit/>
          </a:bodyPr>
          <a:lstStyle/>
          <a:p>
            <a:pPr algn="l"/>
            <a:r>
              <a:rPr sz="1125" b="1" i="0" u="none">
                <a:solidFill>
                  <a:srgbClr val="334155"/>
                </a:solidFill>
                <a:latin typeface="Plus Jakarta Sans"/>
              </a:rPr>
              <a:t>Future Scope &amp; References:</a:t>
            </a:r>
            <a:r>
              <a:rPr sz="1125" b="0" i="0" u="none">
                <a:solidFill>
                  <a:srgbClr val="334155"/>
                </a:solidFill>
                <a:latin typeface="Plus Jakarta Sans"/>
              </a:rPr>
              <a:t> IoT Sensors &amp; AI</a:t>
            </a:r>
            <a:endParaRPr sz="1125" b="0" i="0" u="none">
              <a:solidFill>
                <a:srgbClr val="334155"/>
              </a:solidFill>
              <a:latin typeface="Plus Jakarta Sans"/>
            </a:endParaRPr>
          </a:p>
        </p:txBody>
      </p:sp>
      <p:pic>
        <p:nvPicPr>
          <p:cNvPr id="43" name="SIMATS Header" descr="5b09ae4e-image.png"/>
          <p:cNvPicPr>
            <a:picLocks noChangeAspect="1"/>
          </p:cNvPicPr>
          <p:nvPr/>
        </p:nvPicPr>
        <p:blipFill>
          <a:blip r:embed="rId4"/>
          <a:stretch>
            <a:fillRect/>
          </a:stretch>
        </p:blipFill>
        <p:spPr>
          <a:xfrm>
            <a:off x="609600" y="80000"/>
            <a:ext cx="10300000" cy="10575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000000"/>
            <a:ext cx="5372100" cy="4620000"/>
          </a:xfrm>
          <a:prstGeom prst="roundRect">
            <a:avLst>
              <a:gd name="adj" fmla="val 23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2000000"/>
            <a:ext cx="5372100" cy="4620000"/>
          </a:xfrm>
          <a:prstGeom prst="roundRect">
            <a:avLst>
              <a:gd name="adj" fmla="val 23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1"/>
          <a:stretch>
            <a:fillRect/>
          </a:stretch>
        </p:blipFill>
        <p:spPr>
          <a:xfrm>
            <a:off x="885825" y="3192978"/>
            <a:ext cx="142875" cy="190500"/>
          </a:xfrm>
          <a:prstGeom prst="rect">
            <a:avLst/>
          </a:prstGeom>
        </p:spPr>
      </p:pic>
      <p:pic>
        <p:nvPicPr>
          <p:cNvPr id="5" name="Picture 4" descr="image.png"/>
          <p:cNvPicPr>
            <a:picLocks noChangeAspect="1"/>
          </p:cNvPicPr>
          <p:nvPr/>
        </p:nvPicPr>
        <p:blipFill>
          <a:blip r:embed="rId2"/>
          <a:stretch>
            <a:fillRect/>
          </a:stretch>
        </p:blipFill>
        <p:spPr>
          <a:xfrm>
            <a:off x="6486525" y="3192978"/>
            <a:ext cx="190500" cy="190500"/>
          </a:xfrm>
          <a:prstGeom prst="rect">
            <a:avLst/>
          </a:prstGeom>
        </p:spPr>
      </p:pic>
      <p:sp>
        <p:nvSpPr>
          <p:cNvPr id="6" name="TextBox 5"/>
          <p:cNvSpPr txBox="1"/>
          <p:nvPr/>
        </p:nvSpPr>
        <p:spPr>
          <a:xfrm>
            <a:off x="609600" y="1307200"/>
            <a:ext cx="3438525" cy="600075"/>
          </a:xfrm>
          <a:prstGeom prst="rect">
            <a:avLst/>
          </a:prstGeom>
          <a:noFill/>
        </p:spPr>
        <p:txBody>
          <a:bodyPr wrap="square" lIns="0" tIns="0" rIns="0" bIns="0" anchor="t">
            <a:spAutoFit/>
          </a:bodyPr>
          <a:lstStyle/>
          <a:p>
            <a:pPr algn="l"/>
            <a:r>
              <a:rPr sz="975" b="1" i="0" u="none">
                <a:solidFill>
                  <a:srgbClr val="EF4444"/>
                </a:solidFill>
                <a:latin typeface="Plus Jakarta Sans"/>
              </a:rPr>
              <a:t>Context &amp; Motivation</a:t>
            </a:r>
            <a:endParaRPr sz="975" b="1" i="0" u="none">
              <a:solidFill>
                <a:srgbClr val="EF4444"/>
              </a:solidFill>
              <a:latin typeface="Plus Jakarta Sans"/>
            </a:endParaRPr>
          </a:p>
        </p:txBody>
      </p:sp>
      <p:sp>
        <p:nvSpPr>
          <p:cNvPr id="7" name="TextBox 6"/>
          <p:cNvSpPr txBox="1"/>
          <p:nvPr/>
        </p:nvSpPr>
        <p:spPr>
          <a:xfrm>
            <a:off x="10315575" y="1735825"/>
            <a:ext cx="1583531" cy="171450"/>
          </a:xfrm>
          <a:prstGeom prst="rect">
            <a:avLst/>
          </a:prstGeom>
          <a:noFill/>
        </p:spPr>
        <p:txBody>
          <a:bodyPr wrap="none" lIns="0" tIns="0" rIns="0" bIns="0" anchor="t">
            <a:spAutoFit/>
          </a:bodyPr>
          <a:lstStyle/>
          <a:p>
            <a:pPr algn="l"/>
            <a:r>
              <a:rPr sz="1050" b="1" i="0" u="none">
                <a:solidFill>
                  <a:srgbClr val="64748B"/>
                </a:solidFill>
                <a:latin typeface="Plus Jakarta Sans"/>
              </a:rPr>
              <a:t>Project Background</a:t>
            </a:r>
            <a:endParaRPr sz="1050" b="1" i="0" u="none">
              <a:solidFill>
                <a:srgbClr val="64748B"/>
              </a:solidFill>
              <a:latin typeface="Plus Jakarta Sans"/>
            </a:endParaRPr>
          </a:p>
        </p:txBody>
      </p:sp>
      <p:sp>
        <p:nvSpPr>
          <p:cNvPr id="8" name="TextBox 7"/>
          <p:cNvSpPr txBox="1"/>
          <p:nvPr/>
        </p:nvSpPr>
        <p:spPr>
          <a:xfrm>
            <a:off x="609600" y="1545325"/>
            <a:ext cx="4388048" cy="361950"/>
          </a:xfrm>
          <a:prstGeom prst="rect">
            <a:avLst/>
          </a:prstGeom>
          <a:noFill/>
        </p:spPr>
        <p:txBody>
          <a:bodyPr wrap="none" lIns="0" tIns="0" rIns="0" bIns="0" anchor="t">
            <a:spAutoFit/>
          </a:bodyPr>
          <a:lstStyle/>
          <a:p>
            <a:pPr algn="l"/>
            <a:r>
              <a:rPr sz="2250" b="1" i="0" u="none">
                <a:solidFill>
                  <a:srgbClr val="0F172A"/>
                </a:solidFill>
                <a:latin typeface="Plus Jakarta Sans"/>
              </a:rPr>
              <a:t>Abstract &amp; Introduction</a:t>
            </a:r>
            <a:endParaRPr sz="2250" b="1" i="0" u="none">
              <a:solidFill>
                <a:srgbClr val="0F172A"/>
              </a:solidFill>
              <a:latin typeface="Plus Jakarta Sans"/>
            </a:endParaRPr>
          </a:p>
        </p:txBody>
      </p:sp>
      <p:sp>
        <p:nvSpPr>
          <p:cNvPr id="9" name="TextBox 8"/>
          <p:cNvSpPr txBox="1"/>
          <p:nvPr/>
        </p:nvSpPr>
        <p:spPr>
          <a:xfrm>
            <a:off x="1123950" y="3170638"/>
            <a:ext cx="2287785" cy="223404"/>
          </a:xfrm>
          <a:prstGeom prst="rect">
            <a:avLst/>
          </a:prstGeom>
          <a:noFill/>
        </p:spPr>
        <p:txBody>
          <a:bodyPr wrap="none" lIns="0" tIns="0" rIns="0" bIns="0" anchor="t">
            <a:spAutoFit/>
          </a:bodyPr>
          <a:lstStyle/>
          <a:p>
            <a:pPr algn="l"/>
            <a:r>
              <a:rPr sz="1500" b="1" i="0" u="none">
                <a:solidFill>
                  <a:srgbClr val="0F172A"/>
                </a:solidFill>
                <a:latin typeface="Plus Jakarta Sans"/>
              </a:rPr>
              <a:t>Executive Abstract</a:t>
            </a:r>
            <a:endParaRPr sz="1500" b="1" i="0" u="none">
              <a:solidFill>
                <a:srgbClr val="0F172A"/>
              </a:solidFill>
              <a:latin typeface="Plus Jakarta Sans"/>
            </a:endParaRPr>
          </a:p>
        </p:txBody>
      </p:sp>
      <p:sp>
        <p:nvSpPr>
          <p:cNvPr id="10" name="TextBox 9"/>
          <p:cNvSpPr txBox="1"/>
          <p:nvPr/>
        </p:nvSpPr>
        <p:spPr>
          <a:xfrm>
            <a:off x="885825" y="3519148"/>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Urban Congestion:</a:t>
            </a:r>
            <a:r>
              <a:rPr sz="1125" b="0" i="0" u="none">
                <a:solidFill>
                  <a:srgbClr val="334155"/>
                </a:solidFill>
                <a:latin typeface="Plus Jakarta Sans"/>
              </a:rPr>
              <a:t> Drivers waste time circling city blocks searching for a free parking spot.</a:t>
            </a:r>
            <a:endParaRPr sz="1125" b="0" i="0" u="none">
              <a:solidFill>
                <a:srgbClr val="334155"/>
              </a:solidFill>
              <a:latin typeface="Plus Jakarta Sans"/>
            </a:endParaRPr>
          </a:p>
        </p:txBody>
      </p:sp>
      <p:sp>
        <p:nvSpPr>
          <p:cNvPr id="11" name="TextBox 10"/>
          <p:cNvSpPr txBox="1"/>
          <p:nvPr/>
        </p:nvSpPr>
        <p:spPr>
          <a:xfrm>
            <a:off x="885825" y="4028510"/>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Integrated Engineering:</a:t>
            </a:r>
            <a:r>
              <a:rPr sz="1125" b="0" i="0" u="none">
                <a:solidFill>
                  <a:srgbClr val="334155"/>
                </a:solidFill>
                <a:latin typeface="Plus Jakarta Sans"/>
              </a:rPr>
              <a:t> ParkEasy combines parking search, booking, payment, and navigation in one app.</a:t>
            </a:r>
            <a:endParaRPr sz="1125" b="0" i="0" u="none">
              <a:solidFill>
                <a:srgbClr val="334155"/>
              </a:solidFill>
              <a:latin typeface="Plus Jakarta Sans"/>
            </a:endParaRPr>
          </a:p>
        </p:txBody>
      </p:sp>
      <p:sp>
        <p:nvSpPr>
          <p:cNvPr id="12" name="TextBox 11"/>
          <p:cNvSpPr txBox="1"/>
          <p:nvPr/>
        </p:nvSpPr>
        <p:spPr>
          <a:xfrm>
            <a:off x="885825" y="4537872"/>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Real-Time Availability:</a:t>
            </a:r>
            <a:r>
              <a:rPr sz="1125" b="0" i="0" u="none">
                <a:solidFill>
                  <a:srgbClr val="334155"/>
                </a:solidFill>
                <a:latin typeface="Plus Jakarta Sans"/>
              </a:rPr>
              <a:t> Live slot status updates keep every parking listing accurate and trustworthy.</a:t>
            </a:r>
            <a:endParaRPr sz="1125" b="0" i="0" u="none">
              <a:solidFill>
                <a:srgbClr val="334155"/>
              </a:solidFill>
              <a:latin typeface="Plus Jakarta Sans"/>
            </a:endParaRPr>
          </a:p>
        </p:txBody>
      </p:sp>
      <p:sp>
        <p:nvSpPr>
          <p:cNvPr id="13" name="TextBox 12"/>
          <p:cNvSpPr txBox="1"/>
          <p:nvPr/>
        </p:nvSpPr>
        <p:spPr>
          <a:xfrm>
            <a:off x="885825" y="5047234"/>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Seamless Booking:</a:t>
            </a:r>
            <a:r>
              <a:rPr sz="1125" b="0" i="0" u="none">
                <a:solidFill>
                  <a:srgbClr val="334155"/>
                </a:solidFill>
                <a:latin typeface="Plus Jakarta Sans"/>
              </a:rPr>
              <a:t> Drivers reserve a slot and pay online before they leave home.</a:t>
            </a:r>
            <a:endParaRPr sz="1125" b="0" i="0" u="none">
              <a:solidFill>
                <a:srgbClr val="334155"/>
              </a:solidFill>
              <a:latin typeface="Plus Jakarta Sans"/>
            </a:endParaRPr>
          </a:p>
        </p:txBody>
      </p:sp>
      <p:sp>
        <p:nvSpPr>
          <p:cNvPr id="14" name="TextBox 13"/>
          <p:cNvSpPr txBox="1"/>
          <p:nvPr/>
        </p:nvSpPr>
        <p:spPr>
          <a:xfrm>
            <a:off x="6772275" y="3170638"/>
            <a:ext cx="2750343" cy="223404"/>
          </a:xfrm>
          <a:prstGeom prst="rect">
            <a:avLst/>
          </a:prstGeom>
          <a:noFill/>
        </p:spPr>
        <p:txBody>
          <a:bodyPr wrap="none" lIns="0" tIns="0" rIns="0" bIns="0" anchor="t">
            <a:spAutoFit/>
          </a:bodyPr>
          <a:lstStyle/>
          <a:p>
            <a:pPr algn="l"/>
            <a:r>
              <a:rPr sz="1500" b="1" i="0" u="none">
                <a:solidFill>
                  <a:srgbClr val="0F172A"/>
                </a:solidFill>
                <a:latin typeface="Plus Jakarta Sans"/>
              </a:rPr>
              <a:t>Introduction &amp; Domain</a:t>
            </a:r>
            <a:endParaRPr sz="1500" b="1" i="0" u="none">
              <a:solidFill>
                <a:srgbClr val="0F172A"/>
              </a:solidFill>
              <a:latin typeface="Plus Jakarta Sans"/>
            </a:endParaRPr>
          </a:p>
        </p:txBody>
      </p:sp>
      <p:sp>
        <p:nvSpPr>
          <p:cNvPr id="15" name="TextBox 14"/>
          <p:cNvSpPr txBox="1"/>
          <p:nvPr/>
        </p:nvSpPr>
        <p:spPr>
          <a:xfrm>
            <a:off x="6486525" y="3519148"/>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Search Time Wasted:</a:t>
            </a:r>
            <a:r>
              <a:rPr sz="1125" b="0" i="0" u="none">
                <a:solidFill>
                  <a:srgbClr val="334155"/>
                </a:solidFill>
                <a:latin typeface="Plus Jakarta Sans"/>
              </a:rPr>
              <a:t> Unplanned searches add fuel cost, traffic congestion, and driver stress.</a:t>
            </a:r>
            <a:endParaRPr sz="1125" b="0" i="0" u="none">
              <a:solidFill>
                <a:srgbClr val="334155"/>
              </a:solidFill>
              <a:latin typeface="Plus Jakarta Sans"/>
            </a:endParaRPr>
          </a:p>
        </p:txBody>
      </p:sp>
      <p:sp>
        <p:nvSpPr>
          <p:cNvPr id="16" name="TextBox 15"/>
          <p:cNvSpPr txBox="1"/>
          <p:nvPr/>
        </p:nvSpPr>
        <p:spPr>
          <a:xfrm>
            <a:off x="6486525" y="4028510"/>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Fragmented Experience:</a:t>
            </a:r>
            <a:r>
              <a:rPr sz="1125" b="0" i="0" u="none">
                <a:solidFill>
                  <a:srgbClr val="334155"/>
                </a:solidFill>
                <a:latin typeface="Plus Jakarta Sans"/>
              </a:rPr>
              <a:t> Separate apps for maps, booking, and payment frustrate drivers.</a:t>
            </a:r>
            <a:endParaRPr sz="1125" b="0" i="0" u="none">
              <a:solidFill>
                <a:srgbClr val="334155"/>
              </a:solidFill>
              <a:latin typeface="Plus Jakarta Sans"/>
            </a:endParaRPr>
          </a:p>
        </p:txBody>
      </p:sp>
      <p:sp>
        <p:nvSpPr>
          <p:cNvPr id="17" name="TextBox 16"/>
          <p:cNvSpPr txBox="1"/>
          <p:nvPr/>
        </p:nvSpPr>
        <p:spPr>
          <a:xfrm>
            <a:off x="6486525" y="4537872"/>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Unified Parking Experience:</a:t>
            </a:r>
            <a:r>
              <a:rPr sz="1125" b="0" i="0" u="none">
                <a:solidFill>
                  <a:srgbClr val="334155"/>
                </a:solidFill>
                <a:latin typeface="Plus Jakarta Sans"/>
              </a:rPr>
              <a:t> One platform connects drivers, lot owners, and administrators.</a:t>
            </a:r>
            <a:endParaRPr sz="1125" b="0" i="0" u="none">
              <a:solidFill>
                <a:srgbClr val="334155"/>
              </a:solidFill>
              <a:latin typeface="Plus Jakarta Sans"/>
            </a:endParaRPr>
          </a:p>
        </p:txBody>
      </p:sp>
      <p:sp>
        <p:nvSpPr>
          <p:cNvPr id="18" name="TextBox 17"/>
          <p:cNvSpPr txBox="1"/>
          <p:nvPr/>
        </p:nvSpPr>
        <p:spPr>
          <a:xfrm>
            <a:off x="6486525" y="5047234"/>
            <a:ext cx="491490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Location Intelligence:</a:t>
            </a:r>
            <a:r>
              <a:rPr sz="1125" b="0" i="0" u="none">
                <a:solidFill>
                  <a:srgbClr val="334155"/>
                </a:solidFill>
                <a:latin typeface="Plus Jakarta Sans"/>
              </a:rPr>
              <a:t> GPS-based search finds nearby lots and guides drivers turn-by-turn to the entrance.</a:t>
            </a:r>
            <a:endParaRPr sz="1125" b="0" i="0" u="none">
              <a:solidFill>
                <a:srgbClr val="334155"/>
              </a:solidFill>
              <a:latin typeface="Plus Jakarta Sans"/>
            </a:endParaRPr>
          </a:p>
        </p:txBody>
      </p:sp>
      <p:pic>
        <p:nvPicPr>
          <p:cNvPr id="19" name="SIMATS Header" descr="5b09ae4e-image.png"/>
          <p:cNvPicPr>
            <a:picLocks noChangeAspect="1"/>
          </p:cNvPicPr>
          <p:nvPr/>
        </p:nvPicPr>
        <p:blipFill>
          <a:blip r:embed="rId3"/>
          <a:stretch>
            <a:fillRect/>
          </a:stretch>
        </p:blipFill>
        <p:spPr>
          <a:xfrm>
            <a:off x="609600" y="80000"/>
            <a:ext cx="10300000" cy="10575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000000"/>
            <a:ext cx="5372100" cy="4620000"/>
          </a:xfrm>
          <a:prstGeom prst="roundRect">
            <a:avLst>
              <a:gd name="adj" fmla="val 2321"/>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2000000"/>
            <a:ext cx="5372100" cy="4620000"/>
          </a:xfrm>
          <a:prstGeom prst="roundRect">
            <a:avLst>
              <a:gd name="adj" fmla="val 232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2000000"/>
            <a:ext cx="38100" cy="46200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0300" y="2000000"/>
            <a:ext cx="38100" cy="4620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1307200"/>
            <a:ext cx="4686300" cy="600075"/>
          </a:xfrm>
          <a:prstGeom prst="rect">
            <a:avLst/>
          </a:prstGeom>
          <a:noFill/>
        </p:spPr>
        <p:txBody>
          <a:bodyPr wrap="square" lIns="0" tIns="0" rIns="0" bIns="0" anchor="t">
            <a:spAutoFit/>
          </a:bodyPr>
          <a:lstStyle/>
          <a:p>
            <a:pPr algn="l"/>
            <a:r>
              <a:rPr sz="975" b="1" i="0" u="none">
                <a:solidFill>
                  <a:srgbClr val="EF4444"/>
                </a:solidFill>
                <a:latin typeface="Plus Jakarta Sans"/>
              </a:rPr>
              <a:t>Engineering Scope</a:t>
            </a:r>
            <a:endParaRPr sz="975" b="1" i="0" u="none">
              <a:solidFill>
                <a:srgbClr val="EF4444"/>
              </a:solidFill>
              <a:latin typeface="Plus Jakarta Sans"/>
            </a:endParaRPr>
          </a:p>
        </p:txBody>
      </p:sp>
      <p:sp>
        <p:nvSpPr>
          <p:cNvPr id="7" name="TextBox 6"/>
          <p:cNvSpPr txBox="1"/>
          <p:nvPr/>
        </p:nvSpPr>
        <p:spPr>
          <a:xfrm>
            <a:off x="10677525" y="1735825"/>
            <a:ext cx="1190625" cy="171450"/>
          </a:xfrm>
          <a:prstGeom prst="rect">
            <a:avLst/>
          </a:prstGeom>
          <a:noFill/>
        </p:spPr>
        <p:txBody>
          <a:bodyPr wrap="none" lIns="0" tIns="0" rIns="0" bIns="0" anchor="t">
            <a:spAutoFit/>
          </a:bodyPr>
          <a:lstStyle/>
          <a:p>
            <a:pPr algn="l"/>
            <a:r>
              <a:rPr sz="1050" b="1" i="0" u="none">
                <a:solidFill>
                  <a:srgbClr val="64748B"/>
                </a:solidFill>
                <a:latin typeface="Plus Jakarta Sans"/>
              </a:rPr>
              <a:t>Target Metrics</a:t>
            </a:r>
            <a:endParaRPr sz="1050" b="1" i="0" u="none">
              <a:solidFill>
                <a:srgbClr val="64748B"/>
              </a:solidFill>
              <a:latin typeface="Plus Jakarta Sans"/>
            </a:endParaRPr>
          </a:p>
        </p:txBody>
      </p:sp>
      <p:sp>
        <p:nvSpPr>
          <p:cNvPr id="8" name="TextBox 7"/>
          <p:cNvSpPr txBox="1"/>
          <p:nvPr/>
        </p:nvSpPr>
        <p:spPr>
          <a:xfrm>
            <a:off x="609600" y="1545325"/>
            <a:ext cx="6025753" cy="361950"/>
          </a:xfrm>
          <a:prstGeom prst="rect">
            <a:avLst/>
          </a:prstGeom>
          <a:noFill/>
        </p:spPr>
        <p:txBody>
          <a:bodyPr wrap="none" lIns="0" tIns="0" rIns="0" bIns="0" anchor="t">
            <a:spAutoFit/>
          </a:bodyPr>
          <a:lstStyle/>
          <a:p>
            <a:pPr algn="l"/>
            <a:r>
              <a:rPr sz="2250" b="1" i="0" u="none">
                <a:solidFill>
                  <a:srgbClr val="0F172A"/>
                </a:solidFill>
                <a:latin typeface="Plus Jakarta Sans"/>
              </a:rPr>
              <a:t>Problem Statement &amp; Objectives</a:t>
            </a:r>
            <a:endParaRPr sz="2250" b="1" i="0" u="none">
              <a:solidFill>
                <a:srgbClr val="0F172A"/>
              </a:solidFill>
              <a:latin typeface="Plus Jakarta Sans"/>
            </a:endParaRPr>
          </a:p>
        </p:txBody>
      </p:sp>
      <p:sp>
        <p:nvSpPr>
          <p:cNvPr id="9" name="TextBox 8"/>
          <p:cNvSpPr txBox="1"/>
          <p:nvPr/>
        </p:nvSpPr>
        <p:spPr>
          <a:xfrm>
            <a:off x="914400" y="3063404"/>
            <a:ext cx="6000750" cy="142978"/>
          </a:xfrm>
          <a:prstGeom prst="rect">
            <a:avLst/>
          </a:prstGeom>
          <a:noFill/>
        </p:spPr>
        <p:txBody>
          <a:bodyPr wrap="none" lIns="0" tIns="0" rIns="0" bIns="0" anchor="t">
            <a:spAutoFit/>
          </a:bodyPr>
          <a:lstStyle/>
          <a:p>
            <a:pPr algn="l"/>
            <a:r>
              <a:rPr sz="975" b="1" i="0" u="none">
                <a:solidFill>
                  <a:srgbClr val="DC2626"/>
                </a:solidFill>
                <a:latin typeface="Plus Jakarta Sans"/>
              </a:rPr>
              <a:t>EXISTING DEFICIENCIES</a:t>
            </a:r>
            <a:endParaRPr sz="975" b="1" i="0" u="none">
              <a:solidFill>
                <a:srgbClr val="DC2626"/>
              </a:solidFill>
              <a:latin typeface="Plus Jakarta Sans"/>
            </a:endParaRPr>
          </a:p>
        </p:txBody>
      </p:sp>
      <p:sp>
        <p:nvSpPr>
          <p:cNvPr id="10" name="TextBox 9"/>
          <p:cNvSpPr txBox="1"/>
          <p:nvPr/>
        </p:nvSpPr>
        <p:spPr>
          <a:xfrm>
            <a:off x="914400" y="3260000"/>
            <a:ext cx="6300787" cy="223404"/>
          </a:xfrm>
          <a:prstGeom prst="rect">
            <a:avLst/>
          </a:prstGeom>
          <a:noFill/>
        </p:spPr>
        <p:txBody>
          <a:bodyPr wrap="none" lIns="0" tIns="0" rIns="0" bIns="0" anchor="t">
            <a:spAutoFit/>
          </a:bodyPr>
          <a:lstStyle/>
          <a:p>
            <a:pPr algn="l"/>
            <a:r>
              <a:rPr sz="1500" b="1" i="0" u="none">
                <a:solidFill>
                  <a:srgbClr val="991B1B"/>
                </a:solidFill>
                <a:latin typeface="Plus Jakarta Sans"/>
              </a:rPr>
              <a:t>Problem Statement</a:t>
            </a:r>
            <a:endParaRPr sz="1500" b="1" i="0" u="none">
              <a:solidFill>
                <a:srgbClr val="991B1B"/>
              </a:solidFill>
              <a:latin typeface="Plus Jakarta Sans"/>
            </a:endParaRPr>
          </a:p>
        </p:txBody>
      </p:sp>
      <p:sp>
        <p:nvSpPr>
          <p:cNvPr id="11" name="TextBox 10"/>
          <p:cNvSpPr txBox="1"/>
          <p:nvPr/>
        </p:nvSpPr>
        <p:spPr>
          <a:xfrm>
            <a:off x="6515100" y="3063404"/>
            <a:ext cx="5676900" cy="142978"/>
          </a:xfrm>
          <a:prstGeom prst="rect">
            <a:avLst/>
          </a:prstGeom>
          <a:noFill/>
        </p:spPr>
        <p:txBody>
          <a:bodyPr wrap="none" lIns="0" tIns="0" rIns="0" bIns="0" anchor="t">
            <a:spAutoFit/>
          </a:bodyPr>
          <a:lstStyle/>
          <a:p>
            <a:pPr algn="l"/>
            <a:r>
              <a:rPr sz="975" b="1" i="0" u="none">
                <a:solidFill>
                  <a:srgbClr val="2563EB"/>
                </a:solidFill>
                <a:latin typeface="Plus Jakarta Sans"/>
              </a:rPr>
              <a:t>PROPOSED SOLUTIONS</a:t>
            </a:r>
            <a:endParaRPr sz="975" b="1" i="0" u="none">
              <a:solidFill>
                <a:srgbClr val="2563EB"/>
              </a:solidFill>
              <a:latin typeface="Plus Jakarta Sans"/>
            </a:endParaRPr>
          </a:p>
        </p:txBody>
      </p:sp>
      <p:sp>
        <p:nvSpPr>
          <p:cNvPr id="12" name="TextBox 11"/>
          <p:cNvSpPr txBox="1"/>
          <p:nvPr/>
        </p:nvSpPr>
        <p:spPr>
          <a:xfrm>
            <a:off x="6515100" y="3260000"/>
            <a:ext cx="5676900" cy="223404"/>
          </a:xfrm>
          <a:prstGeom prst="rect">
            <a:avLst/>
          </a:prstGeom>
          <a:noFill/>
        </p:spPr>
        <p:txBody>
          <a:bodyPr wrap="none" lIns="0" tIns="0" rIns="0" bIns="0" anchor="t">
            <a:spAutoFit/>
          </a:bodyPr>
          <a:lstStyle/>
          <a:p>
            <a:pPr algn="l"/>
            <a:r>
              <a:rPr sz="1500" b="1" i="0" u="none">
                <a:solidFill>
                  <a:srgbClr val="1E40AF"/>
                </a:solidFill>
                <a:latin typeface="Plus Jakarta Sans"/>
              </a:rPr>
              <a:t>Project Objectives</a:t>
            </a:r>
            <a:endParaRPr sz="1500" b="1" i="0" u="none">
              <a:solidFill>
                <a:srgbClr val="1E40AF"/>
              </a:solidFill>
              <a:latin typeface="Plus Jakarta Sans"/>
            </a:endParaRPr>
          </a:p>
        </p:txBody>
      </p:sp>
      <p:sp>
        <p:nvSpPr>
          <p:cNvPr id="13" name="TextBox 12"/>
          <p:cNvSpPr txBox="1"/>
          <p:nvPr/>
        </p:nvSpPr>
        <p:spPr>
          <a:xfrm>
            <a:off x="914400" y="3626382"/>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Manual Searching:</a:t>
            </a:r>
            <a:r>
              <a:rPr sz="1125" b="0" i="0" u="none">
                <a:solidFill>
                  <a:srgbClr val="334155"/>
                </a:solidFill>
                <a:latin typeface="Plus Jakarta Sans"/>
              </a:rPr>
              <a:t> Drivers have no live view of free slots and drive around blindly.</a:t>
            </a:r>
            <a:endParaRPr sz="1125" b="0" i="0" u="none">
              <a:solidFill>
                <a:srgbClr val="334155"/>
              </a:solidFill>
              <a:latin typeface="Plus Jakarta Sans"/>
            </a:endParaRPr>
          </a:p>
        </p:txBody>
      </p:sp>
      <p:sp>
        <p:nvSpPr>
          <p:cNvPr id="14" name="TextBox 13"/>
          <p:cNvSpPr txBox="1"/>
          <p:nvPr/>
        </p:nvSpPr>
        <p:spPr>
          <a:xfrm>
            <a:off x="914400" y="4135744"/>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Disconnected Tools:</a:t>
            </a:r>
            <a:r>
              <a:rPr sz="1125" b="0" i="0" u="none">
                <a:solidFill>
                  <a:srgbClr val="334155"/>
                </a:solidFill>
                <a:latin typeface="Plus Jakarta Sans"/>
              </a:rPr>
              <a:t> Navigation, booking, and payment are spread across separate apps.</a:t>
            </a:r>
            <a:endParaRPr sz="1125" b="0" i="0" u="none">
              <a:solidFill>
                <a:srgbClr val="334155"/>
              </a:solidFill>
              <a:latin typeface="Plus Jakarta Sans"/>
            </a:endParaRPr>
          </a:p>
        </p:txBody>
      </p:sp>
      <p:sp>
        <p:nvSpPr>
          <p:cNvPr id="15" name="TextBox 14"/>
          <p:cNvSpPr txBox="1"/>
          <p:nvPr/>
        </p:nvSpPr>
        <p:spPr>
          <a:xfrm>
            <a:off x="914400" y="4645106"/>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Poor Lot Management:</a:t>
            </a:r>
            <a:r>
              <a:rPr sz="1125" b="0" i="0" u="none">
                <a:solidFill>
                  <a:srgbClr val="334155"/>
                </a:solidFill>
                <a:latin typeface="Plus Jakarta Sans"/>
              </a:rPr>
              <a:t> Owners lack real-time slot status, causing overbooking and idle slots.</a:t>
            </a:r>
            <a:endParaRPr sz="1125" b="0" i="0" u="none">
              <a:solidFill>
                <a:srgbClr val="334155"/>
              </a:solidFill>
              <a:latin typeface="Plus Jakarta Sans"/>
            </a:endParaRPr>
          </a:p>
        </p:txBody>
      </p:sp>
      <p:sp>
        <p:nvSpPr>
          <p:cNvPr id="16" name="TextBox 15"/>
          <p:cNvSpPr txBox="1"/>
          <p:nvPr/>
        </p:nvSpPr>
        <p:spPr>
          <a:xfrm>
            <a:off x="914400" y="5154468"/>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Payment Friction:</a:t>
            </a:r>
            <a:r>
              <a:rPr sz="1125" b="0" i="0" u="none">
                <a:solidFill>
                  <a:srgbClr val="334155"/>
                </a:solidFill>
                <a:latin typeface="Plus Jakarta Sans"/>
              </a:rPr>
              <a:t> Cash-only entry and missing booking history slow down every visit.</a:t>
            </a:r>
            <a:endParaRPr sz="1125" b="0" i="0" u="none">
              <a:solidFill>
                <a:srgbClr val="334155"/>
              </a:solidFill>
              <a:latin typeface="Plus Jakarta Sans"/>
            </a:endParaRPr>
          </a:p>
        </p:txBody>
      </p:sp>
      <p:sp>
        <p:nvSpPr>
          <p:cNvPr id="17" name="TextBox 16"/>
          <p:cNvSpPr txBox="1"/>
          <p:nvPr/>
        </p:nvSpPr>
        <p:spPr>
          <a:xfrm>
            <a:off x="6515100" y="3626382"/>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Secure Accounts:</a:t>
            </a:r>
            <a:r>
              <a:rPr sz="1125" b="0" i="0" u="none">
                <a:solidFill>
                  <a:srgbClr val="334155"/>
                </a:solidFill>
                <a:latin typeface="Plus Jakarta Sans"/>
              </a:rPr>
              <a:t> Registration, login, and vehicle profiles for personalised parking.</a:t>
            </a:r>
            <a:endParaRPr sz="1125" b="0" i="0" u="none">
              <a:solidFill>
                <a:srgbClr val="334155"/>
              </a:solidFill>
              <a:latin typeface="Plus Jakarta Sans"/>
            </a:endParaRPr>
          </a:p>
        </p:txBody>
      </p:sp>
      <p:sp>
        <p:nvSpPr>
          <p:cNvPr id="18" name="TextBox 17"/>
          <p:cNvSpPr txBox="1"/>
          <p:nvPr/>
        </p:nvSpPr>
        <p:spPr>
          <a:xfrm>
            <a:off x="6515100" y="4135744"/>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Live Slot Search:</a:t>
            </a:r>
            <a:r>
              <a:rPr sz="1125" b="0" i="0" u="none">
                <a:solidFill>
                  <a:srgbClr val="334155"/>
                </a:solidFill>
                <a:latin typeface="Plus Jakarta Sans"/>
              </a:rPr>
              <a:t> Find nearby parking with real-time slot availability on the map.</a:t>
            </a:r>
            <a:endParaRPr sz="1125" b="0" i="0" u="none">
              <a:solidFill>
                <a:srgbClr val="334155"/>
              </a:solidFill>
              <a:latin typeface="Plus Jakarta Sans"/>
            </a:endParaRPr>
          </a:p>
        </p:txBody>
      </p:sp>
      <p:sp>
        <p:nvSpPr>
          <p:cNvPr id="19" name="TextBox 18"/>
          <p:cNvSpPr txBox="1"/>
          <p:nvPr/>
        </p:nvSpPr>
        <p:spPr>
          <a:xfrm>
            <a:off x="6515100" y="4645106"/>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Instant Booking &amp; Pay:</a:t>
            </a:r>
            <a:r>
              <a:rPr sz="1125" b="0" i="0" u="none">
                <a:solidFill>
                  <a:srgbClr val="334155"/>
                </a:solidFill>
                <a:latin typeface="Plus Jakarta Sans"/>
              </a:rPr>
              <a:t> Reserve a slot and pay online with immediate confirmation.</a:t>
            </a:r>
            <a:endParaRPr sz="1125" b="0" i="0" u="none">
              <a:solidFill>
                <a:srgbClr val="334155"/>
              </a:solidFill>
              <a:latin typeface="Plus Jakarta Sans"/>
            </a:endParaRPr>
          </a:p>
        </p:txBody>
      </p:sp>
      <p:sp>
        <p:nvSpPr>
          <p:cNvPr id="20" name="TextBox 19"/>
          <p:cNvSpPr txBox="1"/>
          <p:nvPr/>
        </p:nvSpPr>
        <p:spPr>
          <a:xfrm>
            <a:off x="6515100" y="5154468"/>
            <a:ext cx="4895850" cy="402127"/>
          </a:xfrm>
          <a:prstGeom prst="rect">
            <a:avLst/>
          </a:prstGeom>
          <a:noFill/>
        </p:spPr>
        <p:txBody>
          <a:bodyPr wrap="square" lIns="0" tIns="0" rIns="0" bIns="0" anchor="t">
            <a:spAutoFit/>
          </a:bodyPr>
          <a:lstStyle/>
          <a:p>
            <a:pPr algn="l">
              <a:lnSpc>
                <a:spcPts val="1685"/>
              </a:lnSpc>
            </a:pPr>
            <a:r>
              <a:rPr sz="1125" b="1" i="0" u="none">
                <a:solidFill>
                  <a:srgbClr val="334155"/>
                </a:solidFill>
                <a:latin typeface="Plus Jakarta Sans"/>
              </a:rPr>
              <a:t>Guided Navigation:</a:t>
            </a:r>
            <a:r>
              <a:rPr sz="1125" b="0" i="0" u="none">
                <a:solidFill>
                  <a:srgbClr val="334155"/>
                </a:solidFill>
                <a:latin typeface="Plus Jakarta Sans"/>
              </a:rPr>
              <a:t> Turn-by-turn route guidance, with admin control of lot and slot status.</a:t>
            </a:r>
            <a:endParaRPr sz="1125" b="0" i="0" u="none">
              <a:solidFill>
                <a:srgbClr val="334155"/>
              </a:solidFill>
              <a:latin typeface="Plus Jakarta Sans"/>
            </a:endParaRPr>
          </a:p>
        </p:txBody>
      </p:sp>
      <p:pic>
        <p:nvPicPr>
          <p:cNvPr id="21"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4981575"/>
            <a:ext cx="10972800" cy="419100"/>
          </a:xfrm>
          <a:prstGeom prst="roundRect">
            <a:avLst>
              <a:gd name="adj" fmla="val 1818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438400"/>
            <a:ext cx="10972800" cy="24098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09600" y="2438400"/>
          <a:ext cx="10963274" cy="2409825"/>
        </p:xfrm>
        <a:graphic>
          <a:graphicData uri="http://schemas.openxmlformats.org/drawingml/2006/table">
            <a:tbl>
              <a:tblPr/>
              <a:tblGrid>
                <a:gridCol w="566737"/>
                <a:gridCol w="2095500"/>
                <a:gridCol w="1428750"/>
                <a:gridCol w="2574280"/>
                <a:gridCol w="2774007"/>
                <a:gridCol w="1524000"/>
              </a:tblGrid>
              <a:tr h="481965">
                <a:tc>
                  <a:txBody>
                    <a:bodyPr/>
                    <a:lstStyle/>
                    <a:p>
                      <a:pPr algn="l"/>
                      <a:r>
                        <a:rPr sz="975" b="1" i="0" u="none">
                          <a:solidFill>
                            <a:srgbClr val="FFFFFF"/>
                          </a:solidFill>
                          <a:latin typeface="Plus Jakarta Sans"/>
                        </a:rPr>
                        <a:t>S.No</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c>
                  <a:txBody>
                    <a:bodyPr/>
                    <a:lstStyle/>
                    <a:p>
                      <a:pPr algn="l"/>
                      <a:r>
                        <a:rPr sz="975" b="1" i="0" u="none">
                          <a:solidFill>
                            <a:srgbClr val="FFFFFF"/>
                          </a:solidFill>
                          <a:latin typeface="Plus Jakarta Sans"/>
                        </a:rPr>
                        <a:t>System / Paper</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c>
                  <a:txBody>
                    <a:bodyPr/>
                    <a:lstStyle/>
                    <a:p>
                      <a:pPr algn="l"/>
                      <a:r>
                        <a:rPr sz="975" b="1" i="0" u="none">
                          <a:solidFill>
                            <a:srgbClr val="FFFFFF"/>
                          </a:solidFill>
                          <a:latin typeface="Plus Jakarta Sans"/>
                        </a:rPr>
                        <a:t>Provider</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c>
                  <a:txBody>
                    <a:bodyPr/>
                    <a:lstStyle/>
                    <a:p>
                      <a:pPr algn="l"/>
                      <a:r>
                        <a:rPr sz="975" b="1" i="0" u="none">
                          <a:solidFill>
                            <a:srgbClr val="FFFFFF"/>
                          </a:solidFill>
                          <a:latin typeface="Plus Jakarta Sans"/>
                        </a:rPr>
                        <a:t>Key Advantages</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c>
                  <a:txBody>
                    <a:bodyPr/>
                    <a:lstStyle/>
                    <a:p>
                      <a:pPr algn="l"/>
                      <a:r>
                        <a:rPr sz="975" b="1" i="0" u="none">
                          <a:solidFill>
                            <a:srgbClr val="FFFFFF"/>
                          </a:solidFill>
                          <a:latin typeface="Plus Jakarta Sans"/>
                        </a:rPr>
                        <a:t>Limitations Identified</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c>
                  <a:txBody>
                    <a:bodyPr/>
                    <a:lstStyle/>
                    <a:p>
                      <a:pPr algn="l"/>
                      <a:r>
                        <a:rPr sz="975" b="1" i="0" u="none">
                          <a:solidFill>
                            <a:srgbClr val="FFFFFF"/>
                          </a:solidFill>
                          <a:latin typeface="Plus Jakarta Sans"/>
                        </a:rPr>
                        <a:t>Technology</a:t>
                      </a:r>
                      <a:endParaRPr sz="975" b="1" i="0" u="none">
                        <a:solidFill>
                          <a:srgbClr val="FFFFFF"/>
                        </a:solidFill>
                        <a:latin typeface="Plus Jakarta Sans"/>
                      </a:endParaRPr>
                    </a:p>
                  </a:txBody>
                  <a:tcPr marL="63500" marR="63500" marT="25400" marB="25400" anchor="ctr">
                    <a:lnL>
                      <a:noFill/>
                    </a:lnL>
                    <a:lnR>
                      <a:noFill/>
                    </a:lnR>
                    <a:lnT>
                      <a:noFill/>
                    </a:lnT>
                    <a:lnB>
                      <a:noFill/>
                    </a:lnB>
                    <a:solidFill>
                      <a:srgbClr val="0B132B"/>
                    </a:solidFill>
                  </a:tcPr>
                </a:tc>
              </a:tr>
              <a:tr h="481965">
                <a:tc>
                  <a:txBody>
                    <a:bodyPr/>
                    <a:lstStyle/>
                    <a:p>
                      <a:pPr algn="l"/>
                      <a:r>
                        <a:rPr sz="975" b="1" i="0" u="none">
                          <a:solidFill>
                            <a:srgbClr val="EF4444"/>
                          </a:solidFill>
                          <a:latin typeface="Plus Jakarta Sans"/>
                        </a:rPr>
                        <a:t>01</a:t>
                      </a:r>
                      <a:endParaRPr sz="975" b="1" i="0" u="none">
                        <a:solidFill>
                          <a:srgbClr val="EF4444"/>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0F172A"/>
                          </a:solidFill>
                          <a:latin typeface="Plus Jakarta Sans"/>
                        </a:rPr>
                        <a:t>Google Maps</a:t>
                      </a:r>
                      <a:endParaRPr sz="975" b="1" i="0" u="none">
                        <a:solidFill>
                          <a:srgbClr val="0F172A"/>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475569"/>
                          </a:solidFill>
                          <a:latin typeface="Plus Jakarta Sans"/>
                        </a:rPr>
                        <a:t>Google LLC</a:t>
                      </a:r>
                      <a:endParaRPr sz="975" b="0" i="0" u="none">
                        <a:solidFill>
                          <a:srgbClr val="475569"/>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Plus Jakarta Sans"/>
                        </a:rPr>
                        <a:t>Familiar maps and route guidance</a:t>
                      </a:r>
                      <a:endParaRPr sz="975" b="0" i="0" u="none">
                        <a:solidFill>
                          <a:srgbClr val="334155"/>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EF4444"/>
                          </a:solidFill>
                          <a:latin typeface="Plus Jakarta Sans"/>
                        </a:rPr>
                        <a:t>No in-app slot booking or lot-level payment</a:t>
                      </a:r>
                      <a:endParaRPr sz="975" b="0" i="0" u="none">
                        <a:solidFill>
                          <a:srgbClr val="EF4444"/>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Maps SDK, GPS</a:t>
                      </a:r>
                      <a:endParaRPr sz="975" b="0" i="0" u="none">
                        <a:solidFill>
                          <a:srgbClr val="0F172A"/>
                        </a:solidFill>
                        <a:latin typeface="Plus Jakarta Sans"/>
                      </a:endParaRPr>
                    </a:p>
                  </a:txBody>
                  <a:tcPr marL="63500" marR="63500" marT="25400" marB="25400" anchor="ctr">
                    <a:lnL>
                      <a:noFill/>
                    </a:lnL>
                    <a:lnR>
                      <a:noFill/>
                    </a:lnR>
                    <a:lnT>
                      <a:noFill/>
                    </a:lnT>
                    <a:lnB>
                      <a:noFill/>
                    </a:lnB>
                    <a:solidFill>
                      <a:srgbClr val="F8FAFC"/>
                    </a:solidFill>
                  </a:tcPr>
                </a:tc>
              </a:tr>
              <a:tr h="481965">
                <a:tc>
                  <a:txBody>
                    <a:bodyPr/>
                    <a:lstStyle/>
                    <a:p>
                      <a:pPr algn="l"/>
                      <a:r>
                        <a:rPr sz="975" b="1" i="0" u="none">
                          <a:solidFill>
                            <a:srgbClr val="EF4444"/>
                          </a:solidFill>
                          <a:latin typeface="Plus Jakarta Sans"/>
                        </a:rPr>
                        <a:t>02</a:t>
                      </a:r>
                      <a:endParaRPr sz="975" b="1" i="0" u="none">
                        <a:solidFill>
                          <a:srgbClr val="EF4444"/>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1" i="0" u="none">
                          <a:solidFill>
                            <a:srgbClr val="0F172A"/>
                          </a:solidFill>
                          <a:latin typeface="Plus Jakarta Sans"/>
                        </a:rPr>
                        <a:t>ParkWhiz</a:t>
                      </a:r>
                      <a:endParaRPr sz="975" b="1" i="0" u="none">
                        <a:solidFill>
                          <a:srgbClr val="0F172A"/>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475569"/>
                          </a:solidFill>
                          <a:latin typeface="Plus Jakarta Sans"/>
                        </a:rPr>
                        <a:t>ParkWhiz Inc.</a:t>
                      </a:r>
                      <a:endParaRPr sz="975" b="0" i="0" u="none">
                        <a:solidFill>
                          <a:srgbClr val="475569"/>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Plus Jakarta Sans"/>
                        </a:rPr>
                        <a:t>Advance parking reservation</a:t>
                      </a:r>
                      <a:endParaRPr sz="975" b="0" i="0" u="none">
                        <a:solidFill>
                          <a:srgbClr val="334155"/>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EF4444"/>
                          </a:solidFill>
                          <a:latin typeface="Plus Jakarta Sans"/>
                        </a:rPr>
                        <a:t>Coverage limited to selected regions</a:t>
                      </a:r>
                      <a:endParaRPr sz="975" b="0" i="0" u="none">
                        <a:solidFill>
                          <a:srgbClr val="EF4444"/>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0F172A"/>
                          </a:solidFill>
                          <a:latin typeface="Plus Jakarta Sans"/>
                        </a:rPr>
                        <a:t>Mobile App, Payments API</a:t>
                      </a:r>
                      <a:endParaRPr sz="975" b="0" i="0" u="none">
                        <a:solidFill>
                          <a:srgbClr val="0F172A"/>
                        </a:solidFill>
                        <a:latin typeface="Plus Jakarta Sans"/>
                      </a:endParaRPr>
                    </a:p>
                  </a:txBody>
                  <a:tcPr marL="63500" marR="63500" marT="25400" marB="25400" anchor="ctr">
                    <a:lnL>
                      <a:noFill/>
                    </a:lnL>
                    <a:lnR>
                      <a:noFill/>
                    </a:lnR>
                    <a:lnT>
                      <a:noFill/>
                    </a:lnT>
                    <a:lnB>
                      <a:noFill/>
                    </a:lnB>
                    <a:solidFill>
                      <a:srgbClr val="FFFFFF"/>
                    </a:solidFill>
                  </a:tcPr>
                </a:tc>
              </a:tr>
              <a:tr h="481965">
                <a:tc>
                  <a:txBody>
                    <a:bodyPr/>
                    <a:lstStyle/>
                    <a:p>
                      <a:pPr algn="l"/>
                      <a:r>
                        <a:rPr sz="975" b="1" i="0" u="none">
                          <a:solidFill>
                            <a:srgbClr val="EF4444"/>
                          </a:solidFill>
                          <a:latin typeface="Plus Jakarta Sans"/>
                        </a:rPr>
                        <a:t>03</a:t>
                      </a:r>
                      <a:endParaRPr sz="975" b="1" i="0" u="none">
                        <a:solidFill>
                          <a:srgbClr val="EF4444"/>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0F172A"/>
                          </a:solidFill>
                          <a:latin typeface="Plus Jakarta Sans"/>
                        </a:rPr>
                        <a:t>SpotHero</a:t>
                      </a:r>
                      <a:endParaRPr sz="975" b="1" i="0" u="none">
                        <a:solidFill>
                          <a:srgbClr val="0F172A"/>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475569"/>
                          </a:solidFill>
                          <a:latin typeface="Plus Jakarta Sans"/>
                        </a:rPr>
                        <a:t>SpotHero Inc.</a:t>
                      </a:r>
                      <a:endParaRPr sz="975" b="0" i="0" u="none">
                        <a:solidFill>
                          <a:srgbClr val="475569"/>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Plus Jakarta Sans"/>
                        </a:rPr>
                        <a:t>Pre-paid garage reservations</a:t>
                      </a:r>
                      <a:endParaRPr sz="975" b="0" i="0" u="none">
                        <a:solidFill>
                          <a:srgbClr val="334155"/>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EF4444"/>
                          </a:solidFill>
                          <a:latin typeface="Plus Jakarta Sans"/>
                        </a:rPr>
                        <a:t>Navigation handed off to external map apps</a:t>
                      </a:r>
                      <a:endParaRPr sz="975" b="0" i="0" u="none">
                        <a:solidFill>
                          <a:srgbClr val="EF4444"/>
                        </a:solidFill>
                        <a:latin typeface="Plus Jakarta Sans"/>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Mobile App, Payments API</a:t>
                      </a:r>
                      <a:endParaRPr sz="975" b="0" i="0" u="none">
                        <a:solidFill>
                          <a:srgbClr val="0F172A"/>
                        </a:solidFill>
                        <a:latin typeface="Plus Jakarta Sans"/>
                      </a:endParaRPr>
                    </a:p>
                  </a:txBody>
                  <a:tcPr marL="63500" marR="63500" marT="25400" marB="25400" anchor="ctr">
                    <a:lnL>
                      <a:noFill/>
                    </a:lnL>
                    <a:lnR>
                      <a:noFill/>
                    </a:lnR>
                    <a:lnT>
                      <a:noFill/>
                    </a:lnT>
                    <a:lnB>
                      <a:noFill/>
                    </a:lnB>
                    <a:solidFill>
                      <a:srgbClr val="F8FAFC"/>
                    </a:solidFill>
                  </a:tcPr>
                </a:tc>
              </a:tr>
              <a:tr h="481965">
                <a:tc>
                  <a:txBody>
                    <a:bodyPr/>
                    <a:lstStyle/>
                    <a:p>
                      <a:pPr algn="l"/>
                      <a:r>
                        <a:rPr sz="975" b="1" i="0" u="none">
                          <a:solidFill>
                            <a:srgbClr val="EF4444"/>
                          </a:solidFill>
                          <a:latin typeface="Plus Jakarta Sans"/>
                        </a:rPr>
                        <a:t>04</a:t>
                      </a:r>
                      <a:endParaRPr sz="975" b="1" i="0" u="none">
                        <a:solidFill>
                          <a:srgbClr val="EF4444"/>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1" i="0" u="none">
                          <a:solidFill>
                            <a:srgbClr val="0F172A"/>
                          </a:solidFill>
                          <a:latin typeface="Plus Jakarta Sans"/>
                        </a:rPr>
                        <a:t>Parkopedia</a:t>
                      </a:r>
                      <a:endParaRPr sz="975" b="1" i="0" u="none">
                        <a:solidFill>
                          <a:srgbClr val="0F172A"/>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475569"/>
                          </a:solidFill>
                          <a:latin typeface="Plus Jakarta Sans"/>
                        </a:rPr>
                        <a:t>Parkopedia Ltd</a:t>
                      </a:r>
                      <a:endParaRPr sz="975" b="0" i="0" u="none">
                        <a:solidFill>
                          <a:srgbClr val="475569"/>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Plus Jakarta Sans"/>
                        </a:rPr>
                        <a:t>Large parking directory &amp; pricing data</a:t>
                      </a:r>
                      <a:endParaRPr sz="975" b="0" i="0" u="none">
                        <a:solidFill>
                          <a:srgbClr val="334155"/>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EF4444"/>
                          </a:solidFill>
                          <a:latin typeface="Plus Jakarta Sans"/>
                        </a:rPr>
                        <a:t>Directory focus; limited live slot status</a:t>
                      </a:r>
                      <a:endParaRPr sz="975" b="0" i="0" u="none">
                        <a:solidFill>
                          <a:srgbClr val="EF4444"/>
                        </a:solidFill>
                        <a:latin typeface="Plus Jakarta Sans"/>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0F172A"/>
                          </a:solidFill>
                          <a:latin typeface="Plus Jakarta Sans"/>
                        </a:rPr>
                        <a:t>Parking Data API, Maps</a:t>
                      </a:r>
                      <a:endParaRPr sz="975" b="0" i="0" u="none">
                        <a:solidFill>
                          <a:srgbClr val="0F172A"/>
                        </a:solidFill>
                        <a:latin typeface="Plus Jakarta Sans"/>
                      </a:endParaRPr>
                    </a:p>
                  </a:txBody>
                  <a:tcPr marL="63500" marR="63500" marT="25400" marB="25400" anchor="ctr">
                    <a:lnL>
                      <a:noFill/>
                    </a:lnL>
                    <a:lnR>
                      <a:noFill/>
                    </a:lnR>
                    <a:lnT>
                      <a:noFill/>
                    </a:lnT>
                    <a:lnB>
                      <a:noFill/>
                    </a:lnB>
                    <a:solidFill>
                      <a:srgbClr val="FFFFFF"/>
                    </a:solidFill>
                  </a:tcPr>
                </a:tc>
              </a:tr>
            </a:tbl>
          </a:graphicData>
        </a:graphic>
      </p:graphicFrame>
      <p:sp>
        <p:nvSpPr>
          <p:cNvPr id="5" name="TextBox 4"/>
          <p:cNvSpPr txBox="1"/>
          <p:nvPr/>
        </p:nvSpPr>
        <p:spPr>
          <a:xfrm>
            <a:off x="609600" y="1307200"/>
            <a:ext cx="2543175" cy="600075"/>
          </a:xfrm>
          <a:prstGeom prst="rect">
            <a:avLst/>
          </a:prstGeom>
          <a:noFill/>
        </p:spPr>
        <p:txBody>
          <a:bodyPr wrap="square" lIns="0" tIns="0" rIns="0" bIns="0" anchor="t">
            <a:spAutoFit/>
          </a:bodyPr>
          <a:lstStyle/>
          <a:p>
            <a:pPr algn="l"/>
            <a:r>
              <a:rPr sz="975" b="1" i="0" u="none">
                <a:solidFill>
                  <a:srgbClr val="EF4444"/>
                </a:solidFill>
                <a:latin typeface="Plus Jakarta Sans"/>
              </a:rPr>
              <a:t>Market Context</a:t>
            </a:r>
            <a:endParaRPr sz="975" b="1" i="0" u="none">
              <a:solidFill>
                <a:srgbClr val="EF4444"/>
              </a:solidFill>
              <a:latin typeface="Plus Jakarta Sans"/>
            </a:endParaRPr>
          </a:p>
        </p:txBody>
      </p:sp>
      <p:sp>
        <p:nvSpPr>
          <p:cNvPr id="6" name="TextBox 5"/>
          <p:cNvSpPr txBox="1"/>
          <p:nvPr/>
        </p:nvSpPr>
        <p:spPr>
          <a:xfrm>
            <a:off x="10334625" y="1735825"/>
            <a:ext cx="1559718" cy="171450"/>
          </a:xfrm>
          <a:prstGeom prst="rect">
            <a:avLst/>
          </a:prstGeom>
          <a:noFill/>
        </p:spPr>
        <p:txBody>
          <a:bodyPr wrap="none" lIns="0" tIns="0" rIns="0" bIns="0" anchor="t">
            <a:spAutoFit/>
          </a:bodyPr>
          <a:lstStyle/>
          <a:p>
            <a:pPr algn="l"/>
            <a:r>
              <a:rPr sz="1050" b="1" i="0" u="none">
                <a:solidFill>
                  <a:srgbClr val="64748B"/>
                </a:solidFill>
                <a:latin typeface="Plus Jakarta Sans"/>
              </a:rPr>
              <a:t>Comparative Study</a:t>
            </a:r>
            <a:endParaRPr sz="1050" b="1" i="0" u="none">
              <a:solidFill>
                <a:srgbClr val="64748B"/>
              </a:solidFill>
              <a:latin typeface="Plus Jakarta Sans"/>
            </a:endParaRPr>
          </a:p>
        </p:txBody>
      </p:sp>
      <p:sp>
        <p:nvSpPr>
          <p:cNvPr id="7" name="TextBox 6"/>
          <p:cNvSpPr txBox="1"/>
          <p:nvPr/>
        </p:nvSpPr>
        <p:spPr>
          <a:xfrm>
            <a:off x="609600" y="1545325"/>
            <a:ext cx="3212901" cy="361950"/>
          </a:xfrm>
          <a:prstGeom prst="rect">
            <a:avLst/>
          </a:prstGeom>
          <a:noFill/>
        </p:spPr>
        <p:txBody>
          <a:bodyPr wrap="none" lIns="0" tIns="0" rIns="0" bIns="0" anchor="t">
            <a:spAutoFit/>
          </a:bodyPr>
          <a:lstStyle/>
          <a:p>
            <a:pPr algn="l"/>
            <a:r>
              <a:rPr sz="2250" b="1" i="0" u="none">
                <a:solidFill>
                  <a:srgbClr val="0F172A"/>
                </a:solidFill>
                <a:latin typeface="Plus Jakarta Sans"/>
              </a:rPr>
              <a:t>Literature Review</a:t>
            </a:r>
            <a:endParaRPr sz="2250" b="1" i="0" u="none">
              <a:solidFill>
                <a:srgbClr val="0F172A"/>
              </a:solidFill>
              <a:latin typeface="Plus Jakarta Sans"/>
            </a:endParaRPr>
          </a:p>
        </p:txBody>
      </p:sp>
      <p:sp>
        <p:nvSpPr>
          <p:cNvPr id="8" name="TextBox 7"/>
          <p:cNvSpPr txBox="1"/>
          <p:nvPr/>
        </p:nvSpPr>
        <p:spPr>
          <a:xfrm>
            <a:off x="790575" y="5105400"/>
            <a:ext cx="11401425" cy="171450"/>
          </a:xfrm>
          <a:prstGeom prst="rect">
            <a:avLst/>
          </a:prstGeom>
          <a:noFill/>
        </p:spPr>
        <p:txBody>
          <a:bodyPr wrap="none" lIns="0" tIns="0" rIns="0" bIns="0" anchor="t">
            <a:spAutoFit/>
          </a:bodyPr>
          <a:lstStyle/>
          <a:p>
            <a:pPr algn="l"/>
            <a:r>
              <a:rPr sz="1050" b="1" i="0" u="none">
                <a:solidFill>
                  <a:srgbClr val="1E40AF"/>
                </a:solidFill>
                <a:latin typeface="Plus Jakarta Sans"/>
              </a:rPr>
              <a:t>ParkEasy Synthesis:</a:t>
            </a:r>
            <a:r>
              <a:rPr sz="1050" b="0" i="0" u="none">
                <a:solidFill>
                  <a:srgbClr val="1E40AF"/>
                </a:solidFill>
                <a:latin typeface="Plus Jakarta Sans"/>
              </a:rPr>
              <a:t> Unifies registration, slot search, booking with payment, and live navigation into a single closed-loop parking platform.</a:t>
            </a:r>
            <a:endParaRPr sz="1050" b="0" i="0" u="none">
              <a:solidFill>
                <a:srgbClr val="1E40AF"/>
              </a:solidFill>
              <a:latin typeface="Plus Jakarta Sans"/>
            </a:endParaRPr>
          </a:p>
        </p:txBody>
      </p:sp>
      <p:pic>
        <p:nvPicPr>
          <p:cNvPr id="9"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4481512"/>
            <a:ext cx="10972800" cy="733425"/>
          </a:xfrm>
          <a:prstGeom prst="roundRect">
            <a:avLst>
              <a:gd name="adj" fmla="val 15584"/>
            </a:avLst>
          </a:prstGeom>
          <a:solidFill>
            <a:srgbClr val="0B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662237"/>
            <a:ext cx="2628900" cy="1628775"/>
          </a:xfrm>
          <a:prstGeom prst="roundRect">
            <a:avLst>
              <a:gd name="adj" fmla="val 7017"/>
            </a:avLst>
          </a:prstGeom>
          <a:solidFill>
            <a:srgbClr val="F8FAFC"/>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281487"/>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2662237"/>
            <a:ext cx="26289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28975"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90900" y="2662237"/>
            <a:ext cx="2628900" cy="1628775"/>
          </a:xfrm>
          <a:prstGeom prst="roundRect">
            <a:avLst>
              <a:gd name="adj" fmla="val 7017"/>
            </a:avLst>
          </a:prstGeom>
          <a:solidFill>
            <a:srgbClr val="F8FAFC"/>
          </a:solidFill>
          <a:ln w="381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90900" y="4281487"/>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90900" y="2662237"/>
            <a:ext cx="26289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90900"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10275"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2662237"/>
            <a:ext cx="2628900" cy="1628775"/>
          </a:xfrm>
          <a:prstGeom prst="roundRect">
            <a:avLst>
              <a:gd name="adj" fmla="val 7017"/>
            </a:avLst>
          </a:prstGeom>
          <a:solidFill>
            <a:srgbClr val="F8FAFC"/>
          </a:solidFill>
          <a:ln w="381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4281487"/>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662237"/>
            <a:ext cx="2628900" cy="381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91575"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53500" y="2662237"/>
            <a:ext cx="2628900" cy="1628775"/>
          </a:xfrm>
          <a:prstGeom prst="roundRect">
            <a:avLst>
              <a:gd name="adj" fmla="val 7017"/>
            </a:avLst>
          </a:prstGeom>
          <a:solidFill>
            <a:srgbClr val="F8FAFC"/>
          </a:solidFill>
          <a:ln w="381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53500" y="4281487"/>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3500" y="2662237"/>
            <a:ext cx="2628900" cy="38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3500"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572875" y="2662237"/>
            <a:ext cx="9525" cy="1628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734425" y="4710112"/>
            <a:ext cx="1276350" cy="276225"/>
          </a:xfrm>
          <a:prstGeom prst="roundRect">
            <a:avLst>
              <a:gd name="adj" fmla="val 20689"/>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25075" y="4710112"/>
            <a:ext cx="1228725" cy="276225"/>
          </a:xfrm>
          <a:prstGeom prst="roundRect">
            <a:avLst>
              <a:gd name="adj" fmla="val 20689"/>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1"/>
          <a:stretch>
            <a:fillRect/>
          </a:stretch>
        </p:blipFill>
        <p:spPr>
          <a:xfrm>
            <a:off x="838200" y="4733925"/>
            <a:ext cx="228600" cy="228600"/>
          </a:xfrm>
          <a:prstGeom prst="rect">
            <a:avLst/>
          </a:prstGeom>
        </p:spPr>
      </p:pic>
      <p:sp>
        <p:nvSpPr>
          <p:cNvPr id="26" name="TextBox 25"/>
          <p:cNvSpPr txBox="1"/>
          <p:nvPr/>
        </p:nvSpPr>
        <p:spPr>
          <a:xfrm>
            <a:off x="609600" y="1307200"/>
            <a:ext cx="4124325" cy="600075"/>
          </a:xfrm>
          <a:prstGeom prst="rect">
            <a:avLst/>
          </a:prstGeom>
          <a:noFill/>
        </p:spPr>
        <p:txBody>
          <a:bodyPr wrap="square" lIns="0" tIns="0" rIns="0" bIns="0" anchor="t">
            <a:spAutoFit/>
          </a:bodyPr>
          <a:lstStyle/>
          <a:p>
            <a:pPr algn="l"/>
            <a:r>
              <a:rPr sz="975" b="1" i="0" u="none">
                <a:solidFill>
                  <a:srgbClr val="EF4444"/>
                </a:solidFill>
                <a:latin typeface="Plus Jakarta Sans"/>
              </a:rPr>
              <a:t>System Design</a:t>
            </a:r>
            <a:endParaRPr sz="975" b="1" i="0" u="none">
              <a:solidFill>
                <a:srgbClr val="EF4444"/>
              </a:solidFill>
              <a:latin typeface="Plus Jakarta Sans"/>
            </a:endParaRPr>
          </a:p>
        </p:txBody>
      </p:sp>
      <p:sp>
        <p:nvSpPr>
          <p:cNvPr id="27" name="TextBox 26"/>
          <p:cNvSpPr txBox="1"/>
          <p:nvPr/>
        </p:nvSpPr>
        <p:spPr>
          <a:xfrm>
            <a:off x="10429875" y="1735825"/>
            <a:ext cx="1440656" cy="171450"/>
          </a:xfrm>
          <a:prstGeom prst="rect">
            <a:avLst/>
          </a:prstGeom>
          <a:noFill/>
        </p:spPr>
        <p:txBody>
          <a:bodyPr wrap="none" lIns="0" tIns="0" rIns="0" bIns="0" anchor="t">
            <a:spAutoFit/>
          </a:bodyPr>
          <a:lstStyle/>
          <a:p>
            <a:pPr algn="l"/>
            <a:r>
              <a:rPr sz="1050" b="1" i="0" u="none">
                <a:solidFill>
                  <a:srgbClr val="64748B"/>
                </a:solidFill>
                <a:latin typeface="Plus Jakarta Sans"/>
              </a:rPr>
              <a:t>4-Module Framework</a:t>
            </a:r>
            <a:endParaRPr sz="1050" b="1" i="0" u="none">
              <a:solidFill>
                <a:srgbClr val="64748B"/>
              </a:solidFill>
              <a:latin typeface="Plus Jakarta Sans"/>
            </a:endParaRPr>
          </a:p>
        </p:txBody>
      </p:sp>
      <p:sp>
        <p:nvSpPr>
          <p:cNvPr id="28" name="TextBox 27"/>
          <p:cNvSpPr txBox="1"/>
          <p:nvPr/>
        </p:nvSpPr>
        <p:spPr>
          <a:xfrm>
            <a:off x="609600" y="1545325"/>
            <a:ext cx="5288160" cy="361950"/>
          </a:xfrm>
          <a:prstGeom prst="rect">
            <a:avLst/>
          </a:prstGeom>
          <a:noFill/>
        </p:spPr>
        <p:txBody>
          <a:bodyPr wrap="none" lIns="0" tIns="0" rIns="0" bIns="0" anchor="t">
            <a:spAutoFit/>
          </a:bodyPr>
          <a:lstStyle/>
          <a:p>
            <a:pPr algn="l"/>
            <a:r>
              <a:rPr sz="2250" b="1" i="0" u="none">
                <a:solidFill>
                  <a:srgbClr val="0F172A"/>
                </a:solidFill>
                <a:latin typeface="Plus Jakarta Sans"/>
              </a:rPr>
              <a:t>Methodology &amp; Architecture</a:t>
            </a:r>
            <a:endParaRPr sz="2250" b="1" i="0" u="none">
              <a:solidFill>
                <a:srgbClr val="0F172A"/>
              </a:solidFill>
              <a:latin typeface="Plus Jakarta Sans"/>
            </a:endParaRPr>
          </a:p>
        </p:txBody>
      </p:sp>
      <p:sp>
        <p:nvSpPr>
          <p:cNvPr id="29" name="TextBox 28"/>
          <p:cNvSpPr txBox="1"/>
          <p:nvPr/>
        </p:nvSpPr>
        <p:spPr>
          <a:xfrm>
            <a:off x="819150" y="2871787"/>
            <a:ext cx="2305050" cy="1209675"/>
          </a:xfrm>
          <a:prstGeom prst="rect">
            <a:avLst/>
          </a:prstGeom>
          <a:noFill/>
        </p:spPr>
        <p:txBody>
          <a:bodyPr wrap="square" lIns="0" tIns="0" rIns="0" bIns="0" anchor="t">
            <a:spAutoFit/>
          </a:bodyPr>
          <a:lstStyle/>
          <a:p>
            <a:pPr algn="l"/>
            <a:r>
              <a:rPr sz="900" b="1" i="0" u="none">
                <a:solidFill>
                  <a:srgbClr val="EF4444"/>
                </a:solidFill>
                <a:latin typeface="Plus Jakarta Sans"/>
              </a:rPr>
              <a:t>Module 01</a:t>
            </a:r>
            <a:endParaRPr sz="900" b="1" i="0" u="none">
              <a:solidFill>
                <a:srgbClr val="EF4444"/>
              </a:solidFill>
              <a:latin typeface="Plus Jakarta Sans"/>
            </a:endParaRPr>
          </a:p>
        </p:txBody>
      </p:sp>
      <p:sp>
        <p:nvSpPr>
          <p:cNvPr id="30" name="TextBox 29"/>
          <p:cNvSpPr txBox="1"/>
          <p:nvPr/>
        </p:nvSpPr>
        <p:spPr>
          <a:xfrm>
            <a:off x="3600450" y="2871787"/>
            <a:ext cx="2305050" cy="1209675"/>
          </a:xfrm>
          <a:prstGeom prst="rect">
            <a:avLst/>
          </a:prstGeom>
          <a:noFill/>
        </p:spPr>
        <p:txBody>
          <a:bodyPr wrap="square" lIns="0" tIns="0" rIns="0" bIns="0" anchor="t">
            <a:spAutoFit/>
          </a:bodyPr>
          <a:lstStyle/>
          <a:p>
            <a:pPr algn="l"/>
            <a:r>
              <a:rPr sz="900" b="1" i="0" u="none">
                <a:solidFill>
                  <a:srgbClr val="2563EB"/>
                </a:solidFill>
                <a:latin typeface="Plus Jakarta Sans"/>
              </a:rPr>
              <a:t>Module 02</a:t>
            </a:r>
            <a:endParaRPr sz="900" b="1" i="0" u="none">
              <a:solidFill>
                <a:srgbClr val="2563EB"/>
              </a:solidFill>
              <a:latin typeface="Plus Jakarta Sans"/>
            </a:endParaRPr>
          </a:p>
        </p:txBody>
      </p:sp>
      <p:sp>
        <p:nvSpPr>
          <p:cNvPr id="31" name="TextBox 30"/>
          <p:cNvSpPr txBox="1"/>
          <p:nvPr/>
        </p:nvSpPr>
        <p:spPr>
          <a:xfrm>
            <a:off x="6381750" y="2871787"/>
            <a:ext cx="2305050" cy="1209675"/>
          </a:xfrm>
          <a:prstGeom prst="rect">
            <a:avLst/>
          </a:prstGeom>
          <a:noFill/>
        </p:spPr>
        <p:txBody>
          <a:bodyPr wrap="square" lIns="0" tIns="0" rIns="0" bIns="0" anchor="t">
            <a:spAutoFit/>
          </a:bodyPr>
          <a:lstStyle/>
          <a:p>
            <a:pPr algn="l"/>
            <a:r>
              <a:rPr sz="900" b="1" i="0" u="none">
                <a:solidFill>
                  <a:srgbClr val="059669"/>
                </a:solidFill>
                <a:latin typeface="Plus Jakarta Sans"/>
              </a:rPr>
              <a:t>Module 03</a:t>
            </a:r>
            <a:endParaRPr sz="900" b="1" i="0" u="none">
              <a:solidFill>
                <a:srgbClr val="059669"/>
              </a:solidFill>
              <a:latin typeface="Plus Jakarta Sans"/>
            </a:endParaRPr>
          </a:p>
        </p:txBody>
      </p:sp>
      <p:sp>
        <p:nvSpPr>
          <p:cNvPr id="32" name="TextBox 31"/>
          <p:cNvSpPr txBox="1"/>
          <p:nvPr/>
        </p:nvSpPr>
        <p:spPr>
          <a:xfrm>
            <a:off x="9163050" y="2871787"/>
            <a:ext cx="2305050" cy="1209675"/>
          </a:xfrm>
          <a:prstGeom prst="rect">
            <a:avLst/>
          </a:prstGeom>
          <a:noFill/>
        </p:spPr>
        <p:txBody>
          <a:bodyPr wrap="square" lIns="0" tIns="0" rIns="0" bIns="0" anchor="t">
            <a:spAutoFit/>
          </a:bodyPr>
          <a:lstStyle/>
          <a:p>
            <a:pPr algn="l"/>
            <a:r>
              <a:rPr sz="900" b="1" i="0" u="none">
                <a:solidFill>
                  <a:srgbClr val="7C3AED"/>
                </a:solidFill>
                <a:latin typeface="Plus Jakarta Sans"/>
              </a:rPr>
              <a:t>Module 04</a:t>
            </a:r>
            <a:endParaRPr sz="900" b="1" i="0" u="none">
              <a:solidFill>
                <a:srgbClr val="7C3AED"/>
              </a:solidFill>
              <a:latin typeface="Plus Jakarta Sans"/>
            </a:endParaRPr>
          </a:p>
        </p:txBody>
      </p:sp>
      <p:sp>
        <p:nvSpPr>
          <p:cNvPr id="33" name="TextBox 32"/>
          <p:cNvSpPr txBox="1"/>
          <p:nvPr/>
        </p:nvSpPr>
        <p:spPr>
          <a:xfrm>
            <a:off x="828675" y="3167062"/>
            <a:ext cx="2875359" cy="209550"/>
          </a:xfrm>
          <a:prstGeom prst="rect">
            <a:avLst/>
          </a:prstGeom>
          <a:noFill/>
        </p:spPr>
        <p:txBody>
          <a:bodyPr wrap="none" lIns="0" tIns="0" rIns="0" bIns="0" anchor="t">
            <a:spAutoFit/>
          </a:bodyPr>
          <a:lstStyle/>
          <a:p>
            <a:pPr algn="l"/>
            <a:r>
              <a:rPr sz="1275" b="1" i="0" u="none">
                <a:solidFill>
                  <a:srgbClr val="0F172A"/>
                </a:solidFill>
                <a:latin typeface="Plus Jakarta Sans"/>
              </a:rPr>
              <a:t>Registration &amp; Profile</a:t>
            </a:r>
            <a:endParaRPr sz="1275" b="1" i="0" u="none">
              <a:solidFill>
                <a:srgbClr val="0F172A"/>
              </a:solidFill>
              <a:latin typeface="Plus Jakarta Sans"/>
            </a:endParaRPr>
          </a:p>
        </p:txBody>
      </p:sp>
      <p:sp>
        <p:nvSpPr>
          <p:cNvPr id="34" name="TextBox 33"/>
          <p:cNvSpPr txBox="1"/>
          <p:nvPr/>
        </p:nvSpPr>
        <p:spPr>
          <a:xfrm>
            <a:off x="828675" y="3471862"/>
            <a:ext cx="22860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Registration, login, profile management &amp; vehicle details.</a:t>
            </a:r>
            <a:endParaRPr sz="1050" b="0" i="0" u="none">
              <a:solidFill>
                <a:srgbClr val="475569"/>
              </a:solidFill>
              <a:latin typeface="Plus Jakarta Sans"/>
            </a:endParaRPr>
          </a:p>
        </p:txBody>
      </p:sp>
      <p:sp>
        <p:nvSpPr>
          <p:cNvPr id="35" name="TextBox 34"/>
          <p:cNvSpPr txBox="1"/>
          <p:nvPr/>
        </p:nvSpPr>
        <p:spPr>
          <a:xfrm>
            <a:off x="3609975" y="3167062"/>
            <a:ext cx="2875359" cy="209550"/>
          </a:xfrm>
          <a:prstGeom prst="rect">
            <a:avLst/>
          </a:prstGeom>
          <a:noFill/>
        </p:spPr>
        <p:txBody>
          <a:bodyPr wrap="none" lIns="0" tIns="0" rIns="0" bIns="0" anchor="t">
            <a:spAutoFit/>
          </a:bodyPr>
          <a:lstStyle/>
          <a:p>
            <a:pPr algn="l"/>
            <a:r>
              <a:rPr sz="1275" b="1" i="0" u="none">
                <a:solidFill>
                  <a:srgbClr val="0F172A"/>
                </a:solidFill>
                <a:latin typeface="Plus Jakarta Sans"/>
              </a:rPr>
              <a:t>Location &amp; Search</a:t>
            </a:r>
            <a:endParaRPr sz="1275" b="1" i="0" u="none">
              <a:solidFill>
                <a:srgbClr val="0F172A"/>
              </a:solidFill>
              <a:latin typeface="Plus Jakarta Sans"/>
            </a:endParaRPr>
          </a:p>
        </p:txBody>
      </p:sp>
      <p:sp>
        <p:nvSpPr>
          <p:cNvPr id="36" name="TextBox 35"/>
          <p:cNvSpPr txBox="1"/>
          <p:nvPr/>
        </p:nvSpPr>
        <p:spPr>
          <a:xfrm>
            <a:off x="3609975" y="3471862"/>
            <a:ext cx="22860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Location detection, nearby parking search, details &amp; slot availability.</a:t>
            </a:r>
            <a:endParaRPr sz="1050" b="0" i="0" u="none">
              <a:solidFill>
                <a:srgbClr val="475569"/>
              </a:solidFill>
              <a:latin typeface="Plus Jakarta Sans"/>
            </a:endParaRPr>
          </a:p>
        </p:txBody>
      </p:sp>
      <p:sp>
        <p:nvSpPr>
          <p:cNvPr id="37" name="TextBox 36"/>
          <p:cNvSpPr txBox="1"/>
          <p:nvPr/>
        </p:nvSpPr>
        <p:spPr>
          <a:xfrm>
            <a:off x="6391275" y="3167062"/>
            <a:ext cx="2875359" cy="209550"/>
          </a:xfrm>
          <a:prstGeom prst="rect">
            <a:avLst/>
          </a:prstGeom>
          <a:noFill/>
        </p:spPr>
        <p:txBody>
          <a:bodyPr wrap="none" lIns="0" tIns="0" rIns="0" bIns="0" anchor="t">
            <a:spAutoFit/>
          </a:bodyPr>
          <a:lstStyle/>
          <a:p>
            <a:pPr algn="l"/>
            <a:r>
              <a:rPr sz="1275" b="1" i="0" u="none">
                <a:solidFill>
                  <a:srgbClr val="0F172A"/>
                </a:solidFill>
                <a:latin typeface="Plus Jakarta Sans"/>
              </a:rPr>
              <a:t>Booking &amp; Payment</a:t>
            </a:r>
            <a:endParaRPr sz="1275" b="1" i="0" u="none">
              <a:solidFill>
                <a:srgbClr val="0F172A"/>
              </a:solidFill>
              <a:latin typeface="Plus Jakarta Sans"/>
            </a:endParaRPr>
          </a:p>
        </p:txBody>
      </p:sp>
      <p:sp>
        <p:nvSpPr>
          <p:cNvPr id="38" name="TextBox 37"/>
          <p:cNvSpPr txBox="1"/>
          <p:nvPr/>
        </p:nvSpPr>
        <p:spPr>
          <a:xfrm>
            <a:off x="6391275" y="3471862"/>
            <a:ext cx="22860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Slot selection, booking confirmation, payment &amp; booking history.</a:t>
            </a:r>
            <a:endParaRPr sz="1050" b="0" i="0" u="none">
              <a:solidFill>
                <a:srgbClr val="475569"/>
              </a:solidFill>
              <a:latin typeface="Plus Jakarta Sans"/>
            </a:endParaRPr>
          </a:p>
        </p:txBody>
      </p:sp>
      <p:sp>
        <p:nvSpPr>
          <p:cNvPr id="39" name="TextBox 38"/>
          <p:cNvSpPr txBox="1"/>
          <p:nvPr/>
        </p:nvSpPr>
        <p:spPr>
          <a:xfrm>
            <a:off x="9172575" y="3167062"/>
            <a:ext cx="2875359" cy="209550"/>
          </a:xfrm>
          <a:prstGeom prst="rect">
            <a:avLst/>
          </a:prstGeom>
          <a:noFill/>
        </p:spPr>
        <p:txBody>
          <a:bodyPr wrap="none" lIns="0" tIns="0" rIns="0" bIns="0" anchor="t">
            <a:spAutoFit/>
          </a:bodyPr>
          <a:lstStyle/>
          <a:p>
            <a:pPr algn="l"/>
            <a:r>
              <a:rPr sz="1275" b="1" i="0" u="none">
                <a:solidFill>
                  <a:srgbClr val="0F172A"/>
                </a:solidFill>
                <a:latin typeface="Plus Jakarta Sans"/>
              </a:rPr>
              <a:t>Navigation &amp; Admin</a:t>
            </a:r>
            <a:endParaRPr sz="1275" b="1" i="0" u="none">
              <a:solidFill>
                <a:srgbClr val="0F172A"/>
              </a:solidFill>
              <a:latin typeface="Plus Jakarta Sans"/>
            </a:endParaRPr>
          </a:p>
        </p:txBody>
      </p:sp>
      <p:sp>
        <p:nvSpPr>
          <p:cNvPr id="40" name="TextBox 39"/>
          <p:cNvSpPr txBox="1"/>
          <p:nvPr/>
        </p:nvSpPr>
        <p:spPr>
          <a:xfrm>
            <a:off x="9172575" y="3471862"/>
            <a:ext cx="22860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Map navigation, route guidance, slot status &amp; admin control.</a:t>
            </a:r>
            <a:endParaRPr sz="1050" b="0" i="0" u="none">
              <a:solidFill>
                <a:srgbClr val="475569"/>
              </a:solidFill>
              <a:latin typeface="Plus Jakarta Sans"/>
            </a:endParaRPr>
          </a:p>
        </p:txBody>
      </p:sp>
      <p:sp>
        <p:nvSpPr>
          <p:cNvPr id="41" name="TextBox 40"/>
          <p:cNvSpPr txBox="1"/>
          <p:nvPr/>
        </p:nvSpPr>
        <p:spPr>
          <a:xfrm>
            <a:off x="8867775" y="4767262"/>
            <a:ext cx="1104900" cy="161925"/>
          </a:xfrm>
          <a:prstGeom prst="rect">
            <a:avLst/>
          </a:prstGeom>
          <a:noFill/>
        </p:spPr>
        <p:txBody>
          <a:bodyPr wrap="square" lIns="0" tIns="0" rIns="0" bIns="0" anchor="t">
            <a:spAutoFit/>
          </a:bodyPr>
          <a:lstStyle/>
          <a:p>
            <a:pPr algn="l"/>
            <a:r>
              <a:rPr sz="900" b="1" i="0" u="none">
                <a:solidFill>
                  <a:srgbClr val="38BDF8"/>
                </a:solidFill>
                <a:latin typeface="Plus Jakarta Sans"/>
              </a:rPr>
              <a:t>Live Slot Sync</a:t>
            </a:r>
            <a:endParaRPr sz="900" b="1" i="0" u="none">
              <a:solidFill>
                <a:srgbClr val="38BDF8"/>
              </a:solidFill>
              <a:latin typeface="Plus Jakarta Sans"/>
            </a:endParaRPr>
          </a:p>
        </p:txBody>
      </p:sp>
      <p:sp>
        <p:nvSpPr>
          <p:cNvPr id="42" name="TextBox 41"/>
          <p:cNvSpPr txBox="1"/>
          <p:nvPr/>
        </p:nvSpPr>
        <p:spPr>
          <a:xfrm>
            <a:off x="10258425" y="4767262"/>
            <a:ext cx="1057275" cy="161925"/>
          </a:xfrm>
          <a:prstGeom prst="rect">
            <a:avLst/>
          </a:prstGeom>
          <a:noFill/>
        </p:spPr>
        <p:txBody>
          <a:bodyPr wrap="square" lIns="0" tIns="0" rIns="0" bIns="0" anchor="t">
            <a:spAutoFit/>
          </a:bodyPr>
          <a:lstStyle/>
          <a:p>
            <a:pPr algn="l"/>
            <a:r>
              <a:rPr sz="900" b="1" i="0" u="none">
                <a:solidFill>
                  <a:srgbClr val="4ADE80"/>
                </a:solidFill>
                <a:latin typeface="Plus Jakarta Sans"/>
              </a:rPr>
              <a:t>Secure Payments</a:t>
            </a:r>
            <a:endParaRPr sz="900" b="1" i="0" u="none">
              <a:solidFill>
                <a:srgbClr val="4ADE80"/>
              </a:solidFill>
              <a:latin typeface="Plus Jakarta Sans"/>
            </a:endParaRPr>
          </a:p>
        </p:txBody>
      </p:sp>
      <p:sp>
        <p:nvSpPr>
          <p:cNvPr id="43" name="TextBox 42"/>
          <p:cNvSpPr txBox="1"/>
          <p:nvPr/>
        </p:nvSpPr>
        <p:spPr>
          <a:xfrm>
            <a:off x="1219200" y="4672012"/>
            <a:ext cx="6513314" cy="180975"/>
          </a:xfrm>
          <a:prstGeom prst="rect">
            <a:avLst/>
          </a:prstGeom>
          <a:noFill/>
        </p:spPr>
        <p:txBody>
          <a:bodyPr wrap="none" lIns="0" tIns="0" rIns="0" bIns="0" anchor="t">
            <a:spAutoFit/>
          </a:bodyPr>
          <a:lstStyle/>
          <a:p>
            <a:pPr algn="l"/>
            <a:r>
              <a:rPr sz="1125" b="1" i="0" u="none">
                <a:solidFill>
                  <a:srgbClr val="F8FAFC"/>
                </a:solidFill>
                <a:latin typeface="Plus Jakarta Sans"/>
              </a:rPr>
              <a:t>Central Parking Data Hub</a:t>
            </a:r>
            <a:endParaRPr sz="1125" b="1" i="0" u="none">
              <a:solidFill>
                <a:srgbClr val="F8FAFC"/>
              </a:solidFill>
              <a:latin typeface="Plus Jakarta Sans"/>
            </a:endParaRPr>
          </a:p>
        </p:txBody>
      </p:sp>
      <p:sp>
        <p:nvSpPr>
          <p:cNvPr id="44" name="TextBox 43"/>
          <p:cNvSpPr txBox="1"/>
          <p:nvPr/>
        </p:nvSpPr>
        <p:spPr>
          <a:xfrm>
            <a:off x="1219200" y="4872037"/>
            <a:ext cx="6203156" cy="152400"/>
          </a:xfrm>
          <a:prstGeom prst="rect">
            <a:avLst/>
          </a:prstGeom>
          <a:noFill/>
        </p:spPr>
        <p:txBody>
          <a:bodyPr wrap="none" lIns="0" tIns="0" rIns="0" bIns="0" anchor="t">
            <a:spAutoFit/>
          </a:bodyPr>
          <a:lstStyle/>
          <a:p>
            <a:pPr algn="l"/>
            <a:r>
              <a:rPr sz="975" b="0" i="0" u="none">
                <a:solidFill>
                  <a:srgbClr val="94A3B8"/>
                </a:solidFill>
                <a:latin typeface="Plus Jakarta Sans"/>
              </a:rPr>
              <a:t>REST APIs connected via Node.js, PostgreSQL, Google Maps &amp; Firebase Real-Time Sync</a:t>
            </a:r>
            <a:endParaRPr sz="975" b="0" i="0" u="none">
              <a:solidFill>
                <a:srgbClr val="94A3B8"/>
              </a:solidFill>
              <a:latin typeface="Plus Jakarta Sans"/>
            </a:endParaRPr>
          </a:p>
        </p:txBody>
      </p:sp>
      <p:pic>
        <p:nvPicPr>
          <p:cNvPr id="45" name="SIMATS Header" descr="5b09ae4e-image.png"/>
          <p:cNvPicPr>
            <a:picLocks noChangeAspect="1"/>
          </p:cNvPicPr>
          <p:nvPr/>
        </p:nvPicPr>
        <p:blipFill>
          <a:blip r:embed="rId2"/>
          <a:stretch>
            <a:fillRect/>
          </a:stretch>
        </p:blipFill>
        <p:spPr>
          <a:xfrm>
            <a:off x="609600" y="80000"/>
            <a:ext cx="10300000" cy="10575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790950"/>
            <a:ext cx="5834508" cy="1609725"/>
          </a:xfrm>
          <a:prstGeom prst="roundRect">
            <a:avLst>
              <a:gd name="adj" fmla="val 71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34608" y="3790950"/>
            <a:ext cx="4947791" cy="1609725"/>
          </a:xfrm>
          <a:prstGeom prst="roundRect">
            <a:avLst>
              <a:gd name="adj" fmla="val 71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2699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4438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6177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7916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34608" y="3790950"/>
            <a:ext cx="38100" cy="16097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42291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625" y="45720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625" y="49149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1"/>
          <a:stretch>
            <a:fillRect/>
          </a:stretch>
        </p:blipFill>
        <p:spPr>
          <a:xfrm>
            <a:off x="6863208" y="4214812"/>
            <a:ext cx="104775" cy="133350"/>
          </a:xfrm>
          <a:prstGeom prst="rect">
            <a:avLst/>
          </a:prstGeom>
        </p:spPr>
      </p:pic>
      <p:pic>
        <p:nvPicPr>
          <p:cNvPr id="14" name="Picture 13" descr="image.png"/>
          <p:cNvPicPr>
            <a:picLocks noChangeAspect="1"/>
          </p:cNvPicPr>
          <p:nvPr/>
        </p:nvPicPr>
        <p:blipFill>
          <a:blip r:embed="rId1"/>
          <a:stretch>
            <a:fillRect/>
          </a:stretch>
        </p:blipFill>
        <p:spPr>
          <a:xfrm>
            <a:off x="6863208" y="4443412"/>
            <a:ext cx="104775" cy="133350"/>
          </a:xfrm>
          <a:prstGeom prst="rect">
            <a:avLst/>
          </a:prstGeom>
        </p:spPr>
      </p:pic>
      <p:pic>
        <p:nvPicPr>
          <p:cNvPr id="15" name="Picture 14" descr="image.png"/>
          <p:cNvPicPr>
            <a:picLocks noChangeAspect="1"/>
          </p:cNvPicPr>
          <p:nvPr/>
        </p:nvPicPr>
        <p:blipFill>
          <a:blip r:embed="rId1"/>
          <a:stretch>
            <a:fillRect/>
          </a:stretch>
        </p:blipFill>
        <p:spPr>
          <a:xfrm>
            <a:off x="6863208" y="4672012"/>
            <a:ext cx="104775" cy="133350"/>
          </a:xfrm>
          <a:prstGeom prst="rect">
            <a:avLst/>
          </a:prstGeom>
        </p:spPr>
      </p:pic>
      <p:pic>
        <p:nvPicPr>
          <p:cNvPr id="16" name="Picture 15" descr="image.png"/>
          <p:cNvPicPr>
            <a:picLocks noChangeAspect="1"/>
          </p:cNvPicPr>
          <p:nvPr/>
        </p:nvPicPr>
        <p:blipFill>
          <a:blip r:embed="rId1"/>
          <a:stretch>
            <a:fillRect/>
          </a:stretch>
        </p:blipFill>
        <p:spPr>
          <a:xfrm>
            <a:off x="6863208" y="4900612"/>
            <a:ext cx="104775" cy="133350"/>
          </a:xfrm>
          <a:prstGeom prst="rect">
            <a:avLst/>
          </a:prstGeom>
        </p:spPr>
      </p:pic>
      <p:sp>
        <p:nvSpPr>
          <p:cNvPr id="17" name="TextBox 16"/>
          <p:cNvSpPr txBox="1"/>
          <p:nvPr/>
        </p:nvSpPr>
        <p:spPr>
          <a:xfrm>
            <a:off x="609600" y="1307200"/>
            <a:ext cx="4476750" cy="600075"/>
          </a:xfrm>
          <a:prstGeom prst="rect">
            <a:avLst/>
          </a:prstGeom>
          <a:noFill/>
        </p:spPr>
        <p:txBody>
          <a:bodyPr wrap="square" lIns="0" tIns="0" rIns="0" bIns="0" anchor="t">
            <a:spAutoFit/>
          </a:bodyPr>
          <a:lstStyle/>
          <a:p>
            <a:pPr algn="l"/>
            <a:r>
              <a:rPr sz="975" b="1" i="0" u="none">
                <a:solidFill>
                  <a:srgbClr val="EF4444"/>
                </a:solidFill>
                <a:latin typeface="Plus Jakarta Sans"/>
              </a:rPr>
              <a:t>Module 01</a:t>
            </a:r>
            <a:endParaRPr sz="975" b="1" i="0" u="none">
              <a:solidFill>
                <a:srgbClr val="EF4444"/>
              </a:solidFill>
              <a:latin typeface="Plus Jakarta Sans"/>
            </a:endParaRPr>
          </a:p>
        </p:txBody>
      </p:sp>
      <p:sp>
        <p:nvSpPr>
          <p:cNvPr id="18" name="TextBox 17"/>
          <p:cNvSpPr txBox="1"/>
          <p:nvPr/>
        </p:nvSpPr>
        <p:spPr>
          <a:xfrm>
            <a:off x="9820275" y="1735825"/>
            <a:ext cx="2202656" cy="171450"/>
          </a:xfrm>
          <a:prstGeom prst="rect">
            <a:avLst/>
          </a:prstGeom>
          <a:noFill/>
        </p:spPr>
        <p:txBody>
          <a:bodyPr wrap="none" lIns="0" tIns="0" rIns="0" bIns="0" anchor="t">
            <a:spAutoFit/>
          </a:bodyPr>
          <a:lstStyle/>
          <a:p>
            <a:pPr algn="l"/>
            <a:r>
              <a:rPr sz="1050" b="1" i="0" u="none">
                <a:solidFill>
                  <a:srgbClr val="64748B"/>
                </a:solidFill>
                <a:latin typeface="Plus Jakarta Sans"/>
              </a:rPr>
              <a:t>Accounts &amp; Vehicle Details</a:t>
            </a:r>
            <a:endParaRPr sz="1050" b="1" i="0" u="none">
              <a:solidFill>
                <a:srgbClr val="64748B"/>
              </a:solidFill>
              <a:latin typeface="Plus Jakarta Sans"/>
            </a:endParaRPr>
          </a:p>
        </p:txBody>
      </p:sp>
      <p:sp>
        <p:nvSpPr>
          <p:cNvPr id="19" name="TextBox 18"/>
          <p:cNvSpPr txBox="1"/>
          <p:nvPr/>
        </p:nvSpPr>
        <p:spPr>
          <a:xfrm>
            <a:off x="609600" y="1545325"/>
            <a:ext cx="5750718" cy="361950"/>
          </a:xfrm>
          <a:prstGeom prst="rect">
            <a:avLst/>
          </a:prstGeom>
          <a:noFill/>
        </p:spPr>
        <p:txBody>
          <a:bodyPr wrap="none" lIns="0" tIns="0" rIns="0" bIns="0" anchor="t">
            <a:spAutoFit/>
          </a:bodyPr>
          <a:lstStyle/>
          <a:p>
            <a:pPr algn="l"/>
            <a:r>
              <a:rPr sz="2250" b="1" i="0" u="none">
                <a:solidFill>
                  <a:srgbClr val="0F172A"/>
                </a:solidFill>
                <a:latin typeface="Plus Jakarta Sans"/>
              </a:rPr>
              <a:t>User Registration &amp; Profile</a:t>
            </a:r>
            <a:endParaRPr sz="2250" b="1" i="0" u="none">
              <a:solidFill>
                <a:srgbClr val="0F172A"/>
              </a:solidFill>
              <a:latin typeface="Plus Jakarta Sans"/>
            </a:endParaRPr>
          </a:p>
        </p:txBody>
      </p:sp>
      <p:sp>
        <p:nvSpPr>
          <p:cNvPr id="20" name="TextBox 19"/>
          <p:cNvSpPr txBox="1"/>
          <p:nvPr/>
        </p:nvSpPr>
        <p:spPr>
          <a:xfrm>
            <a:off x="609600" y="2438400"/>
            <a:ext cx="11582400" cy="152400"/>
          </a:xfrm>
          <a:prstGeom prst="rect">
            <a:avLst/>
          </a:prstGeom>
          <a:noFill/>
        </p:spPr>
        <p:txBody>
          <a:bodyPr wrap="none" lIns="0" tIns="0" rIns="0" bIns="0" anchor="t">
            <a:spAutoFit/>
          </a:bodyPr>
          <a:lstStyle/>
          <a:p>
            <a:pPr algn="l"/>
            <a:r>
              <a:rPr sz="975" b="1" i="0" u="none">
                <a:solidFill>
                  <a:srgbClr val="475569"/>
                </a:solidFill>
                <a:latin typeface="Plus Jakarta Sans"/>
              </a:rPr>
              <a:t>OPERATIONAL WORKFLOW (5 STAGES)</a:t>
            </a:r>
            <a:endParaRPr sz="975" b="1" i="0" u="none">
              <a:solidFill>
                <a:srgbClr val="475569"/>
              </a:solidFill>
              <a:latin typeface="Plus Jakarta Sans"/>
            </a:endParaRPr>
          </a:p>
        </p:txBody>
      </p:sp>
      <p:sp>
        <p:nvSpPr>
          <p:cNvPr id="21" name="TextBox 20"/>
          <p:cNvSpPr txBox="1"/>
          <p:nvPr/>
        </p:nvSpPr>
        <p:spPr>
          <a:xfrm>
            <a:off x="809625" y="3990975"/>
            <a:ext cx="6793073" cy="142875"/>
          </a:xfrm>
          <a:prstGeom prst="rect">
            <a:avLst/>
          </a:prstGeom>
          <a:noFill/>
        </p:spPr>
        <p:txBody>
          <a:bodyPr wrap="none" lIns="0" tIns="0" rIns="0" bIns="0" anchor="t">
            <a:spAutoFit/>
          </a:bodyPr>
          <a:lstStyle/>
          <a:p>
            <a:pPr algn="l"/>
            <a:r>
              <a:rPr sz="900" b="1" i="0" u="none">
                <a:solidFill>
                  <a:srgbClr val="DC2626"/>
                </a:solidFill>
                <a:latin typeface="Plus Jakarta Sans"/>
              </a:rPr>
              <a:t>DATA SCHEMA &amp; ENTITIES</a:t>
            </a:r>
            <a:endParaRPr sz="900" b="1" i="0" u="none">
              <a:solidFill>
                <a:srgbClr val="DC2626"/>
              </a:solidFill>
              <a:latin typeface="Plus Jakarta Sans"/>
            </a:endParaRPr>
          </a:p>
        </p:txBody>
      </p:sp>
      <p:sp>
        <p:nvSpPr>
          <p:cNvPr id="22" name="TextBox 21"/>
          <p:cNvSpPr txBox="1"/>
          <p:nvPr/>
        </p:nvSpPr>
        <p:spPr>
          <a:xfrm>
            <a:off x="6863208" y="3981450"/>
            <a:ext cx="5328791" cy="142875"/>
          </a:xfrm>
          <a:prstGeom prst="rect">
            <a:avLst/>
          </a:prstGeom>
          <a:noFill/>
        </p:spPr>
        <p:txBody>
          <a:bodyPr wrap="none" lIns="0" tIns="0" rIns="0" bIns="0" anchor="t">
            <a:spAutoFit/>
          </a:bodyPr>
          <a:lstStyle/>
          <a:p>
            <a:pPr algn="l"/>
            <a:r>
              <a:rPr sz="900" b="1" i="0" u="none">
                <a:solidFill>
                  <a:srgbClr val="DC2626"/>
                </a:solidFill>
                <a:latin typeface="Plus Jakarta Sans"/>
              </a:rPr>
              <a:t>MONITORED SUCCESS INDICATORS</a:t>
            </a:r>
            <a:endParaRPr sz="900" b="1" i="0" u="none">
              <a:solidFill>
                <a:srgbClr val="DC2626"/>
              </a:solidFill>
              <a:latin typeface="Plus Jakarta Sans"/>
            </a:endParaRPr>
          </a:p>
        </p:txBody>
      </p:sp>
      <p:sp>
        <p:nvSpPr>
          <p:cNvPr id="23" name="TextBox 22"/>
          <p:cNvSpPr txBox="1"/>
          <p:nvPr/>
        </p:nvSpPr>
        <p:spPr>
          <a:xfrm>
            <a:off x="771525" y="2847975"/>
            <a:ext cx="2224050" cy="219075"/>
          </a:xfrm>
          <a:prstGeom prst="rect">
            <a:avLst/>
          </a:prstGeom>
          <a:noFill/>
        </p:spPr>
        <p:txBody>
          <a:bodyPr wrap="none" lIns="0" tIns="0" rIns="0" bIns="0" anchor="t">
            <a:spAutoFit/>
          </a:bodyPr>
          <a:lstStyle/>
          <a:p>
            <a:pPr algn="l"/>
            <a:r>
              <a:rPr sz="1350" b="1" i="0" u="none">
                <a:solidFill>
                  <a:srgbClr val="DC2626"/>
                </a:solidFill>
                <a:latin typeface="Plus Jakarta Sans"/>
              </a:rPr>
              <a:t>01</a:t>
            </a:r>
            <a:endParaRPr sz="1350" b="1" i="0" u="none">
              <a:solidFill>
                <a:srgbClr val="DC2626"/>
              </a:solidFill>
              <a:latin typeface="Plus Jakarta Sans"/>
            </a:endParaRPr>
          </a:p>
        </p:txBody>
      </p:sp>
      <p:sp>
        <p:nvSpPr>
          <p:cNvPr id="24" name="TextBox 23"/>
          <p:cNvSpPr txBox="1"/>
          <p:nvPr/>
        </p:nvSpPr>
        <p:spPr>
          <a:xfrm>
            <a:off x="77152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Register</a:t>
            </a:r>
            <a:endParaRPr sz="1050" b="1" i="0" u="none">
              <a:solidFill>
                <a:srgbClr val="0F172A"/>
              </a:solidFill>
              <a:latin typeface="Plus Jakarta Sans"/>
            </a:endParaRPr>
          </a:p>
        </p:txBody>
      </p:sp>
      <p:sp>
        <p:nvSpPr>
          <p:cNvPr id="25" name="TextBox 24"/>
          <p:cNvSpPr txBox="1"/>
          <p:nvPr/>
        </p:nvSpPr>
        <p:spPr>
          <a:xfrm>
            <a:off x="77152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Create account</a:t>
            </a:r>
            <a:endParaRPr sz="900" b="0" i="0" u="none">
              <a:solidFill>
                <a:srgbClr val="64748B"/>
              </a:solidFill>
              <a:latin typeface="Plus Jakarta Sans"/>
            </a:endParaRPr>
          </a:p>
        </p:txBody>
      </p:sp>
      <p:sp>
        <p:nvSpPr>
          <p:cNvPr id="26" name="TextBox 25"/>
          <p:cNvSpPr txBox="1"/>
          <p:nvPr/>
        </p:nvSpPr>
        <p:spPr>
          <a:xfrm>
            <a:off x="2988915" y="2847975"/>
            <a:ext cx="2224050" cy="219075"/>
          </a:xfrm>
          <a:prstGeom prst="rect">
            <a:avLst/>
          </a:prstGeom>
          <a:noFill/>
        </p:spPr>
        <p:txBody>
          <a:bodyPr wrap="none" lIns="0" tIns="0" rIns="0" bIns="0" anchor="t">
            <a:spAutoFit/>
          </a:bodyPr>
          <a:lstStyle/>
          <a:p>
            <a:pPr algn="l"/>
            <a:r>
              <a:rPr sz="1350" b="1" i="0" u="none">
                <a:solidFill>
                  <a:srgbClr val="DC2626"/>
                </a:solidFill>
                <a:latin typeface="Plus Jakarta Sans"/>
              </a:rPr>
              <a:t>02</a:t>
            </a:r>
            <a:endParaRPr sz="1350" b="1" i="0" u="none">
              <a:solidFill>
                <a:srgbClr val="DC2626"/>
              </a:solidFill>
              <a:latin typeface="Plus Jakarta Sans"/>
            </a:endParaRPr>
          </a:p>
        </p:txBody>
      </p:sp>
      <p:sp>
        <p:nvSpPr>
          <p:cNvPr id="27" name="TextBox 26"/>
          <p:cNvSpPr txBox="1"/>
          <p:nvPr/>
        </p:nvSpPr>
        <p:spPr>
          <a:xfrm>
            <a:off x="298891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Login</a:t>
            </a:r>
            <a:endParaRPr sz="1050" b="1" i="0" u="none">
              <a:solidFill>
                <a:srgbClr val="0F172A"/>
              </a:solidFill>
              <a:latin typeface="Plus Jakarta Sans"/>
            </a:endParaRPr>
          </a:p>
        </p:txBody>
      </p:sp>
      <p:sp>
        <p:nvSpPr>
          <p:cNvPr id="28" name="TextBox 27"/>
          <p:cNvSpPr txBox="1"/>
          <p:nvPr/>
        </p:nvSpPr>
        <p:spPr>
          <a:xfrm>
            <a:off x="298891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Secure sign-in</a:t>
            </a:r>
            <a:endParaRPr sz="900" b="0" i="0" u="none">
              <a:solidFill>
                <a:srgbClr val="64748B"/>
              </a:solidFill>
              <a:latin typeface="Plus Jakarta Sans"/>
            </a:endParaRPr>
          </a:p>
        </p:txBody>
      </p:sp>
      <p:sp>
        <p:nvSpPr>
          <p:cNvPr id="29" name="TextBox 28"/>
          <p:cNvSpPr txBox="1"/>
          <p:nvPr/>
        </p:nvSpPr>
        <p:spPr>
          <a:xfrm>
            <a:off x="5206305" y="2847975"/>
            <a:ext cx="2224050" cy="219075"/>
          </a:xfrm>
          <a:prstGeom prst="rect">
            <a:avLst/>
          </a:prstGeom>
          <a:noFill/>
        </p:spPr>
        <p:txBody>
          <a:bodyPr wrap="none" lIns="0" tIns="0" rIns="0" bIns="0" anchor="t">
            <a:spAutoFit/>
          </a:bodyPr>
          <a:lstStyle/>
          <a:p>
            <a:pPr algn="l"/>
            <a:r>
              <a:rPr sz="1350" b="1" i="0" u="none">
                <a:solidFill>
                  <a:srgbClr val="DC2626"/>
                </a:solidFill>
                <a:latin typeface="Plus Jakarta Sans"/>
              </a:rPr>
              <a:t>03</a:t>
            </a:r>
            <a:endParaRPr sz="1350" b="1" i="0" u="none">
              <a:solidFill>
                <a:srgbClr val="DC2626"/>
              </a:solidFill>
              <a:latin typeface="Plus Jakarta Sans"/>
            </a:endParaRPr>
          </a:p>
        </p:txBody>
      </p:sp>
      <p:sp>
        <p:nvSpPr>
          <p:cNvPr id="30" name="TextBox 29"/>
          <p:cNvSpPr txBox="1"/>
          <p:nvPr/>
        </p:nvSpPr>
        <p:spPr>
          <a:xfrm>
            <a:off x="520630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Verify</a:t>
            </a:r>
            <a:endParaRPr sz="1050" b="1" i="0" u="none">
              <a:solidFill>
                <a:srgbClr val="0F172A"/>
              </a:solidFill>
              <a:latin typeface="Plus Jakarta Sans"/>
            </a:endParaRPr>
          </a:p>
        </p:txBody>
      </p:sp>
      <p:sp>
        <p:nvSpPr>
          <p:cNvPr id="31" name="TextBox 30"/>
          <p:cNvSpPr txBox="1"/>
          <p:nvPr/>
        </p:nvSpPr>
        <p:spPr>
          <a:xfrm>
            <a:off x="520630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OTP / email check</a:t>
            </a:r>
            <a:endParaRPr sz="900" b="0" i="0" u="none">
              <a:solidFill>
                <a:srgbClr val="64748B"/>
              </a:solidFill>
              <a:latin typeface="Plus Jakarta Sans"/>
            </a:endParaRPr>
          </a:p>
        </p:txBody>
      </p:sp>
      <p:sp>
        <p:nvSpPr>
          <p:cNvPr id="32" name="TextBox 31"/>
          <p:cNvSpPr txBox="1"/>
          <p:nvPr/>
        </p:nvSpPr>
        <p:spPr>
          <a:xfrm>
            <a:off x="7423695" y="2847975"/>
            <a:ext cx="2224050" cy="219075"/>
          </a:xfrm>
          <a:prstGeom prst="rect">
            <a:avLst/>
          </a:prstGeom>
          <a:noFill/>
        </p:spPr>
        <p:txBody>
          <a:bodyPr wrap="none" lIns="0" tIns="0" rIns="0" bIns="0" anchor="t">
            <a:spAutoFit/>
          </a:bodyPr>
          <a:lstStyle/>
          <a:p>
            <a:pPr algn="l"/>
            <a:r>
              <a:rPr sz="1350" b="1" i="0" u="none">
                <a:solidFill>
                  <a:srgbClr val="DC2626"/>
                </a:solidFill>
                <a:latin typeface="Plus Jakarta Sans"/>
              </a:rPr>
              <a:t>04</a:t>
            </a:r>
            <a:endParaRPr sz="1350" b="1" i="0" u="none">
              <a:solidFill>
                <a:srgbClr val="DC2626"/>
              </a:solidFill>
              <a:latin typeface="Plus Jakarta Sans"/>
            </a:endParaRPr>
          </a:p>
        </p:txBody>
      </p:sp>
      <p:sp>
        <p:nvSpPr>
          <p:cNvPr id="33" name="TextBox 32"/>
          <p:cNvSpPr txBox="1"/>
          <p:nvPr/>
        </p:nvSpPr>
        <p:spPr>
          <a:xfrm>
            <a:off x="742369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Manage Profile</a:t>
            </a:r>
            <a:endParaRPr sz="1050" b="1" i="0" u="none">
              <a:solidFill>
                <a:srgbClr val="0F172A"/>
              </a:solidFill>
              <a:latin typeface="Plus Jakarta Sans"/>
            </a:endParaRPr>
          </a:p>
        </p:txBody>
      </p:sp>
      <p:sp>
        <p:nvSpPr>
          <p:cNvPr id="34" name="TextBox 33"/>
          <p:cNvSpPr txBox="1"/>
          <p:nvPr/>
        </p:nvSpPr>
        <p:spPr>
          <a:xfrm>
            <a:off x="742369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Edit user details</a:t>
            </a:r>
            <a:endParaRPr sz="900" b="0" i="0" u="none">
              <a:solidFill>
                <a:srgbClr val="64748B"/>
              </a:solidFill>
              <a:latin typeface="Plus Jakarta Sans"/>
            </a:endParaRPr>
          </a:p>
        </p:txBody>
      </p:sp>
      <p:sp>
        <p:nvSpPr>
          <p:cNvPr id="35" name="TextBox 34"/>
          <p:cNvSpPr txBox="1"/>
          <p:nvPr/>
        </p:nvSpPr>
        <p:spPr>
          <a:xfrm>
            <a:off x="9641085" y="2847975"/>
            <a:ext cx="2224050" cy="219075"/>
          </a:xfrm>
          <a:prstGeom prst="rect">
            <a:avLst/>
          </a:prstGeom>
          <a:noFill/>
        </p:spPr>
        <p:txBody>
          <a:bodyPr wrap="none" lIns="0" tIns="0" rIns="0" bIns="0" anchor="t">
            <a:spAutoFit/>
          </a:bodyPr>
          <a:lstStyle/>
          <a:p>
            <a:pPr algn="l"/>
            <a:r>
              <a:rPr sz="1350" b="1" i="0" u="none">
                <a:solidFill>
                  <a:srgbClr val="DC2626"/>
                </a:solidFill>
                <a:latin typeface="Plus Jakarta Sans"/>
              </a:rPr>
              <a:t>05</a:t>
            </a:r>
            <a:endParaRPr sz="1350" b="1" i="0" u="none">
              <a:solidFill>
                <a:srgbClr val="DC2626"/>
              </a:solidFill>
              <a:latin typeface="Plus Jakarta Sans"/>
            </a:endParaRPr>
          </a:p>
        </p:txBody>
      </p:sp>
      <p:sp>
        <p:nvSpPr>
          <p:cNvPr id="36" name="TextBox 35"/>
          <p:cNvSpPr txBox="1"/>
          <p:nvPr/>
        </p:nvSpPr>
        <p:spPr>
          <a:xfrm>
            <a:off x="964108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Add Vehicle</a:t>
            </a:r>
            <a:endParaRPr sz="1050" b="1" i="0" u="none">
              <a:solidFill>
                <a:srgbClr val="0F172A"/>
              </a:solidFill>
              <a:latin typeface="Plus Jakarta Sans"/>
            </a:endParaRPr>
          </a:p>
        </p:txBody>
      </p:sp>
      <p:sp>
        <p:nvSpPr>
          <p:cNvPr id="37" name="TextBox 36"/>
          <p:cNvSpPr txBox="1"/>
          <p:nvPr/>
        </p:nvSpPr>
        <p:spPr>
          <a:xfrm>
            <a:off x="964108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Save vehicle info</a:t>
            </a:r>
            <a:endParaRPr sz="900" b="0" i="0" u="none">
              <a:solidFill>
                <a:srgbClr val="64748B"/>
              </a:solidFill>
              <a:latin typeface="Plus Jakarta Sans"/>
            </a:endParaRPr>
          </a:p>
        </p:txBody>
      </p:sp>
      <p:sp>
        <p:nvSpPr>
          <p:cNvPr id="38" name="TextBox 37"/>
          <p:cNvSpPr txBox="1"/>
          <p:nvPr/>
        </p:nvSpPr>
        <p:spPr>
          <a:xfrm>
            <a:off x="6863208" y="42005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Account Created:</a:t>
            </a:r>
            <a:r>
              <a:rPr sz="975" b="0" i="0" u="none">
                <a:solidFill>
                  <a:srgbClr val="334155"/>
                </a:solidFill>
                <a:latin typeface="Plus Jakarta Sans"/>
              </a:rPr>
              <a:t> Verified via OTP or email</a:t>
            </a:r>
            <a:endParaRPr sz="975" b="0" i="0" u="none">
              <a:solidFill>
                <a:srgbClr val="334155"/>
              </a:solidFill>
              <a:latin typeface="Plus Jakarta Sans"/>
            </a:endParaRPr>
          </a:p>
        </p:txBody>
      </p:sp>
      <p:sp>
        <p:nvSpPr>
          <p:cNvPr id="39" name="TextBox 38"/>
          <p:cNvSpPr txBox="1"/>
          <p:nvPr/>
        </p:nvSpPr>
        <p:spPr>
          <a:xfrm>
            <a:off x="6863208" y="44291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Secure Login:</a:t>
            </a:r>
            <a:r>
              <a:rPr sz="975" b="0" i="0" u="none">
                <a:solidFill>
                  <a:srgbClr val="334155"/>
                </a:solidFill>
                <a:latin typeface="Plus Jakarta Sans"/>
              </a:rPr>
              <a:t> Token-based authentication</a:t>
            </a:r>
            <a:endParaRPr sz="975" b="0" i="0" u="none">
              <a:solidFill>
                <a:srgbClr val="334155"/>
              </a:solidFill>
              <a:latin typeface="Plus Jakarta Sans"/>
            </a:endParaRPr>
          </a:p>
        </p:txBody>
      </p:sp>
      <p:sp>
        <p:nvSpPr>
          <p:cNvPr id="40" name="TextBox 39"/>
          <p:cNvSpPr txBox="1"/>
          <p:nvPr/>
        </p:nvSpPr>
        <p:spPr>
          <a:xfrm>
            <a:off x="6863208" y="46577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Profile Updated:</a:t>
            </a:r>
            <a:r>
              <a:rPr sz="975" b="0" i="0" u="none">
                <a:solidFill>
                  <a:srgbClr val="334155"/>
                </a:solidFill>
                <a:latin typeface="Plus Jakarta Sans"/>
              </a:rPr>
              <a:t> Changes saved and synced instantly</a:t>
            </a:r>
            <a:endParaRPr sz="975" b="0" i="0" u="none">
              <a:solidFill>
                <a:srgbClr val="334155"/>
              </a:solidFill>
              <a:latin typeface="Plus Jakarta Sans"/>
            </a:endParaRPr>
          </a:p>
        </p:txBody>
      </p:sp>
      <p:sp>
        <p:nvSpPr>
          <p:cNvPr id="41" name="TextBox 40"/>
          <p:cNvSpPr txBox="1"/>
          <p:nvPr/>
        </p:nvSpPr>
        <p:spPr>
          <a:xfrm>
            <a:off x="6863208" y="48863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Vehicle Linked:</a:t>
            </a:r>
            <a:r>
              <a:rPr sz="975" b="0" i="0" u="none">
                <a:solidFill>
                  <a:srgbClr val="334155"/>
                </a:solidFill>
                <a:latin typeface="Plus Jakarta Sans"/>
              </a:rPr>
              <a:t> Vehicle details tied to each booking</a:t>
            </a:r>
            <a:endParaRPr sz="975" b="0" i="0" u="none">
              <a:solidFill>
                <a:srgbClr val="334155"/>
              </a:solidFill>
              <a:latin typeface="Plus Jakarta Sans"/>
            </a:endParaRPr>
          </a:p>
        </p:txBody>
      </p:sp>
      <p:sp>
        <p:nvSpPr>
          <p:cNvPr id="42" name="TextBox 41"/>
          <p:cNvSpPr txBox="1"/>
          <p:nvPr/>
        </p:nvSpPr>
        <p:spPr>
          <a:xfrm>
            <a:off x="914400" y="4295775"/>
            <a:ext cx="809625" cy="152400"/>
          </a:xfrm>
          <a:prstGeom prst="rect">
            <a:avLst/>
          </a:prstGeom>
          <a:noFill/>
        </p:spPr>
        <p:txBody>
          <a:bodyPr wrap="none" lIns="0" tIns="0" rIns="0" bIns="0" anchor="t">
            <a:spAutoFit/>
          </a:bodyPr>
          <a:lstStyle/>
          <a:p>
            <a:pPr algn="l"/>
            <a:r>
              <a:rPr sz="975" b="1" i="0" u="none">
                <a:solidFill>
                  <a:srgbClr val="0F172A"/>
                </a:solidFill>
                <a:latin typeface="Plus Jakarta Sans"/>
              </a:rPr>
              <a:t>Identity:</a:t>
            </a:r>
            <a:endParaRPr sz="975" b="1" i="0" u="none">
              <a:solidFill>
                <a:srgbClr val="0F172A"/>
              </a:solidFill>
              <a:latin typeface="Plus Jakarta Sans"/>
            </a:endParaRPr>
          </a:p>
        </p:txBody>
      </p:sp>
      <p:sp>
        <p:nvSpPr>
          <p:cNvPr id="43" name="TextBox 42"/>
          <p:cNvSpPr txBox="1"/>
          <p:nvPr/>
        </p:nvSpPr>
        <p:spPr>
          <a:xfrm>
            <a:off x="5263008" y="4295775"/>
            <a:ext cx="1162050" cy="152400"/>
          </a:xfrm>
          <a:prstGeom prst="rect">
            <a:avLst/>
          </a:prstGeom>
          <a:noFill/>
        </p:spPr>
        <p:txBody>
          <a:bodyPr wrap="none" lIns="0" tIns="0" rIns="0" bIns="0" anchor="t">
            <a:spAutoFit/>
          </a:bodyPr>
          <a:lstStyle/>
          <a:p>
            <a:pPr algn="l"/>
            <a:r>
              <a:rPr sz="975" b="0" i="0" u="none">
                <a:solidFill>
                  <a:srgbClr val="64748B"/>
                </a:solidFill>
                <a:latin typeface="Plus Jakarta Sans"/>
              </a:rPr>
              <a:t>User ID, Name</a:t>
            </a:r>
            <a:endParaRPr sz="975" b="0" i="0" u="none">
              <a:solidFill>
                <a:srgbClr val="64748B"/>
              </a:solidFill>
              <a:latin typeface="Plus Jakarta Sans"/>
            </a:endParaRPr>
          </a:p>
        </p:txBody>
      </p:sp>
      <p:sp>
        <p:nvSpPr>
          <p:cNvPr id="44" name="TextBox 43"/>
          <p:cNvSpPr txBox="1"/>
          <p:nvPr/>
        </p:nvSpPr>
        <p:spPr>
          <a:xfrm>
            <a:off x="914400" y="4638675"/>
            <a:ext cx="828675" cy="152400"/>
          </a:xfrm>
          <a:prstGeom prst="rect">
            <a:avLst/>
          </a:prstGeom>
          <a:noFill/>
        </p:spPr>
        <p:txBody>
          <a:bodyPr wrap="none" lIns="0" tIns="0" rIns="0" bIns="0" anchor="t">
            <a:spAutoFit/>
          </a:bodyPr>
          <a:lstStyle/>
          <a:p>
            <a:pPr algn="l"/>
            <a:r>
              <a:rPr sz="975" b="1" i="0" u="none">
                <a:solidFill>
                  <a:srgbClr val="0F172A"/>
                </a:solidFill>
                <a:latin typeface="Plus Jakarta Sans"/>
              </a:rPr>
              <a:t>Credentials:</a:t>
            </a:r>
            <a:endParaRPr sz="975" b="1" i="0" u="none">
              <a:solidFill>
                <a:srgbClr val="0F172A"/>
              </a:solidFill>
              <a:latin typeface="Plus Jakarta Sans"/>
            </a:endParaRPr>
          </a:p>
        </p:txBody>
      </p:sp>
      <p:sp>
        <p:nvSpPr>
          <p:cNvPr id="45" name="TextBox 44"/>
          <p:cNvSpPr txBox="1"/>
          <p:nvPr/>
        </p:nvSpPr>
        <p:spPr>
          <a:xfrm>
            <a:off x="4120008" y="4638675"/>
            <a:ext cx="2524125" cy="152400"/>
          </a:xfrm>
          <a:prstGeom prst="rect">
            <a:avLst/>
          </a:prstGeom>
          <a:noFill/>
        </p:spPr>
        <p:txBody>
          <a:bodyPr wrap="none" lIns="0" tIns="0" rIns="0" bIns="0" anchor="t">
            <a:spAutoFit/>
          </a:bodyPr>
          <a:lstStyle/>
          <a:p>
            <a:pPr algn="l"/>
            <a:r>
              <a:rPr sz="975" b="0" i="0" u="none">
                <a:solidFill>
                  <a:srgbClr val="64748B"/>
                </a:solidFill>
                <a:latin typeface="Plus Jakarta Sans"/>
              </a:rPr>
              <a:t>Password Hash, Auth Token</a:t>
            </a:r>
            <a:endParaRPr sz="975" b="0" i="0" u="none">
              <a:solidFill>
                <a:srgbClr val="64748B"/>
              </a:solidFill>
              <a:latin typeface="Plus Jakarta Sans"/>
            </a:endParaRPr>
          </a:p>
        </p:txBody>
      </p:sp>
      <p:sp>
        <p:nvSpPr>
          <p:cNvPr id="46" name="TextBox 45"/>
          <p:cNvSpPr txBox="1"/>
          <p:nvPr/>
        </p:nvSpPr>
        <p:spPr>
          <a:xfrm>
            <a:off x="914400" y="4981575"/>
            <a:ext cx="1390650" cy="152400"/>
          </a:xfrm>
          <a:prstGeom prst="rect">
            <a:avLst/>
          </a:prstGeom>
          <a:noFill/>
        </p:spPr>
        <p:txBody>
          <a:bodyPr wrap="none" lIns="0" tIns="0" rIns="0" bIns="0" anchor="t">
            <a:spAutoFit/>
          </a:bodyPr>
          <a:lstStyle/>
          <a:p>
            <a:pPr algn="l"/>
            <a:r>
              <a:rPr sz="975" b="1" i="0" u="none">
                <a:solidFill>
                  <a:srgbClr val="0F172A"/>
                </a:solidFill>
                <a:latin typeface="Plus Jakarta Sans"/>
              </a:rPr>
              <a:t>Vehicle &amp; Profile:</a:t>
            </a:r>
            <a:endParaRPr sz="975" b="1" i="0" u="none">
              <a:solidFill>
                <a:srgbClr val="0F172A"/>
              </a:solidFill>
              <a:latin typeface="Plus Jakarta Sans"/>
            </a:endParaRPr>
          </a:p>
        </p:txBody>
      </p:sp>
      <p:sp>
        <p:nvSpPr>
          <p:cNvPr id="47" name="TextBox 46"/>
          <p:cNvSpPr txBox="1"/>
          <p:nvPr/>
        </p:nvSpPr>
        <p:spPr>
          <a:xfrm>
            <a:off x="4053333" y="4981575"/>
            <a:ext cx="2607468" cy="152400"/>
          </a:xfrm>
          <a:prstGeom prst="rect">
            <a:avLst/>
          </a:prstGeom>
          <a:noFill/>
        </p:spPr>
        <p:txBody>
          <a:bodyPr wrap="none" lIns="0" tIns="0" rIns="0" bIns="0" anchor="t">
            <a:spAutoFit/>
          </a:bodyPr>
          <a:lstStyle/>
          <a:p>
            <a:pPr algn="l"/>
            <a:r>
              <a:rPr sz="975" b="0" i="0" u="none">
                <a:solidFill>
                  <a:srgbClr val="64748B"/>
                </a:solidFill>
                <a:latin typeface="Plus Jakarta Sans"/>
              </a:rPr>
              <a:t>Vehicle ID, Plate No., Type</a:t>
            </a:r>
            <a:endParaRPr sz="975" b="0" i="0" u="none">
              <a:solidFill>
                <a:srgbClr val="64748B"/>
              </a:solidFill>
              <a:latin typeface="Plus Jakarta Sans"/>
            </a:endParaRPr>
          </a:p>
        </p:txBody>
      </p:sp>
      <p:pic>
        <p:nvPicPr>
          <p:cNvPr id="48" name="SIMATS Header" descr="5b09ae4e-image.png"/>
          <p:cNvPicPr>
            <a:picLocks noChangeAspect="1"/>
          </p:cNvPicPr>
          <p:nvPr/>
        </p:nvPicPr>
        <p:blipFill>
          <a:blip r:embed="rId2"/>
          <a:stretch>
            <a:fillRect/>
          </a:stretch>
        </p:blipFill>
        <p:spPr>
          <a:xfrm>
            <a:off x="609600" y="80000"/>
            <a:ext cx="10300000" cy="10575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790950"/>
            <a:ext cx="5834508" cy="1609725"/>
          </a:xfrm>
          <a:prstGeom prst="roundRect">
            <a:avLst>
              <a:gd name="adj" fmla="val 71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34608" y="3790950"/>
            <a:ext cx="4947791" cy="1609725"/>
          </a:xfrm>
          <a:prstGeom prst="roundRect">
            <a:avLst>
              <a:gd name="adj" fmla="val 71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2699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4438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6177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7916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34608" y="3790950"/>
            <a:ext cx="38100" cy="160972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42291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625" y="45720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625" y="49149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1"/>
          <a:stretch>
            <a:fillRect/>
          </a:stretch>
        </p:blipFill>
        <p:spPr>
          <a:xfrm>
            <a:off x="6863208" y="4214812"/>
            <a:ext cx="104775" cy="133350"/>
          </a:xfrm>
          <a:prstGeom prst="rect">
            <a:avLst/>
          </a:prstGeom>
        </p:spPr>
      </p:pic>
      <p:pic>
        <p:nvPicPr>
          <p:cNvPr id="14" name="Picture 13" descr="image.png"/>
          <p:cNvPicPr>
            <a:picLocks noChangeAspect="1"/>
          </p:cNvPicPr>
          <p:nvPr/>
        </p:nvPicPr>
        <p:blipFill>
          <a:blip r:embed="rId1"/>
          <a:stretch>
            <a:fillRect/>
          </a:stretch>
        </p:blipFill>
        <p:spPr>
          <a:xfrm>
            <a:off x="6863208" y="4443412"/>
            <a:ext cx="104775" cy="133350"/>
          </a:xfrm>
          <a:prstGeom prst="rect">
            <a:avLst/>
          </a:prstGeom>
        </p:spPr>
      </p:pic>
      <p:pic>
        <p:nvPicPr>
          <p:cNvPr id="15" name="Picture 14" descr="image.png"/>
          <p:cNvPicPr>
            <a:picLocks noChangeAspect="1"/>
          </p:cNvPicPr>
          <p:nvPr/>
        </p:nvPicPr>
        <p:blipFill>
          <a:blip r:embed="rId1"/>
          <a:stretch>
            <a:fillRect/>
          </a:stretch>
        </p:blipFill>
        <p:spPr>
          <a:xfrm>
            <a:off x="6863208" y="4672012"/>
            <a:ext cx="104775" cy="133350"/>
          </a:xfrm>
          <a:prstGeom prst="rect">
            <a:avLst/>
          </a:prstGeom>
        </p:spPr>
      </p:pic>
      <p:pic>
        <p:nvPicPr>
          <p:cNvPr id="16" name="Picture 15" descr="image.png"/>
          <p:cNvPicPr>
            <a:picLocks noChangeAspect="1"/>
          </p:cNvPicPr>
          <p:nvPr/>
        </p:nvPicPr>
        <p:blipFill>
          <a:blip r:embed="rId1"/>
          <a:stretch>
            <a:fillRect/>
          </a:stretch>
        </p:blipFill>
        <p:spPr>
          <a:xfrm>
            <a:off x="6863208" y="4900612"/>
            <a:ext cx="104775" cy="133350"/>
          </a:xfrm>
          <a:prstGeom prst="rect">
            <a:avLst/>
          </a:prstGeom>
        </p:spPr>
      </p:pic>
      <p:sp>
        <p:nvSpPr>
          <p:cNvPr id="17" name="TextBox 16"/>
          <p:cNvSpPr txBox="1"/>
          <p:nvPr/>
        </p:nvSpPr>
        <p:spPr>
          <a:xfrm>
            <a:off x="609600" y="1307200"/>
            <a:ext cx="4667250" cy="600075"/>
          </a:xfrm>
          <a:prstGeom prst="rect">
            <a:avLst/>
          </a:prstGeom>
          <a:noFill/>
        </p:spPr>
        <p:txBody>
          <a:bodyPr wrap="square" lIns="0" tIns="0" rIns="0" bIns="0" anchor="t">
            <a:spAutoFit/>
          </a:bodyPr>
          <a:lstStyle/>
          <a:p>
            <a:pPr algn="l"/>
            <a:r>
              <a:rPr sz="975" b="1" i="0" u="none">
                <a:solidFill>
                  <a:srgbClr val="2563EB"/>
                </a:solidFill>
                <a:latin typeface="Plus Jakarta Sans"/>
              </a:rPr>
              <a:t>Module 02</a:t>
            </a:r>
            <a:endParaRPr sz="975" b="1" i="0" u="none">
              <a:solidFill>
                <a:srgbClr val="2563EB"/>
              </a:solidFill>
              <a:latin typeface="Plus Jakarta Sans"/>
            </a:endParaRPr>
          </a:p>
        </p:txBody>
      </p:sp>
      <p:sp>
        <p:nvSpPr>
          <p:cNvPr id="18" name="TextBox 17"/>
          <p:cNvSpPr txBox="1"/>
          <p:nvPr/>
        </p:nvSpPr>
        <p:spPr>
          <a:xfrm>
            <a:off x="9820275" y="1735825"/>
            <a:ext cx="2202656" cy="171450"/>
          </a:xfrm>
          <a:prstGeom prst="rect">
            <a:avLst/>
          </a:prstGeom>
          <a:noFill/>
        </p:spPr>
        <p:txBody>
          <a:bodyPr wrap="none" lIns="0" tIns="0" rIns="0" bIns="0" anchor="t">
            <a:spAutoFit/>
          </a:bodyPr>
          <a:lstStyle/>
          <a:p>
            <a:pPr algn="l"/>
            <a:r>
              <a:rPr sz="1050" b="1" i="0" u="none">
                <a:solidFill>
                  <a:srgbClr val="64748B"/>
                </a:solidFill>
                <a:latin typeface="Plus Jakarta Sans"/>
              </a:rPr>
              <a:t>Nearby Lots &amp; Slot Availability</a:t>
            </a:r>
            <a:endParaRPr sz="1050" b="1" i="0" u="none">
              <a:solidFill>
                <a:srgbClr val="64748B"/>
              </a:solidFill>
              <a:latin typeface="Plus Jakarta Sans"/>
            </a:endParaRPr>
          </a:p>
        </p:txBody>
      </p:sp>
      <p:sp>
        <p:nvSpPr>
          <p:cNvPr id="19" name="TextBox 18"/>
          <p:cNvSpPr txBox="1"/>
          <p:nvPr/>
        </p:nvSpPr>
        <p:spPr>
          <a:xfrm>
            <a:off x="609600" y="1545325"/>
            <a:ext cx="6000750" cy="361950"/>
          </a:xfrm>
          <a:prstGeom prst="rect">
            <a:avLst/>
          </a:prstGeom>
          <a:noFill/>
        </p:spPr>
        <p:txBody>
          <a:bodyPr wrap="none" lIns="0" tIns="0" rIns="0" bIns="0" anchor="t">
            <a:spAutoFit/>
          </a:bodyPr>
          <a:lstStyle/>
          <a:p>
            <a:pPr algn="l"/>
            <a:r>
              <a:rPr sz="2250" b="1" i="0" u="none">
                <a:solidFill>
                  <a:srgbClr val="0F172A"/>
                </a:solidFill>
                <a:latin typeface="Plus Jakarta Sans"/>
              </a:rPr>
              <a:t>Location &amp; Parking Search</a:t>
            </a:r>
            <a:endParaRPr sz="2250" b="1" i="0" u="none">
              <a:solidFill>
                <a:srgbClr val="0F172A"/>
              </a:solidFill>
              <a:latin typeface="Plus Jakarta Sans"/>
            </a:endParaRPr>
          </a:p>
        </p:txBody>
      </p:sp>
      <p:sp>
        <p:nvSpPr>
          <p:cNvPr id="20" name="TextBox 19"/>
          <p:cNvSpPr txBox="1"/>
          <p:nvPr/>
        </p:nvSpPr>
        <p:spPr>
          <a:xfrm>
            <a:off x="609600" y="2438400"/>
            <a:ext cx="11582400" cy="152400"/>
          </a:xfrm>
          <a:prstGeom prst="rect">
            <a:avLst/>
          </a:prstGeom>
          <a:noFill/>
        </p:spPr>
        <p:txBody>
          <a:bodyPr wrap="none" lIns="0" tIns="0" rIns="0" bIns="0" anchor="t">
            <a:spAutoFit/>
          </a:bodyPr>
          <a:lstStyle/>
          <a:p>
            <a:pPr algn="l"/>
            <a:r>
              <a:rPr sz="975" b="1" i="0" u="none">
                <a:solidFill>
                  <a:srgbClr val="475569"/>
                </a:solidFill>
                <a:latin typeface="Plus Jakarta Sans"/>
              </a:rPr>
              <a:t>OPERATIONAL WORKFLOW (5 STAGES)</a:t>
            </a:r>
            <a:endParaRPr sz="975" b="1" i="0" u="none">
              <a:solidFill>
                <a:srgbClr val="475569"/>
              </a:solidFill>
              <a:latin typeface="Plus Jakarta Sans"/>
            </a:endParaRPr>
          </a:p>
        </p:txBody>
      </p:sp>
      <p:sp>
        <p:nvSpPr>
          <p:cNvPr id="21" name="TextBox 20"/>
          <p:cNvSpPr txBox="1"/>
          <p:nvPr/>
        </p:nvSpPr>
        <p:spPr>
          <a:xfrm>
            <a:off x="809625" y="3990975"/>
            <a:ext cx="6793073" cy="142875"/>
          </a:xfrm>
          <a:prstGeom prst="rect">
            <a:avLst/>
          </a:prstGeom>
          <a:noFill/>
        </p:spPr>
        <p:txBody>
          <a:bodyPr wrap="none" lIns="0" tIns="0" rIns="0" bIns="0" anchor="t">
            <a:spAutoFit/>
          </a:bodyPr>
          <a:lstStyle/>
          <a:p>
            <a:pPr algn="l"/>
            <a:r>
              <a:rPr sz="900" b="1" i="0" u="none">
                <a:solidFill>
                  <a:srgbClr val="2563EB"/>
                </a:solidFill>
                <a:latin typeface="Plus Jakarta Sans"/>
              </a:rPr>
              <a:t>DATA SCHEMA &amp; ENTITIES</a:t>
            </a:r>
            <a:endParaRPr sz="900" b="1" i="0" u="none">
              <a:solidFill>
                <a:srgbClr val="2563EB"/>
              </a:solidFill>
              <a:latin typeface="Plus Jakarta Sans"/>
            </a:endParaRPr>
          </a:p>
        </p:txBody>
      </p:sp>
      <p:sp>
        <p:nvSpPr>
          <p:cNvPr id="22" name="TextBox 21"/>
          <p:cNvSpPr txBox="1"/>
          <p:nvPr/>
        </p:nvSpPr>
        <p:spPr>
          <a:xfrm>
            <a:off x="6863208" y="3981450"/>
            <a:ext cx="5328791" cy="142875"/>
          </a:xfrm>
          <a:prstGeom prst="rect">
            <a:avLst/>
          </a:prstGeom>
          <a:noFill/>
        </p:spPr>
        <p:txBody>
          <a:bodyPr wrap="none" lIns="0" tIns="0" rIns="0" bIns="0" anchor="t">
            <a:spAutoFit/>
          </a:bodyPr>
          <a:lstStyle/>
          <a:p>
            <a:pPr algn="l"/>
            <a:r>
              <a:rPr sz="900" b="1" i="0" u="none">
                <a:solidFill>
                  <a:srgbClr val="2563EB"/>
                </a:solidFill>
                <a:latin typeface="Plus Jakarta Sans"/>
              </a:rPr>
              <a:t>MONITORED SUCCESS INDICATORS</a:t>
            </a:r>
            <a:endParaRPr sz="900" b="1" i="0" u="none">
              <a:solidFill>
                <a:srgbClr val="2563EB"/>
              </a:solidFill>
              <a:latin typeface="Plus Jakarta Sans"/>
            </a:endParaRPr>
          </a:p>
        </p:txBody>
      </p:sp>
      <p:sp>
        <p:nvSpPr>
          <p:cNvPr id="23" name="TextBox 22"/>
          <p:cNvSpPr txBox="1"/>
          <p:nvPr/>
        </p:nvSpPr>
        <p:spPr>
          <a:xfrm>
            <a:off x="771525" y="2847975"/>
            <a:ext cx="2224050" cy="219075"/>
          </a:xfrm>
          <a:prstGeom prst="rect">
            <a:avLst/>
          </a:prstGeom>
          <a:noFill/>
        </p:spPr>
        <p:txBody>
          <a:bodyPr wrap="none" lIns="0" tIns="0" rIns="0" bIns="0" anchor="t">
            <a:spAutoFit/>
          </a:bodyPr>
          <a:lstStyle/>
          <a:p>
            <a:pPr algn="l"/>
            <a:r>
              <a:rPr sz="1350" b="1" i="0" u="none">
                <a:solidFill>
                  <a:srgbClr val="2563EB"/>
                </a:solidFill>
                <a:latin typeface="Plus Jakarta Sans"/>
              </a:rPr>
              <a:t>01</a:t>
            </a:r>
            <a:endParaRPr sz="1350" b="1" i="0" u="none">
              <a:solidFill>
                <a:srgbClr val="2563EB"/>
              </a:solidFill>
              <a:latin typeface="Plus Jakarta Sans"/>
            </a:endParaRPr>
          </a:p>
        </p:txBody>
      </p:sp>
      <p:sp>
        <p:nvSpPr>
          <p:cNvPr id="24" name="TextBox 23"/>
          <p:cNvSpPr txBox="1"/>
          <p:nvPr/>
        </p:nvSpPr>
        <p:spPr>
          <a:xfrm>
            <a:off x="77152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Detect Location</a:t>
            </a:r>
            <a:endParaRPr sz="1050" b="1" i="0" u="none">
              <a:solidFill>
                <a:srgbClr val="0F172A"/>
              </a:solidFill>
              <a:latin typeface="Plus Jakarta Sans"/>
            </a:endParaRPr>
          </a:p>
        </p:txBody>
      </p:sp>
      <p:sp>
        <p:nvSpPr>
          <p:cNvPr id="25" name="TextBox 24"/>
          <p:cNvSpPr txBox="1"/>
          <p:nvPr/>
        </p:nvSpPr>
        <p:spPr>
          <a:xfrm>
            <a:off x="77152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Get GPS fix</a:t>
            </a:r>
            <a:endParaRPr sz="900" b="0" i="0" u="none">
              <a:solidFill>
                <a:srgbClr val="64748B"/>
              </a:solidFill>
              <a:latin typeface="Plus Jakarta Sans"/>
            </a:endParaRPr>
          </a:p>
        </p:txBody>
      </p:sp>
      <p:sp>
        <p:nvSpPr>
          <p:cNvPr id="26" name="TextBox 25"/>
          <p:cNvSpPr txBox="1"/>
          <p:nvPr/>
        </p:nvSpPr>
        <p:spPr>
          <a:xfrm>
            <a:off x="2988915" y="2847975"/>
            <a:ext cx="2224050" cy="219075"/>
          </a:xfrm>
          <a:prstGeom prst="rect">
            <a:avLst/>
          </a:prstGeom>
          <a:noFill/>
        </p:spPr>
        <p:txBody>
          <a:bodyPr wrap="none" lIns="0" tIns="0" rIns="0" bIns="0" anchor="t">
            <a:spAutoFit/>
          </a:bodyPr>
          <a:lstStyle/>
          <a:p>
            <a:pPr algn="l"/>
            <a:r>
              <a:rPr sz="1350" b="1" i="0" u="none">
                <a:solidFill>
                  <a:srgbClr val="2563EB"/>
                </a:solidFill>
                <a:latin typeface="Plus Jakarta Sans"/>
              </a:rPr>
              <a:t>02</a:t>
            </a:r>
            <a:endParaRPr sz="1350" b="1" i="0" u="none">
              <a:solidFill>
                <a:srgbClr val="2563EB"/>
              </a:solidFill>
              <a:latin typeface="Plus Jakarta Sans"/>
            </a:endParaRPr>
          </a:p>
        </p:txBody>
      </p:sp>
      <p:sp>
        <p:nvSpPr>
          <p:cNvPr id="27" name="TextBox 26"/>
          <p:cNvSpPr txBox="1"/>
          <p:nvPr/>
        </p:nvSpPr>
        <p:spPr>
          <a:xfrm>
            <a:off x="298891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Search Parking</a:t>
            </a:r>
            <a:endParaRPr sz="1050" b="1" i="0" u="none">
              <a:solidFill>
                <a:srgbClr val="0F172A"/>
              </a:solidFill>
              <a:latin typeface="Plus Jakarta Sans"/>
            </a:endParaRPr>
          </a:p>
        </p:txBody>
      </p:sp>
      <p:sp>
        <p:nvSpPr>
          <p:cNvPr id="28" name="TextBox 27"/>
          <p:cNvSpPr txBox="1"/>
          <p:nvPr/>
        </p:nvSpPr>
        <p:spPr>
          <a:xfrm>
            <a:off x="298891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Find nearby lots</a:t>
            </a:r>
            <a:endParaRPr sz="900" b="0" i="0" u="none">
              <a:solidFill>
                <a:srgbClr val="64748B"/>
              </a:solidFill>
              <a:latin typeface="Plus Jakarta Sans"/>
            </a:endParaRPr>
          </a:p>
        </p:txBody>
      </p:sp>
      <p:sp>
        <p:nvSpPr>
          <p:cNvPr id="29" name="TextBox 28"/>
          <p:cNvSpPr txBox="1"/>
          <p:nvPr/>
        </p:nvSpPr>
        <p:spPr>
          <a:xfrm>
            <a:off x="5206305" y="2847975"/>
            <a:ext cx="2224050" cy="219075"/>
          </a:xfrm>
          <a:prstGeom prst="rect">
            <a:avLst/>
          </a:prstGeom>
          <a:noFill/>
        </p:spPr>
        <p:txBody>
          <a:bodyPr wrap="none" lIns="0" tIns="0" rIns="0" bIns="0" anchor="t">
            <a:spAutoFit/>
          </a:bodyPr>
          <a:lstStyle/>
          <a:p>
            <a:pPr algn="l"/>
            <a:r>
              <a:rPr sz="1350" b="1" i="0" u="none">
                <a:solidFill>
                  <a:srgbClr val="2563EB"/>
                </a:solidFill>
                <a:latin typeface="Plus Jakarta Sans"/>
              </a:rPr>
              <a:t>03</a:t>
            </a:r>
            <a:endParaRPr sz="1350" b="1" i="0" u="none">
              <a:solidFill>
                <a:srgbClr val="2563EB"/>
              </a:solidFill>
              <a:latin typeface="Plus Jakarta Sans"/>
            </a:endParaRPr>
          </a:p>
        </p:txBody>
      </p:sp>
      <p:sp>
        <p:nvSpPr>
          <p:cNvPr id="30" name="TextBox 29"/>
          <p:cNvSpPr txBox="1"/>
          <p:nvPr/>
        </p:nvSpPr>
        <p:spPr>
          <a:xfrm>
            <a:off x="520630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Filter Results</a:t>
            </a:r>
            <a:endParaRPr sz="1050" b="1" i="0" u="none">
              <a:solidFill>
                <a:srgbClr val="0F172A"/>
              </a:solidFill>
              <a:latin typeface="Plus Jakarta Sans"/>
            </a:endParaRPr>
          </a:p>
        </p:txBody>
      </p:sp>
      <p:sp>
        <p:nvSpPr>
          <p:cNvPr id="31" name="TextBox 30"/>
          <p:cNvSpPr txBox="1"/>
          <p:nvPr/>
        </p:nvSpPr>
        <p:spPr>
          <a:xfrm>
            <a:off x="520630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Distance &amp; price</a:t>
            </a:r>
            <a:endParaRPr sz="900" b="0" i="0" u="none">
              <a:solidFill>
                <a:srgbClr val="64748B"/>
              </a:solidFill>
              <a:latin typeface="Plus Jakarta Sans"/>
            </a:endParaRPr>
          </a:p>
        </p:txBody>
      </p:sp>
      <p:sp>
        <p:nvSpPr>
          <p:cNvPr id="32" name="TextBox 31"/>
          <p:cNvSpPr txBox="1"/>
          <p:nvPr/>
        </p:nvSpPr>
        <p:spPr>
          <a:xfrm>
            <a:off x="7423695" y="2847975"/>
            <a:ext cx="2224050" cy="219075"/>
          </a:xfrm>
          <a:prstGeom prst="rect">
            <a:avLst/>
          </a:prstGeom>
          <a:noFill/>
        </p:spPr>
        <p:txBody>
          <a:bodyPr wrap="none" lIns="0" tIns="0" rIns="0" bIns="0" anchor="t">
            <a:spAutoFit/>
          </a:bodyPr>
          <a:lstStyle/>
          <a:p>
            <a:pPr algn="l"/>
            <a:r>
              <a:rPr sz="1350" b="1" i="0" u="none">
                <a:solidFill>
                  <a:srgbClr val="2563EB"/>
                </a:solidFill>
                <a:latin typeface="Plus Jakarta Sans"/>
              </a:rPr>
              <a:t>04</a:t>
            </a:r>
            <a:endParaRPr sz="1350" b="1" i="0" u="none">
              <a:solidFill>
                <a:srgbClr val="2563EB"/>
              </a:solidFill>
              <a:latin typeface="Plus Jakarta Sans"/>
            </a:endParaRPr>
          </a:p>
        </p:txBody>
      </p:sp>
      <p:sp>
        <p:nvSpPr>
          <p:cNvPr id="33" name="TextBox 32"/>
          <p:cNvSpPr txBox="1"/>
          <p:nvPr/>
        </p:nvSpPr>
        <p:spPr>
          <a:xfrm>
            <a:off x="742369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View Details</a:t>
            </a:r>
            <a:endParaRPr sz="1050" b="1" i="0" u="none">
              <a:solidFill>
                <a:srgbClr val="0F172A"/>
              </a:solidFill>
              <a:latin typeface="Plus Jakarta Sans"/>
            </a:endParaRPr>
          </a:p>
        </p:txBody>
      </p:sp>
      <p:sp>
        <p:nvSpPr>
          <p:cNvPr id="34" name="TextBox 33"/>
          <p:cNvSpPr txBox="1"/>
          <p:nvPr/>
        </p:nvSpPr>
        <p:spPr>
          <a:xfrm>
            <a:off x="742369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Rates &amp; facilities</a:t>
            </a:r>
            <a:endParaRPr sz="900" b="0" i="0" u="none">
              <a:solidFill>
                <a:srgbClr val="64748B"/>
              </a:solidFill>
              <a:latin typeface="Plus Jakarta Sans"/>
            </a:endParaRPr>
          </a:p>
        </p:txBody>
      </p:sp>
      <p:sp>
        <p:nvSpPr>
          <p:cNvPr id="35" name="TextBox 34"/>
          <p:cNvSpPr txBox="1"/>
          <p:nvPr/>
        </p:nvSpPr>
        <p:spPr>
          <a:xfrm>
            <a:off x="9641085" y="2847975"/>
            <a:ext cx="2224050" cy="219075"/>
          </a:xfrm>
          <a:prstGeom prst="rect">
            <a:avLst/>
          </a:prstGeom>
          <a:noFill/>
        </p:spPr>
        <p:txBody>
          <a:bodyPr wrap="none" lIns="0" tIns="0" rIns="0" bIns="0" anchor="t">
            <a:spAutoFit/>
          </a:bodyPr>
          <a:lstStyle/>
          <a:p>
            <a:pPr algn="l"/>
            <a:r>
              <a:rPr sz="1350" b="1" i="0" u="none">
                <a:solidFill>
                  <a:srgbClr val="2563EB"/>
                </a:solidFill>
                <a:latin typeface="Plus Jakarta Sans"/>
              </a:rPr>
              <a:t>05</a:t>
            </a:r>
            <a:endParaRPr sz="1350" b="1" i="0" u="none">
              <a:solidFill>
                <a:srgbClr val="2563EB"/>
              </a:solidFill>
              <a:latin typeface="Plus Jakarta Sans"/>
            </a:endParaRPr>
          </a:p>
        </p:txBody>
      </p:sp>
      <p:sp>
        <p:nvSpPr>
          <p:cNvPr id="36" name="TextBox 35"/>
          <p:cNvSpPr txBox="1"/>
          <p:nvPr/>
        </p:nvSpPr>
        <p:spPr>
          <a:xfrm>
            <a:off x="964108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Check Slots</a:t>
            </a:r>
            <a:endParaRPr sz="1050" b="1" i="0" u="none">
              <a:solidFill>
                <a:srgbClr val="0F172A"/>
              </a:solidFill>
              <a:latin typeface="Plus Jakarta Sans"/>
            </a:endParaRPr>
          </a:p>
        </p:txBody>
      </p:sp>
      <p:sp>
        <p:nvSpPr>
          <p:cNvPr id="37" name="TextBox 36"/>
          <p:cNvSpPr txBox="1"/>
          <p:nvPr/>
        </p:nvSpPr>
        <p:spPr>
          <a:xfrm>
            <a:off x="964108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Live availability</a:t>
            </a:r>
            <a:endParaRPr sz="900" b="0" i="0" u="none">
              <a:solidFill>
                <a:srgbClr val="64748B"/>
              </a:solidFill>
              <a:latin typeface="Plus Jakarta Sans"/>
            </a:endParaRPr>
          </a:p>
        </p:txBody>
      </p:sp>
      <p:sp>
        <p:nvSpPr>
          <p:cNvPr id="38" name="TextBox 37"/>
          <p:cNvSpPr txBox="1"/>
          <p:nvPr/>
        </p:nvSpPr>
        <p:spPr>
          <a:xfrm>
            <a:off x="6863208" y="42005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Location Detected:</a:t>
            </a:r>
            <a:r>
              <a:rPr sz="975" b="0" i="0" u="none">
                <a:solidFill>
                  <a:srgbClr val="334155"/>
                </a:solidFill>
                <a:latin typeface="Plus Jakarta Sans"/>
              </a:rPr>
              <a:t> Accurate GPS fix on app launch</a:t>
            </a:r>
            <a:endParaRPr sz="975" b="0" i="0" u="none">
              <a:solidFill>
                <a:srgbClr val="334155"/>
              </a:solidFill>
              <a:latin typeface="Plus Jakarta Sans"/>
            </a:endParaRPr>
          </a:p>
        </p:txBody>
      </p:sp>
      <p:sp>
        <p:nvSpPr>
          <p:cNvPr id="39" name="TextBox 38"/>
          <p:cNvSpPr txBox="1"/>
          <p:nvPr/>
        </p:nvSpPr>
        <p:spPr>
          <a:xfrm>
            <a:off x="6863208" y="44291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Nearby Lots Listed:</a:t>
            </a:r>
            <a:r>
              <a:rPr sz="975" b="0" i="0" u="none">
                <a:solidFill>
                  <a:srgbClr val="334155"/>
                </a:solidFill>
                <a:latin typeface="Plus Jakarta Sans"/>
              </a:rPr>
              <a:t> Sorted by distance and price</a:t>
            </a:r>
            <a:endParaRPr sz="975" b="0" i="0" u="none">
              <a:solidFill>
                <a:srgbClr val="334155"/>
              </a:solidFill>
              <a:latin typeface="Plus Jakarta Sans"/>
            </a:endParaRPr>
          </a:p>
        </p:txBody>
      </p:sp>
      <p:sp>
        <p:nvSpPr>
          <p:cNvPr id="40" name="TextBox 39"/>
          <p:cNvSpPr txBox="1"/>
          <p:nvPr/>
        </p:nvSpPr>
        <p:spPr>
          <a:xfrm>
            <a:off x="6863208" y="46577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Details Displayed:</a:t>
            </a:r>
            <a:r>
              <a:rPr sz="975" b="0" i="0" u="none">
                <a:solidFill>
                  <a:srgbClr val="334155"/>
                </a:solidFill>
                <a:latin typeface="Plus Jakarta Sans"/>
              </a:rPr>
              <a:t> Rates, timings, and facilities</a:t>
            </a:r>
            <a:endParaRPr sz="975" b="0" i="0" u="none">
              <a:solidFill>
                <a:srgbClr val="334155"/>
              </a:solidFill>
              <a:latin typeface="Plus Jakarta Sans"/>
            </a:endParaRPr>
          </a:p>
        </p:txBody>
      </p:sp>
      <p:sp>
        <p:nvSpPr>
          <p:cNvPr id="41" name="TextBox 40"/>
          <p:cNvSpPr txBox="1"/>
          <p:nvPr/>
        </p:nvSpPr>
        <p:spPr>
          <a:xfrm>
            <a:off x="6863208" y="48863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Slots Available:</a:t>
            </a:r>
            <a:r>
              <a:rPr sz="975" b="0" i="0" u="none">
                <a:solidFill>
                  <a:srgbClr val="334155"/>
                </a:solidFill>
                <a:latin typeface="Plus Jakarta Sans"/>
              </a:rPr>
              <a:t> Real-time free-slot counts per lot</a:t>
            </a:r>
            <a:endParaRPr sz="975" b="0" i="0" u="none">
              <a:solidFill>
                <a:srgbClr val="334155"/>
              </a:solidFill>
              <a:latin typeface="Plus Jakarta Sans"/>
            </a:endParaRPr>
          </a:p>
        </p:txBody>
      </p:sp>
      <p:sp>
        <p:nvSpPr>
          <p:cNvPr id="42" name="TextBox 41"/>
          <p:cNvSpPr txBox="1"/>
          <p:nvPr/>
        </p:nvSpPr>
        <p:spPr>
          <a:xfrm>
            <a:off x="914400" y="4295775"/>
            <a:ext cx="1009650" cy="152400"/>
          </a:xfrm>
          <a:prstGeom prst="rect">
            <a:avLst/>
          </a:prstGeom>
          <a:noFill/>
        </p:spPr>
        <p:txBody>
          <a:bodyPr wrap="none" lIns="0" tIns="0" rIns="0" bIns="0" anchor="t">
            <a:spAutoFit/>
          </a:bodyPr>
          <a:lstStyle/>
          <a:p>
            <a:pPr algn="l"/>
            <a:r>
              <a:rPr sz="975" b="1" i="0" u="none">
                <a:solidFill>
                  <a:srgbClr val="0F172A"/>
                </a:solidFill>
                <a:latin typeface="Plus Jakarta Sans"/>
              </a:rPr>
              <a:t>Location:</a:t>
            </a:r>
            <a:endParaRPr sz="975" b="1" i="0" u="none">
              <a:solidFill>
                <a:srgbClr val="0F172A"/>
              </a:solidFill>
              <a:latin typeface="Plus Jakarta Sans"/>
            </a:endParaRPr>
          </a:p>
        </p:txBody>
      </p:sp>
      <p:sp>
        <p:nvSpPr>
          <p:cNvPr id="43" name="TextBox 42"/>
          <p:cNvSpPr txBox="1"/>
          <p:nvPr/>
        </p:nvSpPr>
        <p:spPr>
          <a:xfrm>
            <a:off x="4186683" y="4295775"/>
            <a:ext cx="2440781" cy="152400"/>
          </a:xfrm>
          <a:prstGeom prst="rect">
            <a:avLst/>
          </a:prstGeom>
          <a:noFill/>
        </p:spPr>
        <p:txBody>
          <a:bodyPr wrap="none" lIns="0" tIns="0" rIns="0" bIns="0" anchor="t">
            <a:spAutoFit/>
          </a:bodyPr>
          <a:lstStyle/>
          <a:p>
            <a:pPr algn="l"/>
            <a:r>
              <a:rPr sz="975" b="0" i="0" u="none">
                <a:solidFill>
                  <a:srgbClr val="64748B"/>
                </a:solidFill>
                <a:latin typeface="Plus Jakarta Sans"/>
              </a:rPr>
              <a:t>Latitude, Longitude, Radius</a:t>
            </a:r>
            <a:endParaRPr sz="975" b="0" i="0" u="none">
              <a:solidFill>
                <a:srgbClr val="64748B"/>
              </a:solidFill>
              <a:latin typeface="Plus Jakarta Sans"/>
            </a:endParaRPr>
          </a:p>
        </p:txBody>
      </p:sp>
      <p:sp>
        <p:nvSpPr>
          <p:cNvPr id="44" name="TextBox 43"/>
          <p:cNvSpPr txBox="1"/>
          <p:nvPr/>
        </p:nvSpPr>
        <p:spPr>
          <a:xfrm>
            <a:off x="914400" y="4638675"/>
            <a:ext cx="1314450" cy="152400"/>
          </a:xfrm>
          <a:prstGeom prst="rect">
            <a:avLst/>
          </a:prstGeom>
          <a:noFill/>
        </p:spPr>
        <p:txBody>
          <a:bodyPr wrap="none" lIns="0" tIns="0" rIns="0" bIns="0" anchor="t">
            <a:spAutoFit/>
          </a:bodyPr>
          <a:lstStyle/>
          <a:p>
            <a:pPr algn="l"/>
            <a:r>
              <a:rPr sz="975" b="1" i="0" u="none">
                <a:solidFill>
                  <a:srgbClr val="0F172A"/>
                </a:solidFill>
                <a:latin typeface="Plus Jakarta Sans"/>
              </a:rPr>
              <a:t>Parking Lot:</a:t>
            </a:r>
            <a:endParaRPr sz="975" b="1" i="0" u="none">
              <a:solidFill>
                <a:srgbClr val="0F172A"/>
              </a:solidFill>
              <a:latin typeface="Plus Jakarta Sans"/>
            </a:endParaRPr>
          </a:p>
        </p:txBody>
      </p:sp>
      <p:sp>
        <p:nvSpPr>
          <p:cNvPr id="45" name="TextBox 44"/>
          <p:cNvSpPr txBox="1"/>
          <p:nvPr/>
        </p:nvSpPr>
        <p:spPr>
          <a:xfrm>
            <a:off x="4205733" y="4638675"/>
            <a:ext cx="2416968" cy="152400"/>
          </a:xfrm>
          <a:prstGeom prst="rect">
            <a:avLst/>
          </a:prstGeom>
          <a:noFill/>
        </p:spPr>
        <p:txBody>
          <a:bodyPr wrap="none" lIns="0" tIns="0" rIns="0" bIns="0" anchor="t">
            <a:spAutoFit/>
          </a:bodyPr>
          <a:lstStyle/>
          <a:p>
            <a:pPr algn="l"/>
            <a:r>
              <a:rPr sz="975" b="0" i="0" u="none">
                <a:solidFill>
                  <a:srgbClr val="64748B"/>
                </a:solidFill>
                <a:latin typeface="Plus Jakarta Sans"/>
              </a:rPr>
              <a:t>Lot ID, Name, Hourly Rate</a:t>
            </a:r>
            <a:endParaRPr sz="975" b="0" i="0" u="none">
              <a:solidFill>
                <a:srgbClr val="64748B"/>
              </a:solidFill>
              <a:latin typeface="Plus Jakarta Sans"/>
            </a:endParaRPr>
          </a:p>
        </p:txBody>
      </p:sp>
      <p:sp>
        <p:nvSpPr>
          <p:cNvPr id="46" name="TextBox 45"/>
          <p:cNvSpPr txBox="1"/>
          <p:nvPr/>
        </p:nvSpPr>
        <p:spPr>
          <a:xfrm>
            <a:off x="914400" y="4981575"/>
            <a:ext cx="1362075" cy="152400"/>
          </a:xfrm>
          <a:prstGeom prst="rect">
            <a:avLst/>
          </a:prstGeom>
          <a:noFill/>
        </p:spPr>
        <p:txBody>
          <a:bodyPr wrap="none" lIns="0" tIns="0" rIns="0" bIns="0" anchor="t">
            <a:spAutoFit/>
          </a:bodyPr>
          <a:lstStyle/>
          <a:p>
            <a:pPr algn="l"/>
            <a:r>
              <a:rPr sz="975" b="1" i="0" u="none">
                <a:solidFill>
                  <a:srgbClr val="0F172A"/>
                </a:solidFill>
                <a:latin typeface="Plus Jakarta Sans"/>
              </a:rPr>
              <a:t>Availability:</a:t>
            </a:r>
            <a:endParaRPr sz="975" b="1" i="0" u="none">
              <a:solidFill>
                <a:srgbClr val="0F172A"/>
              </a:solidFill>
              <a:latin typeface="Plus Jakarta Sans"/>
            </a:endParaRPr>
          </a:p>
        </p:txBody>
      </p:sp>
      <p:sp>
        <p:nvSpPr>
          <p:cNvPr id="47" name="TextBox 46"/>
          <p:cNvSpPr txBox="1"/>
          <p:nvPr/>
        </p:nvSpPr>
        <p:spPr>
          <a:xfrm>
            <a:off x="3148458" y="4981575"/>
            <a:ext cx="3738562" cy="152400"/>
          </a:xfrm>
          <a:prstGeom prst="rect">
            <a:avLst/>
          </a:prstGeom>
          <a:noFill/>
        </p:spPr>
        <p:txBody>
          <a:bodyPr wrap="none" lIns="0" tIns="0" rIns="0" bIns="0" anchor="t">
            <a:spAutoFit/>
          </a:bodyPr>
          <a:lstStyle/>
          <a:p>
            <a:pPr algn="l"/>
            <a:r>
              <a:rPr sz="975" b="0" i="0" u="none">
                <a:solidFill>
                  <a:srgbClr val="64748B"/>
                </a:solidFill>
                <a:latin typeface="Plus Jakarta Sans"/>
              </a:rPr>
              <a:t>Total Slots, Free Slots</a:t>
            </a:r>
            <a:endParaRPr sz="975" b="0" i="0" u="none">
              <a:solidFill>
                <a:srgbClr val="64748B"/>
              </a:solidFill>
              <a:latin typeface="Plus Jakarta Sans"/>
            </a:endParaRPr>
          </a:p>
        </p:txBody>
      </p:sp>
      <p:pic>
        <p:nvPicPr>
          <p:cNvPr id="48" name="SIMATS Header" descr="5b09ae4e-image.png"/>
          <p:cNvPicPr>
            <a:picLocks noChangeAspect="1"/>
          </p:cNvPicPr>
          <p:nvPr/>
        </p:nvPicPr>
        <p:blipFill>
          <a:blip r:embed="rId2"/>
          <a:stretch>
            <a:fillRect/>
          </a:stretch>
        </p:blipFill>
        <p:spPr>
          <a:xfrm>
            <a:off x="609600" y="80000"/>
            <a:ext cx="10300000" cy="10575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790950"/>
            <a:ext cx="5834508" cy="1609725"/>
          </a:xfrm>
          <a:prstGeom prst="roundRect">
            <a:avLst>
              <a:gd name="adj" fmla="val 71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34608" y="3790950"/>
            <a:ext cx="4947791" cy="1609725"/>
          </a:xfrm>
          <a:prstGeom prst="roundRect">
            <a:avLst>
              <a:gd name="adj" fmla="val 71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2699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4438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6177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7916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34608" y="3790950"/>
            <a:ext cx="38100" cy="16097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42291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625" y="45720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625" y="49149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1"/>
          <a:stretch>
            <a:fillRect/>
          </a:stretch>
        </p:blipFill>
        <p:spPr>
          <a:xfrm>
            <a:off x="6863208" y="4214812"/>
            <a:ext cx="104775" cy="133350"/>
          </a:xfrm>
          <a:prstGeom prst="rect">
            <a:avLst/>
          </a:prstGeom>
        </p:spPr>
      </p:pic>
      <p:pic>
        <p:nvPicPr>
          <p:cNvPr id="14" name="Picture 13" descr="image.png"/>
          <p:cNvPicPr>
            <a:picLocks noChangeAspect="1"/>
          </p:cNvPicPr>
          <p:nvPr/>
        </p:nvPicPr>
        <p:blipFill>
          <a:blip r:embed="rId1"/>
          <a:stretch>
            <a:fillRect/>
          </a:stretch>
        </p:blipFill>
        <p:spPr>
          <a:xfrm>
            <a:off x="6863208" y="4443412"/>
            <a:ext cx="104775" cy="133350"/>
          </a:xfrm>
          <a:prstGeom prst="rect">
            <a:avLst/>
          </a:prstGeom>
        </p:spPr>
      </p:pic>
      <p:pic>
        <p:nvPicPr>
          <p:cNvPr id="15" name="Picture 14" descr="image.png"/>
          <p:cNvPicPr>
            <a:picLocks noChangeAspect="1"/>
          </p:cNvPicPr>
          <p:nvPr/>
        </p:nvPicPr>
        <p:blipFill>
          <a:blip r:embed="rId1"/>
          <a:stretch>
            <a:fillRect/>
          </a:stretch>
        </p:blipFill>
        <p:spPr>
          <a:xfrm>
            <a:off x="6863208" y="4672012"/>
            <a:ext cx="104775" cy="133350"/>
          </a:xfrm>
          <a:prstGeom prst="rect">
            <a:avLst/>
          </a:prstGeom>
        </p:spPr>
      </p:pic>
      <p:pic>
        <p:nvPicPr>
          <p:cNvPr id="16" name="Picture 15" descr="image.png"/>
          <p:cNvPicPr>
            <a:picLocks noChangeAspect="1"/>
          </p:cNvPicPr>
          <p:nvPr/>
        </p:nvPicPr>
        <p:blipFill>
          <a:blip r:embed="rId1"/>
          <a:stretch>
            <a:fillRect/>
          </a:stretch>
        </p:blipFill>
        <p:spPr>
          <a:xfrm>
            <a:off x="6863208" y="4900612"/>
            <a:ext cx="104775" cy="133350"/>
          </a:xfrm>
          <a:prstGeom prst="rect">
            <a:avLst/>
          </a:prstGeom>
        </p:spPr>
      </p:pic>
      <p:sp>
        <p:nvSpPr>
          <p:cNvPr id="17" name="TextBox 16"/>
          <p:cNvSpPr txBox="1"/>
          <p:nvPr/>
        </p:nvSpPr>
        <p:spPr>
          <a:xfrm>
            <a:off x="609600" y="1307200"/>
            <a:ext cx="5534025" cy="600075"/>
          </a:xfrm>
          <a:prstGeom prst="rect">
            <a:avLst/>
          </a:prstGeom>
          <a:noFill/>
        </p:spPr>
        <p:txBody>
          <a:bodyPr wrap="square" lIns="0" tIns="0" rIns="0" bIns="0" anchor="t">
            <a:spAutoFit/>
          </a:bodyPr>
          <a:lstStyle/>
          <a:p>
            <a:pPr algn="l"/>
            <a:r>
              <a:rPr sz="975" b="1" i="0" u="none">
                <a:solidFill>
                  <a:srgbClr val="059669"/>
                </a:solidFill>
                <a:latin typeface="Plus Jakarta Sans"/>
              </a:rPr>
              <a:t>Module 03</a:t>
            </a:r>
            <a:endParaRPr sz="975" b="1" i="0" u="none">
              <a:solidFill>
                <a:srgbClr val="059669"/>
              </a:solidFill>
              <a:latin typeface="Plus Jakarta Sans"/>
            </a:endParaRPr>
          </a:p>
        </p:txBody>
      </p:sp>
      <p:sp>
        <p:nvSpPr>
          <p:cNvPr id="18" name="TextBox 17"/>
          <p:cNvSpPr txBox="1"/>
          <p:nvPr/>
        </p:nvSpPr>
        <p:spPr>
          <a:xfrm>
            <a:off x="9686925" y="1735825"/>
            <a:ext cx="2369343" cy="171450"/>
          </a:xfrm>
          <a:prstGeom prst="rect">
            <a:avLst/>
          </a:prstGeom>
          <a:noFill/>
        </p:spPr>
        <p:txBody>
          <a:bodyPr wrap="none" lIns="0" tIns="0" rIns="0" bIns="0" anchor="t">
            <a:spAutoFit/>
          </a:bodyPr>
          <a:lstStyle/>
          <a:p>
            <a:pPr algn="l"/>
            <a:r>
              <a:rPr sz="1050" b="1" i="0" u="none">
                <a:solidFill>
                  <a:srgbClr val="64748B"/>
                </a:solidFill>
                <a:latin typeface="Plus Jakarta Sans"/>
              </a:rPr>
              <a:t>Reservation &amp; Secure Checkout</a:t>
            </a:r>
            <a:endParaRPr sz="1050" b="1" i="0" u="none">
              <a:solidFill>
                <a:srgbClr val="64748B"/>
              </a:solidFill>
              <a:latin typeface="Plus Jakarta Sans"/>
            </a:endParaRPr>
          </a:p>
        </p:txBody>
      </p:sp>
      <p:sp>
        <p:nvSpPr>
          <p:cNvPr id="19" name="TextBox 18"/>
          <p:cNvSpPr txBox="1"/>
          <p:nvPr/>
        </p:nvSpPr>
        <p:spPr>
          <a:xfrm>
            <a:off x="609600" y="1545325"/>
            <a:ext cx="7138392" cy="361950"/>
          </a:xfrm>
          <a:prstGeom prst="rect">
            <a:avLst/>
          </a:prstGeom>
          <a:noFill/>
        </p:spPr>
        <p:txBody>
          <a:bodyPr wrap="none" lIns="0" tIns="0" rIns="0" bIns="0" anchor="t">
            <a:spAutoFit/>
          </a:bodyPr>
          <a:lstStyle/>
          <a:p>
            <a:pPr algn="l"/>
            <a:r>
              <a:rPr sz="2250" b="1" i="0" u="none">
                <a:solidFill>
                  <a:srgbClr val="0F172A"/>
                </a:solidFill>
                <a:latin typeface="Plus Jakarta Sans"/>
              </a:rPr>
              <a:t>Parking Booking &amp; Payment</a:t>
            </a:r>
            <a:endParaRPr sz="2250" b="1" i="0" u="none">
              <a:solidFill>
                <a:srgbClr val="0F172A"/>
              </a:solidFill>
              <a:latin typeface="Plus Jakarta Sans"/>
            </a:endParaRPr>
          </a:p>
        </p:txBody>
      </p:sp>
      <p:sp>
        <p:nvSpPr>
          <p:cNvPr id="20" name="TextBox 19"/>
          <p:cNvSpPr txBox="1"/>
          <p:nvPr/>
        </p:nvSpPr>
        <p:spPr>
          <a:xfrm>
            <a:off x="609600" y="2438400"/>
            <a:ext cx="11582400" cy="152400"/>
          </a:xfrm>
          <a:prstGeom prst="rect">
            <a:avLst/>
          </a:prstGeom>
          <a:noFill/>
        </p:spPr>
        <p:txBody>
          <a:bodyPr wrap="none" lIns="0" tIns="0" rIns="0" bIns="0" anchor="t">
            <a:spAutoFit/>
          </a:bodyPr>
          <a:lstStyle/>
          <a:p>
            <a:pPr algn="l"/>
            <a:r>
              <a:rPr sz="975" b="1" i="0" u="none">
                <a:solidFill>
                  <a:srgbClr val="475569"/>
                </a:solidFill>
                <a:latin typeface="Plus Jakarta Sans"/>
              </a:rPr>
              <a:t>OPERATIONAL WORKFLOW (5 STAGES)</a:t>
            </a:r>
            <a:endParaRPr sz="975" b="1" i="0" u="none">
              <a:solidFill>
                <a:srgbClr val="475569"/>
              </a:solidFill>
              <a:latin typeface="Plus Jakarta Sans"/>
            </a:endParaRPr>
          </a:p>
        </p:txBody>
      </p:sp>
      <p:sp>
        <p:nvSpPr>
          <p:cNvPr id="21" name="TextBox 20"/>
          <p:cNvSpPr txBox="1"/>
          <p:nvPr/>
        </p:nvSpPr>
        <p:spPr>
          <a:xfrm>
            <a:off x="809625" y="3990975"/>
            <a:ext cx="6793073" cy="142875"/>
          </a:xfrm>
          <a:prstGeom prst="rect">
            <a:avLst/>
          </a:prstGeom>
          <a:noFill/>
        </p:spPr>
        <p:txBody>
          <a:bodyPr wrap="none" lIns="0" tIns="0" rIns="0" bIns="0" anchor="t">
            <a:spAutoFit/>
          </a:bodyPr>
          <a:lstStyle/>
          <a:p>
            <a:pPr algn="l"/>
            <a:r>
              <a:rPr sz="900" b="1" i="0" u="none">
                <a:solidFill>
                  <a:srgbClr val="059669"/>
                </a:solidFill>
                <a:latin typeface="Plus Jakarta Sans"/>
              </a:rPr>
              <a:t>DATA SCHEMA &amp; ENTITIES</a:t>
            </a:r>
            <a:endParaRPr sz="900" b="1" i="0" u="none">
              <a:solidFill>
                <a:srgbClr val="059669"/>
              </a:solidFill>
              <a:latin typeface="Plus Jakarta Sans"/>
            </a:endParaRPr>
          </a:p>
        </p:txBody>
      </p:sp>
      <p:sp>
        <p:nvSpPr>
          <p:cNvPr id="22" name="TextBox 21"/>
          <p:cNvSpPr txBox="1"/>
          <p:nvPr/>
        </p:nvSpPr>
        <p:spPr>
          <a:xfrm>
            <a:off x="6863208" y="3981450"/>
            <a:ext cx="5328791" cy="142875"/>
          </a:xfrm>
          <a:prstGeom prst="rect">
            <a:avLst/>
          </a:prstGeom>
          <a:noFill/>
        </p:spPr>
        <p:txBody>
          <a:bodyPr wrap="none" lIns="0" tIns="0" rIns="0" bIns="0" anchor="t">
            <a:spAutoFit/>
          </a:bodyPr>
          <a:lstStyle/>
          <a:p>
            <a:pPr algn="l"/>
            <a:r>
              <a:rPr sz="900" b="1" i="0" u="none">
                <a:solidFill>
                  <a:srgbClr val="059669"/>
                </a:solidFill>
                <a:latin typeface="Plus Jakarta Sans"/>
              </a:rPr>
              <a:t>MONITORED SUCCESS INDICATORS</a:t>
            </a:r>
            <a:endParaRPr sz="900" b="1" i="0" u="none">
              <a:solidFill>
                <a:srgbClr val="059669"/>
              </a:solidFill>
              <a:latin typeface="Plus Jakarta Sans"/>
            </a:endParaRPr>
          </a:p>
        </p:txBody>
      </p:sp>
      <p:sp>
        <p:nvSpPr>
          <p:cNvPr id="23" name="TextBox 22"/>
          <p:cNvSpPr txBox="1"/>
          <p:nvPr/>
        </p:nvSpPr>
        <p:spPr>
          <a:xfrm>
            <a:off x="771525" y="2847975"/>
            <a:ext cx="2224050" cy="219075"/>
          </a:xfrm>
          <a:prstGeom prst="rect">
            <a:avLst/>
          </a:prstGeom>
          <a:noFill/>
        </p:spPr>
        <p:txBody>
          <a:bodyPr wrap="none" lIns="0" tIns="0" rIns="0" bIns="0" anchor="t">
            <a:spAutoFit/>
          </a:bodyPr>
          <a:lstStyle/>
          <a:p>
            <a:pPr algn="l"/>
            <a:r>
              <a:rPr sz="1350" b="1" i="0" u="none">
                <a:solidFill>
                  <a:srgbClr val="059669"/>
                </a:solidFill>
                <a:latin typeface="Plus Jakarta Sans"/>
              </a:rPr>
              <a:t>01</a:t>
            </a:r>
            <a:endParaRPr sz="1350" b="1" i="0" u="none">
              <a:solidFill>
                <a:srgbClr val="059669"/>
              </a:solidFill>
              <a:latin typeface="Plus Jakarta Sans"/>
            </a:endParaRPr>
          </a:p>
        </p:txBody>
      </p:sp>
      <p:sp>
        <p:nvSpPr>
          <p:cNvPr id="24" name="TextBox 23"/>
          <p:cNvSpPr txBox="1"/>
          <p:nvPr/>
        </p:nvSpPr>
        <p:spPr>
          <a:xfrm>
            <a:off x="77152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Select Slot</a:t>
            </a:r>
            <a:endParaRPr sz="1050" b="1" i="0" u="none">
              <a:solidFill>
                <a:srgbClr val="0F172A"/>
              </a:solidFill>
              <a:latin typeface="Plus Jakarta Sans"/>
            </a:endParaRPr>
          </a:p>
        </p:txBody>
      </p:sp>
      <p:sp>
        <p:nvSpPr>
          <p:cNvPr id="25" name="TextBox 24"/>
          <p:cNvSpPr txBox="1"/>
          <p:nvPr/>
        </p:nvSpPr>
        <p:spPr>
          <a:xfrm>
            <a:off x="77152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Pick lot &amp; slot</a:t>
            </a:r>
            <a:endParaRPr sz="900" b="0" i="0" u="none">
              <a:solidFill>
                <a:srgbClr val="64748B"/>
              </a:solidFill>
              <a:latin typeface="Plus Jakarta Sans"/>
            </a:endParaRPr>
          </a:p>
        </p:txBody>
      </p:sp>
      <p:sp>
        <p:nvSpPr>
          <p:cNvPr id="26" name="TextBox 25"/>
          <p:cNvSpPr txBox="1"/>
          <p:nvPr/>
        </p:nvSpPr>
        <p:spPr>
          <a:xfrm>
            <a:off x="2988915" y="2847975"/>
            <a:ext cx="2224050" cy="219075"/>
          </a:xfrm>
          <a:prstGeom prst="rect">
            <a:avLst/>
          </a:prstGeom>
          <a:noFill/>
        </p:spPr>
        <p:txBody>
          <a:bodyPr wrap="none" lIns="0" tIns="0" rIns="0" bIns="0" anchor="t">
            <a:spAutoFit/>
          </a:bodyPr>
          <a:lstStyle/>
          <a:p>
            <a:pPr algn="l"/>
            <a:r>
              <a:rPr sz="1350" b="1" i="0" u="none">
                <a:solidFill>
                  <a:srgbClr val="059669"/>
                </a:solidFill>
                <a:latin typeface="Plus Jakarta Sans"/>
              </a:rPr>
              <a:t>02</a:t>
            </a:r>
            <a:endParaRPr sz="1350" b="1" i="0" u="none">
              <a:solidFill>
                <a:srgbClr val="059669"/>
              </a:solidFill>
              <a:latin typeface="Plus Jakarta Sans"/>
            </a:endParaRPr>
          </a:p>
        </p:txBody>
      </p:sp>
      <p:sp>
        <p:nvSpPr>
          <p:cNvPr id="27" name="TextBox 26"/>
          <p:cNvSpPr txBox="1"/>
          <p:nvPr/>
        </p:nvSpPr>
        <p:spPr>
          <a:xfrm>
            <a:off x="298891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Book Slot</a:t>
            </a:r>
            <a:endParaRPr sz="1050" b="1" i="0" u="none">
              <a:solidFill>
                <a:srgbClr val="0F172A"/>
              </a:solidFill>
              <a:latin typeface="Plus Jakarta Sans"/>
            </a:endParaRPr>
          </a:p>
        </p:txBody>
      </p:sp>
      <p:sp>
        <p:nvSpPr>
          <p:cNvPr id="28" name="TextBox 27"/>
          <p:cNvSpPr txBox="1"/>
          <p:nvPr/>
        </p:nvSpPr>
        <p:spPr>
          <a:xfrm>
            <a:off x="298891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Choose date &amp; time</a:t>
            </a:r>
            <a:endParaRPr sz="900" b="0" i="0" u="none">
              <a:solidFill>
                <a:srgbClr val="64748B"/>
              </a:solidFill>
              <a:latin typeface="Plus Jakarta Sans"/>
            </a:endParaRPr>
          </a:p>
        </p:txBody>
      </p:sp>
      <p:sp>
        <p:nvSpPr>
          <p:cNvPr id="29" name="TextBox 28"/>
          <p:cNvSpPr txBox="1"/>
          <p:nvPr/>
        </p:nvSpPr>
        <p:spPr>
          <a:xfrm>
            <a:off x="5206305" y="2847975"/>
            <a:ext cx="2224050" cy="219075"/>
          </a:xfrm>
          <a:prstGeom prst="rect">
            <a:avLst/>
          </a:prstGeom>
          <a:noFill/>
        </p:spPr>
        <p:txBody>
          <a:bodyPr wrap="none" lIns="0" tIns="0" rIns="0" bIns="0" anchor="t">
            <a:spAutoFit/>
          </a:bodyPr>
          <a:lstStyle/>
          <a:p>
            <a:pPr algn="l"/>
            <a:r>
              <a:rPr sz="1350" b="1" i="0" u="none">
                <a:solidFill>
                  <a:srgbClr val="059669"/>
                </a:solidFill>
                <a:latin typeface="Plus Jakarta Sans"/>
              </a:rPr>
              <a:t>03</a:t>
            </a:r>
            <a:endParaRPr sz="1350" b="1" i="0" u="none">
              <a:solidFill>
                <a:srgbClr val="059669"/>
              </a:solidFill>
              <a:latin typeface="Plus Jakarta Sans"/>
            </a:endParaRPr>
          </a:p>
        </p:txBody>
      </p:sp>
      <p:sp>
        <p:nvSpPr>
          <p:cNvPr id="30" name="TextBox 29"/>
          <p:cNvSpPr txBox="1"/>
          <p:nvPr/>
        </p:nvSpPr>
        <p:spPr>
          <a:xfrm>
            <a:off x="520630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Confirm Booking</a:t>
            </a:r>
            <a:endParaRPr sz="1050" b="1" i="0" u="none">
              <a:solidFill>
                <a:srgbClr val="0F172A"/>
              </a:solidFill>
              <a:latin typeface="Plus Jakarta Sans"/>
            </a:endParaRPr>
          </a:p>
        </p:txBody>
      </p:sp>
      <p:sp>
        <p:nvSpPr>
          <p:cNvPr id="31" name="TextBox 30"/>
          <p:cNvSpPr txBox="1"/>
          <p:nvPr/>
        </p:nvSpPr>
        <p:spPr>
          <a:xfrm>
            <a:off x="520630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Instant e-ticket</a:t>
            </a:r>
            <a:endParaRPr sz="900" b="0" i="0" u="none">
              <a:solidFill>
                <a:srgbClr val="64748B"/>
              </a:solidFill>
              <a:latin typeface="Plus Jakarta Sans"/>
            </a:endParaRPr>
          </a:p>
        </p:txBody>
      </p:sp>
      <p:sp>
        <p:nvSpPr>
          <p:cNvPr id="32" name="TextBox 31"/>
          <p:cNvSpPr txBox="1"/>
          <p:nvPr/>
        </p:nvSpPr>
        <p:spPr>
          <a:xfrm>
            <a:off x="7423695" y="2847975"/>
            <a:ext cx="2224050" cy="219075"/>
          </a:xfrm>
          <a:prstGeom prst="rect">
            <a:avLst/>
          </a:prstGeom>
          <a:noFill/>
        </p:spPr>
        <p:txBody>
          <a:bodyPr wrap="none" lIns="0" tIns="0" rIns="0" bIns="0" anchor="t">
            <a:spAutoFit/>
          </a:bodyPr>
          <a:lstStyle/>
          <a:p>
            <a:pPr algn="l"/>
            <a:r>
              <a:rPr sz="1350" b="1" i="0" u="none">
                <a:solidFill>
                  <a:srgbClr val="059669"/>
                </a:solidFill>
                <a:latin typeface="Plus Jakarta Sans"/>
              </a:rPr>
              <a:t>04</a:t>
            </a:r>
            <a:endParaRPr sz="1350" b="1" i="0" u="none">
              <a:solidFill>
                <a:srgbClr val="059669"/>
              </a:solidFill>
              <a:latin typeface="Plus Jakarta Sans"/>
            </a:endParaRPr>
          </a:p>
        </p:txBody>
      </p:sp>
      <p:sp>
        <p:nvSpPr>
          <p:cNvPr id="33" name="TextBox 32"/>
          <p:cNvSpPr txBox="1"/>
          <p:nvPr/>
        </p:nvSpPr>
        <p:spPr>
          <a:xfrm>
            <a:off x="742369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Make Payment</a:t>
            </a:r>
            <a:endParaRPr sz="1050" b="1" i="0" u="none">
              <a:solidFill>
                <a:srgbClr val="0F172A"/>
              </a:solidFill>
              <a:latin typeface="Plus Jakarta Sans"/>
            </a:endParaRPr>
          </a:p>
        </p:txBody>
      </p:sp>
      <p:sp>
        <p:nvSpPr>
          <p:cNvPr id="34" name="TextBox 33"/>
          <p:cNvSpPr txBox="1"/>
          <p:nvPr/>
        </p:nvSpPr>
        <p:spPr>
          <a:xfrm>
            <a:off x="742369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UPI, card, wallet</a:t>
            </a:r>
            <a:endParaRPr sz="900" b="0" i="0" u="none">
              <a:solidFill>
                <a:srgbClr val="64748B"/>
              </a:solidFill>
              <a:latin typeface="Plus Jakarta Sans"/>
            </a:endParaRPr>
          </a:p>
        </p:txBody>
      </p:sp>
      <p:sp>
        <p:nvSpPr>
          <p:cNvPr id="35" name="TextBox 34"/>
          <p:cNvSpPr txBox="1"/>
          <p:nvPr/>
        </p:nvSpPr>
        <p:spPr>
          <a:xfrm>
            <a:off x="9641085" y="2847975"/>
            <a:ext cx="2224050" cy="219075"/>
          </a:xfrm>
          <a:prstGeom prst="rect">
            <a:avLst/>
          </a:prstGeom>
          <a:noFill/>
        </p:spPr>
        <p:txBody>
          <a:bodyPr wrap="none" lIns="0" tIns="0" rIns="0" bIns="0" anchor="t">
            <a:spAutoFit/>
          </a:bodyPr>
          <a:lstStyle/>
          <a:p>
            <a:pPr algn="l"/>
            <a:r>
              <a:rPr sz="1350" b="1" i="0" u="none">
                <a:solidFill>
                  <a:srgbClr val="059669"/>
                </a:solidFill>
                <a:latin typeface="Plus Jakarta Sans"/>
              </a:rPr>
              <a:t>05</a:t>
            </a:r>
            <a:endParaRPr sz="1350" b="1" i="0" u="none">
              <a:solidFill>
                <a:srgbClr val="059669"/>
              </a:solidFill>
              <a:latin typeface="Plus Jakarta Sans"/>
            </a:endParaRPr>
          </a:p>
        </p:txBody>
      </p:sp>
      <p:sp>
        <p:nvSpPr>
          <p:cNvPr id="36" name="TextBox 35"/>
          <p:cNvSpPr txBox="1"/>
          <p:nvPr/>
        </p:nvSpPr>
        <p:spPr>
          <a:xfrm>
            <a:off x="964108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View History</a:t>
            </a:r>
            <a:endParaRPr sz="1050" b="1" i="0" u="none">
              <a:solidFill>
                <a:srgbClr val="0F172A"/>
              </a:solidFill>
              <a:latin typeface="Plus Jakarta Sans"/>
            </a:endParaRPr>
          </a:p>
        </p:txBody>
      </p:sp>
      <p:sp>
        <p:nvSpPr>
          <p:cNvPr id="37" name="TextBox 36"/>
          <p:cNvSpPr txBox="1"/>
          <p:nvPr/>
        </p:nvSpPr>
        <p:spPr>
          <a:xfrm>
            <a:off x="964108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Past bookings</a:t>
            </a:r>
            <a:endParaRPr sz="900" b="0" i="0" u="none">
              <a:solidFill>
                <a:srgbClr val="64748B"/>
              </a:solidFill>
              <a:latin typeface="Plus Jakarta Sans"/>
            </a:endParaRPr>
          </a:p>
        </p:txBody>
      </p:sp>
      <p:sp>
        <p:nvSpPr>
          <p:cNvPr id="38" name="TextBox 37"/>
          <p:cNvSpPr txBox="1"/>
          <p:nvPr/>
        </p:nvSpPr>
        <p:spPr>
          <a:xfrm>
            <a:off x="6863208" y="42005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Slot Reserved:</a:t>
            </a:r>
            <a:r>
              <a:rPr sz="975" b="0" i="0" u="none">
                <a:solidFill>
                  <a:srgbClr val="334155"/>
                </a:solidFill>
                <a:latin typeface="Plus Jakarta Sans"/>
              </a:rPr>
              <a:t> Locked during checkout; no double booking</a:t>
            </a:r>
            <a:endParaRPr sz="975" b="0" i="0" u="none">
              <a:solidFill>
                <a:srgbClr val="334155"/>
              </a:solidFill>
              <a:latin typeface="Plus Jakarta Sans"/>
            </a:endParaRPr>
          </a:p>
        </p:txBody>
      </p:sp>
      <p:sp>
        <p:nvSpPr>
          <p:cNvPr id="39" name="TextBox 38"/>
          <p:cNvSpPr txBox="1"/>
          <p:nvPr/>
        </p:nvSpPr>
        <p:spPr>
          <a:xfrm>
            <a:off x="6863208" y="44291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Booking Confirmed:</a:t>
            </a:r>
            <a:r>
              <a:rPr sz="975" b="0" i="0" u="none">
                <a:solidFill>
                  <a:srgbClr val="334155"/>
                </a:solidFill>
                <a:latin typeface="Plus Jakarta Sans"/>
              </a:rPr>
              <a:t> Instant confirmation with QR e-ticket</a:t>
            </a:r>
            <a:endParaRPr sz="975" b="0" i="0" u="none">
              <a:solidFill>
                <a:srgbClr val="334155"/>
              </a:solidFill>
              <a:latin typeface="Plus Jakarta Sans"/>
            </a:endParaRPr>
          </a:p>
        </p:txBody>
      </p:sp>
      <p:sp>
        <p:nvSpPr>
          <p:cNvPr id="40" name="TextBox 39"/>
          <p:cNvSpPr txBox="1"/>
          <p:nvPr/>
        </p:nvSpPr>
        <p:spPr>
          <a:xfrm>
            <a:off x="6863208" y="46577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Payment Completed:</a:t>
            </a:r>
            <a:r>
              <a:rPr sz="975" b="0" i="0" u="none">
                <a:solidFill>
                  <a:srgbClr val="334155"/>
                </a:solidFill>
                <a:latin typeface="Plus Jakarta Sans"/>
              </a:rPr>
              <a:t> Secure gateway with digital receipt</a:t>
            </a:r>
            <a:endParaRPr sz="975" b="0" i="0" u="none">
              <a:solidFill>
                <a:srgbClr val="334155"/>
              </a:solidFill>
              <a:latin typeface="Plus Jakarta Sans"/>
            </a:endParaRPr>
          </a:p>
        </p:txBody>
      </p:sp>
      <p:sp>
        <p:nvSpPr>
          <p:cNvPr id="41" name="TextBox 40"/>
          <p:cNvSpPr txBox="1"/>
          <p:nvPr/>
        </p:nvSpPr>
        <p:spPr>
          <a:xfrm>
            <a:off x="6863208" y="48863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History Available:</a:t>
            </a:r>
            <a:r>
              <a:rPr sz="975" b="0" i="0" u="none">
                <a:solidFill>
                  <a:srgbClr val="334155"/>
                </a:solidFill>
                <a:latin typeface="Plus Jakarta Sans"/>
              </a:rPr>
              <a:t> Past and upcoming bookings in one list</a:t>
            </a:r>
            <a:endParaRPr sz="975" b="0" i="0" u="none">
              <a:solidFill>
                <a:srgbClr val="334155"/>
              </a:solidFill>
              <a:latin typeface="Plus Jakarta Sans"/>
            </a:endParaRPr>
          </a:p>
        </p:txBody>
      </p:sp>
      <p:sp>
        <p:nvSpPr>
          <p:cNvPr id="42" name="TextBox 41"/>
          <p:cNvSpPr txBox="1"/>
          <p:nvPr/>
        </p:nvSpPr>
        <p:spPr>
          <a:xfrm>
            <a:off x="914400" y="4295775"/>
            <a:ext cx="1285875" cy="152400"/>
          </a:xfrm>
          <a:prstGeom prst="rect">
            <a:avLst/>
          </a:prstGeom>
          <a:noFill/>
        </p:spPr>
        <p:txBody>
          <a:bodyPr wrap="none" lIns="0" tIns="0" rIns="0" bIns="0" anchor="t">
            <a:spAutoFit/>
          </a:bodyPr>
          <a:lstStyle/>
          <a:p>
            <a:pPr algn="l"/>
            <a:r>
              <a:rPr sz="975" b="1" i="0" u="none">
                <a:solidFill>
                  <a:srgbClr val="0F172A"/>
                </a:solidFill>
                <a:latin typeface="Plus Jakarta Sans"/>
              </a:rPr>
              <a:t>Booking:</a:t>
            </a:r>
            <a:endParaRPr sz="975" b="1" i="0" u="none">
              <a:solidFill>
                <a:srgbClr val="0F172A"/>
              </a:solidFill>
              <a:latin typeface="Plus Jakarta Sans"/>
            </a:endParaRPr>
          </a:p>
        </p:txBody>
      </p:sp>
      <p:sp>
        <p:nvSpPr>
          <p:cNvPr id="43" name="TextBox 42"/>
          <p:cNvSpPr txBox="1"/>
          <p:nvPr/>
        </p:nvSpPr>
        <p:spPr>
          <a:xfrm>
            <a:off x="4091433" y="4295775"/>
            <a:ext cx="2559843" cy="152400"/>
          </a:xfrm>
          <a:prstGeom prst="rect">
            <a:avLst/>
          </a:prstGeom>
          <a:noFill/>
        </p:spPr>
        <p:txBody>
          <a:bodyPr wrap="none" lIns="0" tIns="0" rIns="0" bIns="0" anchor="t">
            <a:spAutoFit/>
          </a:bodyPr>
          <a:lstStyle/>
          <a:p>
            <a:pPr algn="l"/>
            <a:r>
              <a:rPr sz="975" b="0" i="0" u="none">
                <a:solidFill>
                  <a:srgbClr val="64748B"/>
                </a:solidFill>
                <a:latin typeface="Plus Jakarta Sans"/>
              </a:rPr>
              <a:t>Booking ID, User ID, Slot ID</a:t>
            </a:r>
            <a:endParaRPr sz="975" b="0" i="0" u="none">
              <a:solidFill>
                <a:srgbClr val="64748B"/>
              </a:solidFill>
              <a:latin typeface="Plus Jakarta Sans"/>
            </a:endParaRPr>
          </a:p>
        </p:txBody>
      </p:sp>
      <p:sp>
        <p:nvSpPr>
          <p:cNvPr id="44" name="TextBox 43"/>
          <p:cNvSpPr txBox="1"/>
          <p:nvPr/>
        </p:nvSpPr>
        <p:spPr>
          <a:xfrm>
            <a:off x="914400" y="4638675"/>
            <a:ext cx="1162050" cy="152400"/>
          </a:xfrm>
          <a:prstGeom prst="rect">
            <a:avLst/>
          </a:prstGeom>
          <a:noFill/>
        </p:spPr>
        <p:txBody>
          <a:bodyPr wrap="none" lIns="0" tIns="0" rIns="0" bIns="0" anchor="t">
            <a:spAutoFit/>
          </a:bodyPr>
          <a:lstStyle/>
          <a:p>
            <a:pPr algn="l"/>
            <a:r>
              <a:rPr sz="975" b="1" i="0" u="none">
                <a:solidFill>
                  <a:srgbClr val="0F172A"/>
                </a:solidFill>
                <a:latin typeface="Plus Jakarta Sans"/>
              </a:rPr>
              <a:t>Schedule:</a:t>
            </a:r>
            <a:endParaRPr sz="975" b="1" i="0" u="none">
              <a:solidFill>
                <a:srgbClr val="0F172A"/>
              </a:solidFill>
              <a:latin typeface="Plus Jakarta Sans"/>
            </a:endParaRPr>
          </a:p>
        </p:txBody>
      </p:sp>
      <p:sp>
        <p:nvSpPr>
          <p:cNvPr id="45" name="TextBox 44"/>
          <p:cNvSpPr txBox="1"/>
          <p:nvPr/>
        </p:nvSpPr>
        <p:spPr>
          <a:xfrm>
            <a:off x="4567683" y="4638675"/>
            <a:ext cx="1964531" cy="152400"/>
          </a:xfrm>
          <a:prstGeom prst="rect">
            <a:avLst/>
          </a:prstGeom>
          <a:noFill/>
        </p:spPr>
        <p:txBody>
          <a:bodyPr wrap="none" lIns="0" tIns="0" rIns="0" bIns="0" anchor="t">
            <a:spAutoFit/>
          </a:bodyPr>
          <a:lstStyle/>
          <a:p>
            <a:pPr algn="l"/>
            <a:r>
              <a:rPr sz="975" b="0" i="0" u="none">
                <a:solidFill>
                  <a:srgbClr val="64748B"/>
                </a:solidFill>
                <a:latin typeface="Plus Jakarta Sans"/>
              </a:rPr>
              <a:t>Start Time, End Time</a:t>
            </a:r>
            <a:endParaRPr sz="975" b="0" i="0" u="none">
              <a:solidFill>
                <a:srgbClr val="64748B"/>
              </a:solidFill>
              <a:latin typeface="Plus Jakarta Sans"/>
            </a:endParaRPr>
          </a:p>
        </p:txBody>
      </p:sp>
      <p:sp>
        <p:nvSpPr>
          <p:cNvPr id="46" name="TextBox 45"/>
          <p:cNvSpPr txBox="1"/>
          <p:nvPr/>
        </p:nvSpPr>
        <p:spPr>
          <a:xfrm>
            <a:off x="914400" y="4981575"/>
            <a:ext cx="1352550" cy="152400"/>
          </a:xfrm>
          <a:prstGeom prst="rect">
            <a:avLst/>
          </a:prstGeom>
          <a:noFill/>
        </p:spPr>
        <p:txBody>
          <a:bodyPr wrap="none" lIns="0" tIns="0" rIns="0" bIns="0" anchor="t">
            <a:spAutoFit/>
          </a:bodyPr>
          <a:lstStyle/>
          <a:p>
            <a:pPr algn="l"/>
            <a:r>
              <a:rPr sz="975" b="1" i="0" u="none">
                <a:solidFill>
                  <a:srgbClr val="0F172A"/>
                </a:solidFill>
                <a:latin typeface="Plus Jakarta Sans"/>
              </a:rPr>
              <a:t>Payment:</a:t>
            </a:r>
            <a:endParaRPr sz="975" b="1" i="0" u="none">
              <a:solidFill>
                <a:srgbClr val="0F172A"/>
              </a:solidFill>
              <a:latin typeface="Plus Jakarta Sans"/>
            </a:endParaRPr>
          </a:p>
        </p:txBody>
      </p:sp>
      <p:sp>
        <p:nvSpPr>
          <p:cNvPr id="47" name="TextBox 46"/>
          <p:cNvSpPr txBox="1"/>
          <p:nvPr/>
        </p:nvSpPr>
        <p:spPr>
          <a:xfrm>
            <a:off x="3900933" y="4981575"/>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Amount, Mode, Status</a:t>
            </a:r>
            <a:endParaRPr sz="975" b="0" i="0" u="none">
              <a:solidFill>
                <a:srgbClr val="64748B"/>
              </a:solidFill>
              <a:latin typeface="Plus Jakarta Sans"/>
            </a:endParaRPr>
          </a:p>
        </p:txBody>
      </p:sp>
      <p:pic>
        <p:nvPicPr>
          <p:cNvPr id="48" name="SIMATS Header" descr="5b09ae4e-image.png"/>
          <p:cNvPicPr>
            <a:picLocks noChangeAspect="1"/>
          </p:cNvPicPr>
          <p:nvPr/>
        </p:nvPicPr>
        <p:blipFill>
          <a:blip r:embed="rId2"/>
          <a:stretch>
            <a:fillRect/>
          </a:stretch>
        </p:blipFill>
        <p:spPr>
          <a:xfrm>
            <a:off x="609600" y="80000"/>
            <a:ext cx="10300000" cy="10575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790950"/>
            <a:ext cx="5834508" cy="1609725"/>
          </a:xfrm>
          <a:prstGeom prst="roundRect">
            <a:avLst>
              <a:gd name="adj" fmla="val 71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34608" y="3790950"/>
            <a:ext cx="4947791" cy="1609725"/>
          </a:xfrm>
          <a:prstGeom prst="roundRect">
            <a:avLst>
              <a:gd name="adj" fmla="val 71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2699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4438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6177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79160" y="2686050"/>
            <a:ext cx="2103090" cy="914400"/>
          </a:xfrm>
          <a:prstGeom prst="roundRect">
            <a:avLst>
              <a:gd name="adj" fmla="val 104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34608" y="3790950"/>
            <a:ext cx="38100" cy="160972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42291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625" y="45720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625" y="4914900"/>
            <a:ext cx="5434458" cy="285750"/>
          </a:xfrm>
          <a:prstGeom prst="roundRect">
            <a:avLst>
              <a:gd name="adj" fmla="val 2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1"/>
          <a:stretch>
            <a:fillRect/>
          </a:stretch>
        </p:blipFill>
        <p:spPr>
          <a:xfrm>
            <a:off x="6863208" y="4214812"/>
            <a:ext cx="104775" cy="133350"/>
          </a:xfrm>
          <a:prstGeom prst="rect">
            <a:avLst/>
          </a:prstGeom>
        </p:spPr>
      </p:pic>
      <p:pic>
        <p:nvPicPr>
          <p:cNvPr id="14" name="Picture 13" descr="image.png"/>
          <p:cNvPicPr>
            <a:picLocks noChangeAspect="1"/>
          </p:cNvPicPr>
          <p:nvPr/>
        </p:nvPicPr>
        <p:blipFill>
          <a:blip r:embed="rId1"/>
          <a:stretch>
            <a:fillRect/>
          </a:stretch>
        </p:blipFill>
        <p:spPr>
          <a:xfrm>
            <a:off x="6863208" y="4443412"/>
            <a:ext cx="104775" cy="133350"/>
          </a:xfrm>
          <a:prstGeom prst="rect">
            <a:avLst/>
          </a:prstGeom>
        </p:spPr>
      </p:pic>
      <p:pic>
        <p:nvPicPr>
          <p:cNvPr id="15" name="Picture 14" descr="image.png"/>
          <p:cNvPicPr>
            <a:picLocks noChangeAspect="1"/>
          </p:cNvPicPr>
          <p:nvPr/>
        </p:nvPicPr>
        <p:blipFill>
          <a:blip r:embed="rId1"/>
          <a:stretch>
            <a:fillRect/>
          </a:stretch>
        </p:blipFill>
        <p:spPr>
          <a:xfrm>
            <a:off x="6863208" y="4672012"/>
            <a:ext cx="104775" cy="133350"/>
          </a:xfrm>
          <a:prstGeom prst="rect">
            <a:avLst/>
          </a:prstGeom>
        </p:spPr>
      </p:pic>
      <p:pic>
        <p:nvPicPr>
          <p:cNvPr id="16" name="Picture 15" descr="image.png"/>
          <p:cNvPicPr>
            <a:picLocks noChangeAspect="1"/>
          </p:cNvPicPr>
          <p:nvPr/>
        </p:nvPicPr>
        <p:blipFill>
          <a:blip r:embed="rId1"/>
          <a:stretch>
            <a:fillRect/>
          </a:stretch>
        </p:blipFill>
        <p:spPr>
          <a:xfrm>
            <a:off x="6863208" y="4900612"/>
            <a:ext cx="104775" cy="133350"/>
          </a:xfrm>
          <a:prstGeom prst="rect">
            <a:avLst/>
          </a:prstGeom>
        </p:spPr>
      </p:pic>
      <p:sp>
        <p:nvSpPr>
          <p:cNvPr id="17" name="TextBox 16"/>
          <p:cNvSpPr txBox="1"/>
          <p:nvPr/>
        </p:nvSpPr>
        <p:spPr>
          <a:xfrm>
            <a:off x="609600" y="1307200"/>
            <a:ext cx="4486275" cy="600075"/>
          </a:xfrm>
          <a:prstGeom prst="rect">
            <a:avLst/>
          </a:prstGeom>
          <a:noFill/>
        </p:spPr>
        <p:txBody>
          <a:bodyPr wrap="square" lIns="0" tIns="0" rIns="0" bIns="0" anchor="t">
            <a:spAutoFit/>
          </a:bodyPr>
          <a:lstStyle/>
          <a:p>
            <a:pPr algn="l"/>
            <a:r>
              <a:rPr sz="975" b="1" i="0" u="none">
                <a:solidFill>
                  <a:srgbClr val="7C3AED"/>
                </a:solidFill>
                <a:latin typeface="Plus Jakarta Sans"/>
              </a:rPr>
              <a:t>Module 04</a:t>
            </a:r>
            <a:endParaRPr sz="975" b="1" i="0" u="none">
              <a:solidFill>
                <a:srgbClr val="7C3AED"/>
              </a:solidFill>
              <a:latin typeface="Plus Jakarta Sans"/>
            </a:endParaRPr>
          </a:p>
        </p:txBody>
      </p:sp>
      <p:sp>
        <p:nvSpPr>
          <p:cNvPr id="18" name="TextBox 17"/>
          <p:cNvSpPr txBox="1"/>
          <p:nvPr/>
        </p:nvSpPr>
        <p:spPr>
          <a:xfrm>
            <a:off x="9829800" y="1735825"/>
            <a:ext cx="2190750" cy="171450"/>
          </a:xfrm>
          <a:prstGeom prst="rect">
            <a:avLst/>
          </a:prstGeom>
          <a:noFill/>
        </p:spPr>
        <p:txBody>
          <a:bodyPr wrap="none" lIns="0" tIns="0" rIns="0" bIns="0" anchor="t">
            <a:spAutoFit/>
          </a:bodyPr>
          <a:lstStyle/>
          <a:p>
            <a:pPr algn="l"/>
            <a:r>
              <a:rPr sz="1050" b="1" i="0" u="none">
                <a:solidFill>
                  <a:srgbClr val="64748B"/>
                </a:solidFill>
                <a:latin typeface="Plus Jakarta Sans"/>
              </a:rPr>
              <a:t>Routing &amp; Admin Control</a:t>
            </a:r>
            <a:endParaRPr sz="1050" b="1" i="0" u="none">
              <a:solidFill>
                <a:srgbClr val="64748B"/>
              </a:solidFill>
              <a:latin typeface="Plus Jakarta Sans"/>
            </a:endParaRPr>
          </a:p>
        </p:txBody>
      </p:sp>
      <p:sp>
        <p:nvSpPr>
          <p:cNvPr id="19" name="TextBox 18"/>
          <p:cNvSpPr txBox="1"/>
          <p:nvPr/>
        </p:nvSpPr>
        <p:spPr>
          <a:xfrm>
            <a:off x="609600" y="1545325"/>
            <a:ext cx="5763220" cy="361950"/>
          </a:xfrm>
          <a:prstGeom prst="rect">
            <a:avLst/>
          </a:prstGeom>
          <a:noFill/>
        </p:spPr>
        <p:txBody>
          <a:bodyPr wrap="none" lIns="0" tIns="0" rIns="0" bIns="0" anchor="t">
            <a:spAutoFit/>
          </a:bodyPr>
          <a:lstStyle/>
          <a:p>
            <a:pPr algn="l"/>
            <a:r>
              <a:rPr sz="2250" b="1" i="0" u="none">
                <a:solidFill>
                  <a:srgbClr val="0F172A"/>
                </a:solidFill>
                <a:latin typeface="Plus Jakarta Sans"/>
              </a:rPr>
              <a:t>Navigation &amp; Parking Management</a:t>
            </a:r>
            <a:endParaRPr sz="2250" b="1" i="0" u="none">
              <a:solidFill>
                <a:srgbClr val="0F172A"/>
              </a:solidFill>
              <a:latin typeface="Plus Jakarta Sans"/>
            </a:endParaRPr>
          </a:p>
        </p:txBody>
      </p:sp>
      <p:sp>
        <p:nvSpPr>
          <p:cNvPr id="20" name="TextBox 19"/>
          <p:cNvSpPr txBox="1"/>
          <p:nvPr/>
        </p:nvSpPr>
        <p:spPr>
          <a:xfrm>
            <a:off x="609600" y="2438400"/>
            <a:ext cx="11582400" cy="152400"/>
          </a:xfrm>
          <a:prstGeom prst="rect">
            <a:avLst/>
          </a:prstGeom>
          <a:noFill/>
        </p:spPr>
        <p:txBody>
          <a:bodyPr wrap="none" lIns="0" tIns="0" rIns="0" bIns="0" anchor="t">
            <a:spAutoFit/>
          </a:bodyPr>
          <a:lstStyle/>
          <a:p>
            <a:pPr algn="l"/>
            <a:r>
              <a:rPr sz="975" b="1" i="0" u="none">
                <a:solidFill>
                  <a:srgbClr val="475569"/>
                </a:solidFill>
                <a:latin typeface="Plus Jakarta Sans"/>
              </a:rPr>
              <a:t>OPERATIONAL WORKFLOW (5 STAGES)</a:t>
            </a:r>
            <a:endParaRPr sz="975" b="1" i="0" u="none">
              <a:solidFill>
                <a:srgbClr val="475569"/>
              </a:solidFill>
              <a:latin typeface="Plus Jakarta Sans"/>
            </a:endParaRPr>
          </a:p>
        </p:txBody>
      </p:sp>
      <p:sp>
        <p:nvSpPr>
          <p:cNvPr id="21" name="TextBox 20"/>
          <p:cNvSpPr txBox="1"/>
          <p:nvPr/>
        </p:nvSpPr>
        <p:spPr>
          <a:xfrm>
            <a:off x="809625" y="3990975"/>
            <a:ext cx="6793073" cy="142875"/>
          </a:xfrm>
          <a:prstGeom prst="rect">
            <a:avLst/>
          </a:prstGeom>
          <a:noFill/>
        </p:spPr>
        <p:txBody>
          <a:bodyPr wrap="none" lIns="0" tIns="0" rIns="0" bIns="0" anchor="t">
            <a:spAutoFit/>
          </a:bodyPr>
          <a:lstStyle/>
          <a:p>
            <a:pPr algn="l"/>
            <a:r>
              <a:rPr sz="900" b="1" i="0" u="none">
                <a:solidFill>
                  <a:srgbClr val="7C3AED"/>
                </a:solidFill>
                <a:latin typeface="Plus Jakarta Sans"/>
              </a:rPr>
              <a:t>DATA SCHEMA &amp; ENTITIES</a:t>
            </a:r>
            <a:endParaRPr sz="900" b="1" i="0" u="none">
              <a:solidFill>
                <a:srgbClr val="7C3AED"/>
              </a:solidFill>
              <a:latin typeface="Plus Jakarta Sans"/>
            </a:endParaRPr>
          </a:p>
        </p:txBody>
      </p:sp>
      <p:sp>
        <p:nvSpPr>
          <p:cNvPr id="22" name="TextBox 21"/>
          <p:cNvSpPr txBox="1"/>
          <p:nvPr/>
        </p:nvSpPr>
        <p:spPr>
          <a:xfrm>
            <a:off x="6863208" y="3981450"/>
            <a:ext cx="5328791" cy="142875"/>
          </a:xfrm>
          <a:prstGeom prst="rect">
            <a:avLst/>
          </a:prstGeom>
          <a:noFill/>
        </p:spPr>
        <p:txBody>
          <a:bodyPr wrap="none" lIns="0" tIns="0" rIns="0" bIns="0" anchor="t">
            <a:spAutoFit/>
          </a:bodyPr>
          <a:lstStyle/>
          <a:p>
            <a:pPr algn="l"/>
            <a:r>
              <a:rPr sz="900" b="1" i="0" u="none">
                <a:solidFill>
                  <a:srgbClr val="7C3AED"/>
                </a:solidFill>
                <a:latin typeface="Plus Jakarta Sans"/>
              </a:rPr>
              <a:t>MONITORED SUCCESS INDICATORS</a:t>
            </a:r>
            <a:endParaRPr sz="900" b="1" i="0" u="none">
              <a:solidFill>
                <a:srgbClr val="7C3AED"/>
              </a:solidFill>
              <a:latin typeface="Plus Jakarta Sans"/>
            </a:endParaRPr>
          </a:p>
        </p:txBody>
      </p:sp>
      <p:sp>
        <p:nvSpPr>
          <p:cNvPr id="23" name="TextBox 22"/>
          <p:cNvSpPr txBox="1"/>
          <p:nvPr/>
        </p:nvSpPr>
        <p:spPr>
          <a:xfrm>
            <a:off x="771525" y="2847975"/>
            <a:ext cx="2224050" cy="219075"/>
          </a:xfrm>
          <a:prstGeom prst="rect">
            <a:avLst/>
          </a:prstGeom>
          <a:noFill/>
        </p:spPr>
        <p:txBody>
          <a:bodyPr wrap="none" lIns="0" tIns="0" rIns="0" bIns="0" anchor="t">
            <a:spAutoFit/>
          </a:bodyPr>
          <a:lstStyle/>
          <a:p>
            <a:pPr algn="l"/>
            <a:r>
              <a:rPr sz="1350" b="1" i="0" u="none">
                <a:solidFill>
                  <a:srgbClr val="7C3AED"/>
                </a:solidFill>
                <a:latin typeface="Plus Jakarta Sans"/>
              </a:rPr>
              <a:t>01</a:t>
            </a:r>
            <a:endParaRPr sz="1350" b="1" i="0" u="none">
              <a:solidFill>
                <a:srgbClr val="7C3AED"/>
              </a:solidFill>
              <a:latin typeface="Plus Jakarta Sans"/>
            </a:endParaRPr>
          </a:p>
        </p:txBody>
      </p:sp>
      <p:sp>
        <p:nvSpPr>
          <p:cNvPr id="24" name="TextBox 23"/>
          <p:cNvSpPr txBox="1"/>
          <p:nvPr/>
        </p:nvSpPr>
        <p:spPr>
          <a:xfrm>
            <a:off x="77152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Open Map</a:t>
            </a:r>
            <a:endParaRPr sz="1050" b="1" i="0" u="none">
              <a:solidFill>
                <a:srgbClr val="0F172A"/>
              </a:solidFill>
              <a:latin typeface="Plus Jakarta Sans"/>
            </a:endParaRPr>
          </a:p>
        </p:txBody>
      </p:sp>
      <p:sp>
        <p:nvSpPr>
          <p:cNvPr id="25" name="TextBox 24"/>
          <p:cNvSpPr txBox="1"/>
          <p:nvPr/>
        </p:nvSpPr>
        <p:spPr>
          <a:xfrm>
            <a:off x="77152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Render map view</a:t>
            </a:r>
            <a:endParaRPr sz="900" b="0" i="0" u="none">
              <a:solidFill>
                <a:srgbClr val="64748B"/>
              </a:solidFill>
              <a:latin typeface="Plus Jakarta Sans"/>
            </a:endParaRPr>
          </a:p>
        </p:txBody>
      </p:sp>
      <p:sp>
        <p:nvSpPr>
          <p:cNvPr id="26" name="TextBox 25"/>
          <p:cNvSpPr txBox="1"/>
          <p:nvPr/>
        </p:nvSpPr>
        <p:spPr>
          <a:xfrm>
            <a:off x="2988915" y="2847975"/>
            <a:ext cx="2224050" cy="219075"/>
          </a:xfrm>
          <a:prstGeom prst="rect">
            <a:avLst/>
          </a:prstGeom>
          <a:noFill/>
        </p:spPr>
        <p:txBody>
          <a:bodyPr wrap="none" lIns="0" tIns="0" rIns="0" bIns="0" anchor="t">
            <a:spAutoFit/>
          </a:bodyPr>
          <a:lstStyle/>
          <a:p>
            <a:pPr algn="l"/>
            <a:r>
              <a:rPr sz="1350" b="1" i="0" u="none">
                <a:solidFill>
                  <a:srgbClr val="7C3AED"/>
                </a:solidFill>
                <a:latin typeface="Plus Jakarta Sans"/>
              </a:rPr>
              <a:t>02</a:t>
            </a:r>
            <a:endParaRPr sz="1350" b="1" i="0" u="none">
              <a:solidFill>
                <a:srgbClr val="7C3AED"/>
              </a:solidFill>
              <a:latin typeface="Plus Jakarta Sans"/>
            </a:endParaRPr>
          </a:p>
        </p:txBody>
      </p:sp>
      <p:sp>
        <p:nvSpPr>
          <p:cNvPr id="27" name="TextBox 26"/>
          <p:cNvSpPr txBox="1"/>
          <p:nvPr/>
        </p:nvSpPr>
        <p:spPr>
          <a:xfrm>
            <a:off x="298891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Route Guidance</a:t>
            </a:r>
            <a:endParaRPr sz="1050" b="1" i="0" u="none">
              <a:solidFill>
                <a:srgbClr val="0F172A"/>
              </a:solidFill>
              <a:latin typeface="Plus Jakarta Sans"/>
            </a:endParaRPr>
          </a:p>
        </p:txBody>
      </p:sp>
      <p:sp>
        <p:nvSpPr>
          <p:cNvPr id="28" name="TextBox 27"/>
          <p:cNvSpPr txBox="1"/>
          <p:nvPr/>
        </p:nvSpPr>
        <p:spPr>
          <a:xfrm>
            <a:off x="298891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Turn-by-turn directions</a:t>
            </a:r>
            <a:endParaRPr sz="900" b="0" i="0" u="none">
              <a:solidFill>
                <a:srgbClr val="64748B"/>
              </a:solidFill>
              <a:latin typeface="Plus Jakarta Sans"/>
            </a:endParaRPr>
          </a:p>
        </p:txBody>
      </p:sp>
      <p:sp>
        <p:nvSpPr>
          <p:cNvPr id="29" name="TextBox 28"/>
          <p:cNvSpPr txBox="1"/>
          <p:nvPr/>
        </p:nvSpPr>
        <p:spPr>
          <a:xfrm>
            <a:off x="5206305" y="2847975"/>
            <a:ext cx="2224050" cy="219075"/>
          </a:xfrm>
          <a:prstGeom prst="rect">
            <a:avLst/>
          </a:prstGeom>
          <a:noFill/>
        </p:spPr>
        <p:txBody>
          <a:bodyPr wrap="none" lIns="0" tIns="0" rIns="0" bIns="0" anchor="t">
            <a:spAutoFit/>
          </a:bodyPr>
          <a:lstStyle/>
          <a:p>
            <a:pPr algn="l"/>
            <a:r>
              <a:rPr sz="1350" b="1" i="0" u="none">
                <a:solidFill>
                  <a:srgbClr val="7C3AED"/>
                </a:solidFill>
                <a:latin typeface="Plus Jakarta Sans"/>
              </a:rPr>
              <a:t>03</a:t>
            </a:r>
            <a:endParaRPr sz="1350" b="1" i="0" u="none">
              <a:solidFill>
                <a:srgbClr val="7C3AED"/>
              </a:solidFill>
              <a:latin typeface="Plus Jakarta Sans"/>
            </a:endParaRPr>
          </a:p>
        </p:txBody>
      </p:sp>
      <p:sp>
        <p:nvSpPr>
          <p:cNvPr id="30" name="TextBox 29"/>
          <p:cNvSpPr txBox="1"/>
          <p:nvPr/>
        </p:nvSpPr>
        <p:spPr>
          <a:xfrm>
            <a:off x="520630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Reach Lot</a:t>
            </a:r>
            <a:endParaRPr sz="1050" b="1" i="0" u="none">
              <a:solidFill>
                <a:srgbClr val="0F172A"/>
              </a:solidFill>
              <a:latin typeface="Plus Jakarta Sans"/>
            </a:endParaRPr>
          </a:p>
        </p:txBody>
      </p:sp>
      <p:sp>
        <p:nvSpPr>
          <p:cNvPr id="31" name="TextBox 30"/>
          <p:cNvSpPr txBox="1"/>
          <p:nvPr/>
        </p:nvSpPr>
        <p:spPr>
          <a:xfrm>
            <a:off x="520630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Arrival &amp; entry</a:t>
            </a:r>
            <a:endParaRPr sz="900" b="0" i="0" u="none">
              <a:solidFill>
                <a:srgbClr val="64748B"/>
              </a:solidFill>
              <a:latin typeface="Plus Jakarta Sans"/>
            </a:endParaRPr>
          </a:p>
        </p:txBody>
      </p:sp>
      <p:sp>
        <p:nvSpPr>
          <p:cNvPr id="32" name="TextBox 31"/>
          <p:cNvSpPr txBox="1"/>
          <p:nvPr/>
        </p:nvSpPr>
        <p:spPr>
          <a:xfrm>
            <a:off x="7423695" y="2847975"/>
            <a:ext cx="2224050" cy="219075"/>
          </a:xfrm>
          <a:prstGeom prst="rect">
            <a:avLst/>
          </a:prstGeom>
          <a:noFill/>
        </p:spPr>
        <p:txBody>
          <a:bodyPr wrap="none" lIns="0" tIns="0" rIns="0" bIns="0" anchor="t">
            <a:spAutoFit/>
          </a:bodyPr>
          <a:lstStyle/>
          <a:p>
            <a:pPr algn="l"/>
            <a:r>
              <a:rPr sz="1350" b="1" i="0" u="none">
                <a:solidFill>
                  <a:srgbClr val="7C3AED"/>
                </a:solidFill>
                <a:latin typeface="Plus Jakarta Sans"/>
              </a:rPr>
              <a:t>04</a:t>
            </a:r>
            <a:endParaRPr sz="1350" b="1" i="0" u="none">
              <a:solidFill>
                <a:srgbClr val="7C3AED"/>
              </a:solidFill>
              <a:latin typeface="Plus Jakarta Sans"/>
            </a:endParaRPr>
          </a:p>
        </p:txBody>
      </p:sp>
      <p:sp>
        <p:nvSpPr>
          <p:cNvPr id="33" name="TextBox 32"/>
          <p:cNvSpPr txBox="1"/>
          <p:nvPr/>
        </p:nvSpPr>
        <p:spPr>
          <a:xfrm>
            <a:off x="742369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Update Slots</a:t>
            </a:r>
            <a:endParaRPr sz="1050" b="1" i="0" u="none">
              <a:solidFill>
                <a:srgbClr val="0F172A"/>
              </a:solidFill>
              <a:latin typeface="Plus Jakarta Sans"/>
            </a:endParaRPr>
          </a:p>
        </p:txBody>
      </p:sp>
      <p:sp>
        <p:nvSpPr>
          <p:cNvPr id="34" name="TextBox 33"/>
          <p:cNvSpPr txBox="1"/>
          <p:nvPr/>
        </p:nvSpPr>
        <p:spPr>
          <a:xfrm>
            <a:off x="742369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Slot status sync</a:t>
            </a:r>
            <a:endParaRPr sz="900" b="0" i="0" u="none">
              <a:solidFill>
                <a:srgbClr val="64748B"/>
              </a:solidFill>
              <a:latin typeface="Plus Jakarta Sans"/>
            </a:endParaRPr>
          </a:p>
        </p:txBody>
      </p:sp>
      <p:sp>
        <p:nvSpPr>
          <p:cNvPr id="35" name="TextBox 34"/>
          <p:cNvSpPr txBox="1"/>
          <p:nvPr/>
        </p:nvSpPr>
        <p:spPr>
          <a:xfrm>
            <a:off x="9641085" y="2847975"/>
            <a:ext cx="2224050" cy="219075"/>
          </a:xfrm>
          <a:prstGeom prst="rect">
            <a:avLst/>
          </a:prstGeom>
          <a:noFill/>
        </p:spPr>
        <p:txBody>
          <a:bodyPr wrap="none" lIns="0" tIns="0" rIns="0" bIns="0" anchor="t">
            <a:spAutoFit/>
          </a:bodyPr>
          <a:lstStyle/>
          <a:p>
            <a:pPr algn="l"/>
            <a:r>
              <a:rPr sz="1350" b="1" i="0" u="none">
                <a:solidFill>
                  <a:srgbClr val="7C3AED"/>
                </a:solidFill>
                <a:latin typeface="Plus Jakarta Sans"/>
              </a:rPr>
              <a:t>05</a:t>
            </a:r>
            <a:endParaRPr sz="1350" b="1" i="0" u="none">
              <a:solidFill>
                <a:srgbClr val="7C3AED"/>
              </a:solidFill>
              <a:latin typeface="Plus Jakarta Sans"/>
            </a:endParaRPr>
          </a:p>
        </p:txBody>
      </p:sp>
      <p:sp>
        <p:nvSpPr>
          <p:cNvPr id="36" name="TextBox 35"/>
          <p:cNvSpPr txBox="1"/>
          <p:nvPr/>
        </p:nvSpPr>
        <p:spPr>
          <a:xfrm>
            <a:off x="9641085" y="3105150"/>
            <a:ext cx="2335252" cy="171450"/>
          </a:xfrm>
          <a:prstGeom prst="rect">
            <a:avLst/>
          </a:prstGeom>
          <a:noFill/>
        </p:spPr>
        <p:txBody>
          <a:bodyPr wrap="none" lIns="0" tIns="0" rIns="0" bIns="0" anchor="t">
            <a:spAutoFit/>
          </a:bodyPr>
          <a:lstStyle/>
          <a:p>
            <a:pPr algn="l"/>
            <a:r>
              <a:rPr sz="1050" b="1" i="0" u="none">
                <a:solidFill>
                  <a:srgbClr val="0F172A"/>
                </a:solidFill>
                <a:latin typeface="Plus Jakarta Sans"/>
              </a:rPr>
              <a:t>Admin Control</a:t>
            </a:r>
            <a:endParaRPr sz="1050" b="1" i="0" u="none">
              <a:solidFill>
                <a:srgbClr val="0F172A"/>
              </a:solidFill>
              <a:latin typeface="Plus Jakarta Sans"/>
            </a:endParaRPr>
          </a:p>
        </p:txBody>
      </p:sp>
      <p:sp>
        <p:nvSpPr>
          <p:cNvPr id="37" name="TextBox 36"/>
          <p:cNvSpPr txBox="1"/>
          <p:nvPr/>
        </p:nvSpPr>
        <p:spPr>
          <a:xfrm>
            <a:off x="9641085" y="3295650"/>
            <a:ext cx="2224050" cy="142875"/>
          </a:xfrm>
          <a:prstGeom prst="rect">
            <a:avLst/>
          </a:prstGeom>
          <a:noFill/>
        </p:spPr>
        <p:txBody>
          <a:bodyPr wrap="none" lIns="0" tIns="0" rIns="0" bIns="0" anchor="t">
            <a:spAutoFit/>
          </a:bodyPr>
          <a:lstStyle/>
          <a:p>
            <a:pPr algn="l"/>
            <a:r>
              <a:rPr sz="900" b="0" i="0" u="none">
                <a:solidFill>
                  <a:srgbClr val="64748B"/>
                </a:solidFill>
                <a:latin typeface="Plus Jakarta Sans"/>
              </a:rPr>
              <a:t>Manage lots &amp; slots</a:t>
            </a:r>
            <a:endParaRPr sz="900" b="0" i="0" u="none">
              <a:solidFill>
                <a:srgbClr val="64748B"/>
              </a:solidFill>
              <a:latin typeface="Plus Jakarta Sans"/>
            </a:endParaRPr>
          </a:p>
        </p:txBody>
      </p:sp>
      <p:sp>
        <p:nvSpPr>
          <p:cNvPr id="38" name="TextBox 37"/>
          <p:cNvSpPr txBox="1"/>
          <p:nvPr/>
        </p:nvSpPr>
        <p:spPr>
          <a:xfrm>
            <a:off x="6863208" y="42005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Route Generated:</a:t>
            </a:r>
            <a:r>
              <a:rPr sz="975" b="0" i="0" u="none">
                <a:solidFill>
                  <a:srgbClr val="334155"/>
                </a:solidFill>
                <a:latin typeface="Plus Jakarta Sans"/>
              </a:rPr>
              <a:t> Fastest route to the booked lot</a:t>
            </a:r>
            <a:endParaRPr sz="975" b="0" i="0" u="none">
              <a:solidFill>
                <a:srgbClr val="334155"/>
              </a:solidFill>
              <a:latin typeface="Plus Jakarta Sans"/>
            </a:endParaRPr>
          </a:p>
        </p:txBody>
      </p:sp>
      <p:sp>
        <p:nvSpPr>
          <p:cNvPr id="39" name="TextBox 38"/>
          <p:cNvSpPr txBox="1"/>
          <p:nvPr/>
        </p:nvSpPr>
        <p:spPr>
          <a:xfrm>
            <a:off x="6863208" y="44291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Live ETA:</a:t>
            </a:r>
            <a:r>
              <a:rPr sz="975" b="0" i="0" u="none">
                <a:solidFill>
                  <a:srgbClr val="334155"/>
                </a:solidFill>
                <a:latin typeface="Plus Jakarta Sans"/>
              </a:rPr>
              <a:t> Arrival time updated with traffic</a:t>
            </a:r>
            <a:endParaRPr sz="975" b="0" i="0" u="none">
              <a:solidFill>
                <a:srgbClr val="334155"/>
              </a:solidFill>
              <a:latin typeface="Plus Jakarta Sans"/>
            </a:endParaRPr>
          </a:p>
        </p:txBody>
      </p:sp>
      <p:sp>
        <p:nvSpPr>
          <p:cNvPr id="40" name="TextBox 39"/>
          <p:cNvSpPr txBox="1"/>
          <p:nvPr/>
        </p:nvSpPr>
        <p:spPr>
          <a:xfrm>
            <a:off x="6863208" y="46577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Slot Status Synced:</a:t>
            </a:r>
            <a:r>
              <a:rPr sz="975" b="0" i="0" u="none">
                <a:solidFill>
                  <a:srgbClr val="334155"/>
                </a:solidFill>
                <a:latin typeface="Plus Jakarta Sans"/>
              </a:rPr>
              <a:t> Occupied or free in real time</a:t>
            </a:r>
            <a:endParaRPr sz="975" b="0" i="0" u="none">
              <a:solidFill>
                <a:srgbClr val="334155"/>
              </a:solidFill>
              <a:latin typeface="Plus Jakarta Sans"/>
            </a:endParaRPr>
          </a:p>
        </p:txBody>
      </p:sp>
      <p:sp>
        <p:nvSpPr>
          <p:cNvPr id="41" name="TextBox 40"/>
          <p:cNvSpPr txBox="1"/>
          <p:nvPr/>
        </p:nvSpPr>
        <p:spPr>
          <a:xfrm>
            <a:off x="6863208" y="4886325"/>
            <a:ext cx="5328791" cy="152400"/>
          </a:xfrm>
          <a:prstGeom prst="rect">
            <a:avLst/>
          </a:prstGeom>
          <a:noFill/>
        </p:spPr>
        <p:txBody>
          <a:bodyPr wrap="none" lIns="161925" tIns="0" rIns="0" bIns="0" anchor="t">
            <a:spAutoFit/>
          </a:bodyPr>
          <a:lstStyle/>
          <a:p>
            <a:pPr algn="l"/>
            <a:r>
              <a:rPr sz="975" b="1" i="0" u="none">
                <a:solidFill>
                  <a:srgbClr val="334155"/>
                </a:solidFill>
                <a:latin typeface="Plus Jakarta Sans"/>
              </a:rPr>
              <a:t>Admin Control:</a:t>
            </a:r>
            <a:r>
              <a:rPr sz="975" b="0" i="0" u="none">
                <a:solidFill>
                  <a:srgbClr val="334155"/>
                </a:solidFill>
                <a:latin typeface="Plus Jakarta Sans"/>
              </a:rPr>
              <a:t> Add, edit, or disable lots and slots</a:t>
            </a:r>
            <a:endParaRPr sz="975" b="0" i="0" u="none">
              <a:solidFill>
                <a:srgbClr val="334155"/>
              </a:solidFill>
              <a:latin typeface="Plus Jakarta Sans"/>
            </a:endParaRPr>
          </a:p>
        </p:txBody>
      </p:sp>
      <p:sp>
        <p:nvSpPr>
          <p:cNvPr id="42" name="TextBox 41"/>
          <p:cNvSpPr txBox="1"/>
          <p:nvPr/>
        </p:nvSpPr>
        <p:spPr>
          <a:xfrm>
            <a:off x="914400" y="4295775"/>
            <a:ext cx="1547812" cy="152400"/>
          </a:xfrm>
          <a:prstGeom prst="rect">
            <a:avLst/>
          </a:prstGeom>
          <a:noFill/>
        </p:spPr>
        <p:txBody>
          <a:bodyPr wrap="none" lIns="0" tIns="0" rIns="0" bIns="0" anchor="t">
            <a:spAutoFit/>
          </a:bodyPr>
          <a:lstStyle/>
          <a:p>
            <a:pPr algn="l"/>
            <a:r>
              <a:rPr sz="975" b="1" i="0" u="none">
                <a:solidFill>
                  <a:srgbClr val="0F172A"/>
                </a:solidFill>
                <a:latin typeface="Plus Jakarta Sans"/>
              </a:rPr>
              <a:t>Route:</a:t>
            </a:r>
            <a:endParaRPr sz="975" b="1" i="0" u="none">
              <a:solidFill>
                <a:srgbClr val="0F172A"/>
              </a:solidFill>
              <a:latin typeface="Plus Jakarta Sans"/>
            </a:endParaRPr>
          </a:p>
        </p:txBody>
      </p:sp>
      <p:sp>
        <p:nvSpPr>
          <p:cNvPr id="43" name="TextBox 42"/>
          <p:cNvSpPr txBox="1"/>
          <p:nvPr/>
        </p:nvSpPr>
        <p:spPr>
          <a:xfrm>
            <a:off x="4100958" y="4295775"/>
            <a:ext cx="2547937" cy="152400"/>
          </a:xfrm>
          <a:prstGeom prst="rect">
            <a:avLst/>
          </a:prstGeom>
          <a:noFill/>
        </p:spPr>
        <p:txBody>
          <a:bodyPr wrap="none" lIns="0" tIns="0" rIns="0" bIns="0" anchor="t">
            <a:spAutoFit/>
          </a:bodyPr>
          <a:lstStyle/>
          <a:p>
            <a:pPr algn="l"/>
            <a:r>
              <a:rPr sz="975" b="0" i="0" u="none">
                <a:solidFill>
                  <a:srgbClr val="64748B"/>
                </a:solidFill>
                <a:latin typeface="Plus Jakarta Sans"/>
              </a:rPr>
              <a:t>Origin, Destination, ETA</a:t>
            </a:r>
            <a:endParaRPr sz="975" b="0" i="0" u="none">
              <a:solidFill>
                <a:srgbClr val="64748B"/>
              </a:solidFill>
              <a:latin typeface="Plus Jakarta Sans"/>
            </a:endParaRPr>
          </a:p>
        </p:txBody>
      </p:sp>
      <p:sp>
        <p:nvSpPr>
          <p:cNvPr id="44" name="TextBox 43"/>
          <p:cNvSpPr txBox="1"/>
          <p:nvPr/>
        </p:nvSpPr>
        <p:spPr>
          <a:xfrm>
            <a:off x="914400" y="4638675"/>
            <a:ext cx="1381125" cy="152400"/>
          </a:xfrm>
          <a:prstGeom prst="rect">
            <a:avLst/>
          </a:prstGeom>
          <a:noFill/>
        </p:spPr>
        <p:txBody>
          <a:bodyPr wrap="none" lIns="0" tIns="0" rIns="0" bIns="0" anchor="t">
            <a:spAutoFit/>
          </a:bodyPr>
          <a:lstStyle/>
          <a:p>
            <a:pPr algn="l"/>
            <a:r>
              <a:rPr sz="975" b="1" i="0" u="none">
                <a:solidFill>
                  <a:srgbClr val="0F172A"/>
                </a:solidFill>
                <a:latin typeface="Plus Jakarta Sans"/>
              </a:rPr>
              <a:t>Slot Status:</a:t>
            </a:r>
            <a:endParaRPr sz="975" b="1" i="0" u="none">
              <a:solidFill>
                <a:srgbClr val="0F172A"/>
              </a:solidFill>
              <a:latin typeface="Plus Jakarta Sans"/>
            </a:endParaRPr>
          </a:p>
        </p:txBody>
      </p:sp>
      <p:sp>
        <p:nvSpPr>
          <p:cNvPr id="45" name="TextBox 44"/>
          <p:cNvSpPr txBox="1"/>
          <p:nvPr/>
        </p:nvSpPr>
        <p:spPr>
          <a:xfrm>
            <a:off x="4243833" y="4638675"/>
            <a:ext cx="2369343" cy="152400"/>
          </a:xfrm>
          <a:prstGeom prst="rect">
            <a:avLst/>
          </a:prstGeom>
          <a:noFill/>
        </p:spPr>
        <p:txBody>
          <a:bodyPr wrap="none" lIns="0" tIns="0" rIns="0" bIns="0" anchor="t">
            <a:spAutoFit/>
          </a:bodyPr>
          <a:lstStyle/>
          <a:p>
            <a:pPr algn="l"/>
            <a:r>
              <a:rPr sz="975" b="0" i="0" u="none">
                <a:solidFill>
                  <a:srgbClr val="64748B"/>
                </a:solidFill>
                <a:latin typeface="Plus Jakarta Sans"/>
              </a:rPr>
              <a:t>Slot ID, Status, Updated</a:t>
            </a:r>
            <a:endParaRPr sz="975" b="0" i="0" u="none">
              <a:solidFill>
                <a:srgbClr val="64748B"/>
              </a:solidFill>
              <a:latin typeface="Plus Jakarta Sans"/>
            </a:endParaRPr>
          </a:p>
        </p:txBody>
      </p:sp>
      <p:sp>
        <p:nvSpPr>
          <p:cNvPr id="46" name="TextBox 45"/>
          <p:cNvSpPr txBox="1"/>
          <p:nvPr/>
        </p:nvSpPr>
        <p:spPr>
          <a:xfrm>
            <a:off x="914400" y="4981575"/>
            <a:ext cx="1333500" cy="152400"/>
          </a:xfrm>
          <a:prstGeom prst="rect">
            <a:avLst/>
          </a:prstGeom>
          <a:noFill/>
        </p:spPr>
        <p:txBody>
          <a:bodyPr wrap="none" lIns="0" tIns="0" rIns="0" bIns="0" anchor="t">
            <a:spAutoFit/>
          </a:bodyPr>
          <a:lstStyle/>
          <a:p>
            <a:pPr algn="l"/>
            <a:r>
              <a:rPr sz="975" b="1" i="0" u="none">
                <a:solidFill>
                  <a:srgbClr val="0F172A"/>
                </a:solidFill>
                <a:latin typeface="Plus Jakarta Sans"/>
              </a:rPr>
              <a:t>Admin:</a:t>
            </a:r>
            <a:endParaRPr sz="975" b="1" i="0" u="none">
              <a:solidFill>
                <a:srgbClr val="0F172A"/>
              </a:solidFill>
              <a:latin typeface="Plus Jakarta Sans"/>
            </a:endParaRPr>
          </a:p>
        </p:txBody>
      </p:sp>
      <p:sp>
        <p:nvSpPr>
          <p:cNvPr id="47" name="TextBox 46"/>
          <p:cNvSpPr txBox="1"/>
          <p:nvPr/>
        </p:nvSpPr>
        <p:spPr>
          <a:xfrm>
            <a:off x="4072383" y="4981575"/>
            <a:ext cx="2583656" cy="152400"/>
          </a:xfrm>
          <a:prstGeom prst="rect">
            <a:avLst/>
          </a:prstGeom>
          <a:noFill/>
        </p:spPr>
        <p:txBody>
          <a:bodyPr wrap="none" lIns="0" tIns="0" rIns="0" bIns="0" anchor="t">
            <a:spAutoFit/>
          </a:bodyPr>
          <a:lstStyle/>
          <a:p>
            <a:pPr algn="l"/>
            <a:r>
              <a:rPr sz="975" b="0" i="0" u="none">
                <a:solidFill>
                  <a:srgbClr val="64748B"/>
                </a:solidFill>
                <a:latin typeface="Plus Jakarta Sans"/>
              </a:rPr>
              <a:t>Admin ID, Lot, Pricing Rules</a:t>
            </a:r>
            <a:endParaRPr sz="975" b="0" i="0" u="none">
              <a:solidFill>
                <a:srgbClr val="64748B"/>
              </a:solidFill>
              <a:latin typeface="Plus Jakarta Sans"/>
            </a:endParaRPr>
          </a:p>
        </p:txBody>
      </p:sp>
      <p:pic>
        <p:nvPicPr>
          <p:cNvPr id="48" name="SIMATS Header" descr="5b09ae4e-image.png"/>
          <p:cNvPicPr>
            <a:picLocks noChangeAspect="1"/>
          </p:cNvPicPr>
          <p:nvPr/>
        </p:nvPicPr>
        <p:blipFill>
          <a:blip r:embed="rId2"/>
          <a:stretch>
            <a:fillRect/>
          </a:stretch>
        </p:blipFill>
        <p:spPr>
          <a:xfrm>
            <a:off x="609600" y="80000"/>
            <a:ext cx="10300000" cy="10575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595562"/>
            <a:ext cx="2628900" cy="1400175"/>
          </a:xfrm>
          <a:prstGeom prst="roundRect">
            <a:avLst>
              <a:gd name="adj" fmla="val 68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390900" y="2595562"/>
            <a:ext cx="2628900" cy="1400175"/>
          </a:xfrm>
          <a:prstGeom prst="roundRect">
            <a:avLst>
              <a:gd name="adj" fmla="val 68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72200" y="2595562"/>
            <a:ext cx="2628900" cy="1400175"/>
          </a:xfrm>
          <a:prstGeom prst="roundRect">
            <a:avLst>
              <a:gd name="adj" fmla="val 68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53500" y="2595562"/>
            <a:ext cx="2628900" cy="1400175"/>
          </a:xfrm>
          <a:prstGeom prst="roundRect">
            <a:avLst>
              <a:gd name="adj" fmla="val 68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4224337"/>
            <a:ext cx="5391150" cy="1057275"/>
          </a:xfrm>
          <a:prstGeom prst="roundRect">
            <a:avLst>
              <a:gd name="adj" fmla="val 108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1250" y="4224337"/>
            <a:ext cx="5391150" cy="1057275"/>
          </a:xfrm>
          <a:prstGeom prst="roundRect">
            <a:avLst>
              <a:gd name="adj" fmla="val 108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33550" y="2795587"/>
            <a:ext cx="381000" cy="38100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14850" y="2795587"/>
            <a:ext cx="381000" cy="38100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96150" y="2795587"/>
            <a:ext cx="381000" cy="3810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77450" y="2795587"/>
            <a:ext cx="381000" cy="38100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1"/>
          <a:stretch>
            <a:fillRect/>
          </a:stretch>
        </p:blipFill>
        <p:spPr>
          <a:xfrm>
            <a:off x="847725" y="4452937"/>
            <a:ext cx="180975" cy="142875"/>
          </a:xfrm>
          <a:prstGeom prst="rect">
            <a:avLst/>
          </a:prstGeom>
        </p:spPr>
      </p:pic>
      <p:pic>
        <p:nvPicPr>
          <p:cNvPr id="13" name="Picture 12" descr="image.png"/>
          <p:cNvPicPr>
            <a:picLocks noChangeAspect="1"/>
          </p:cNvPicPr>
          <p:nvPr/>
        </p:nvPicPr>
        <p:blipFill>
          <a:blip r:embed="rId2"/>
          <a:stretch>
            <a:fillRect/>
          </a:stretch>
        </p:blipFill>
        <p:spPr>
          <a:xfrm>
            <a:off x="6429375" y="4452937"/>
            <a:ext cx="123825" cy="142875"/>
          </a:xfrm>
          <a:prstGeom prst="rect">
            <a:avLst/>
          </a:prstGeom>
        </p:spPr>
      </p:pic>
      <p:sp>
        <p:nvSpPr>
          <p:cNvPr id="14" name="TextBox 13"/>
          <p:cNvSpPr txBox="1"/>
          <p:nvPr/>
        </p:nvSpPr>
        <p:spPr>
          <a:xfrm>
            <a:off x="609600" y="1307200"/>
            <a:ext cx="4591050" cy="600075"/>
          </a:xfrm>
          <a:prstGeom prst="rect">
            <a:avLst/>
          </a:prstGeom>
          <a:noFill/>
        </p:spPr>
        <p:txBody>
          <a:bodyPr wrap="square" lIns="0" tIns="0" rIns="0" bIns="0" anchor="t">
            <a:spAutoFit/>
          </a:bodyPr>
          <a:lstStyle/>
          <a:p>
            <a:pPr algn="l"/>
            <a:r>
              <a:rPr sz="975" b="1" i="0" u="none">
                <a:solidFill>
                  <a:srgbClr val="EF4444"/>
                </a:solidFill>
                <a:latin typeface="Plus Jakarta Sans"/>
              </a:rPr>
              <a:t>Technical Execution</a:t>
            </a:r>
            <a:endParaRPr sz="975" b="1" i="0" u="none">
              <a:solidFill>
                <a:srgbClr val="EF4444"/>
              </a:solidFill>
              <a:latin typeface="Plus Jakarta Sans"/>
            </a:endParaRPr>
          </a:p>
        </p:txBody>
      </p:sp>
      <p:sp>
        <p:nvSpPr>
          <p:cNvPr id="15" name="TextBox 14"/>
          <p:cNvSpPr txBox="1"/>
          <p:nvPr/>
        </p:nvSpPr>
        <p:spPr>
          <a:xfrm>
            <a:off x="10163175" y="1735825"/>
            <a:ext cx="1774031" cy="171450"/>
          </a:xfrm>
          <a:prstGeom prst="rect">
            <a:avLst/>
          </a:prstGeom>
          <a:noFill/>
        </p:spPr>
        <p:txBody>
          <a:bodyPr wrap="none" lIns="0" tIns="0" rIns="0" bIns="0" anchor="t">
            <a:spAutoFit/>
          </a:bodyPr>
          <a:lstStyle/>
          <a:p>
            <a:pPr algn="l"/>
            <a:r>
              <a:rPr sz="1050" b="1" i="0" u="none">
                <a:solidFill>
                  <a:srgbClr val="64748B"/>
                </a:solidFill>
                <a:latin typeface="Plus Jakarta Sans"/>
              </a:rPr>
              <a:t>End-to-End Execution</a:t>
            </a:r>
            <a:endParaRPr sz="1050" b="1" i="0" u="none">
              <a:solidFill>
                <a:srgbClr val="64748B"/>
              </a:solidFill>
              <a:latin typeface="Plus Jakarta Sans"/>
            </a:endParaRPr>
          </a:p>
        </p:txBody>
      </p:sp>
      <p:sp>
        <p:nvSpPr>
          <p:cNvPr id="16" name="TextBox 15"/>
          <p:cNvSpPr txBox="1"/>
          <p:nvPr/>
        </p:nvSpPr>
        <p:spPr>
          <a:xfrm>
            <a:off x="609600" y="1545325"/>
            <a:ext cx="5900737" cy="361950"/>
          </a:xfrm>
          <a:prstGeom prst="rect">
            <a:avLst/>
          </a:prstGeom>
          <a:noFill/>
        </p:spPr>
        <p:txBody>
          <a:bodyPr wrap="none" lIns="0" tIns="0" rIns="0" bIns="0" anchor="t">
            <a:spAutoFit/>
          </a:bodyPr>
          <a:lstStyle/>
          <a:p>
            <a:pPr algn="l"/>
            <a:r>
              <a:rPr sz="2250" b="1" i="0" u="none">
                <a:solidFill>
                  <a:srgbClr val="0F172A"/>
                </a:solidFill>
                <a:latin typeface="Plus Jakarta Sans"/>
              </a:rPr>
              <a:t>Implementation &amp; Booking Pipeline</a:t>
            </a:r>
            <a:endParaRPr sz="2250" b="1" i="0" u="none">
              <a:solidFill>
                <a:srgbClr val="0F172A"/>
              </a:solidFill>
              <a:latin typeface="Plus Jakarta Sans"/>
            </a:endParaRPr>
          </a:p>
        </p:txBody>
      </p:sp>
      <p:sp>
        <p:nvSpPr>
          <p:cNvPr id="17" name="TextBox 16"/>
          <p:cNvSpPr txBox="1"/>
          <p:nvPr/>
        </p:nvSpPr>
        <p:spPr>
          <a:xfrm>
            <a:off x="1590675" y="2795587"/>
            <a:ext cx="666750" cy="381000"/>
          </a:xfrm>
          <a:prstGeom prst="rect">
            <a:avLst/>
          </a:prstGeom>
          <a:noFill/>
        </p:spPr>
        <p:txBody>
          <a:bodyPr wrap="square" lIns="0" tIns="0" rIns="0" bIns="0" anchor="ctr">
            <a:spAutoFit/>
          </a:bodyPr>
          <a:lstStyle/>
          <a:p>
            <a:pPr algn="ctr"/>
            <a:r>
              <a:rPr sz="1200" b="1" i="0" u="none">
                <a:solidFill>
                  <a:srgbClr val="DC2626"/>
                </a:solidFill>
                <a:latin typeface="Plus Jakarta Sans"/>
              </a:rPr>
              <a:t>1</a:t>
            </a:r>
            <a:endParaRPr sz="1200" b="1" i="0" u="none">
              <a:solidFill>
                <a:srgbClr val="DC2626"/>
              </a:solidFill>
              <a:latin typeface="Plus Jakarta Sans"/>
            </a:endParaRPr>
          </a:p>
        </p:txBody>
      </p:sp>
      <p:sp>
        <p:nvSpPr>
          <p:cNvPr id="18" name="TextBox 17"/>
          <p:cNvSpPr txBox="1"/>
          <p:nvPr/>
        </p:nvSpPr>
        <p:spPr>
          <a:xfrm>
            <a:off x="461367" y="3271837"/>
            <a:ext cx="2925365" cy="180975"/>
          </a:xfrm>
          <a:prstGeom prst="rect">
            <a:avLst/>
          </a:prstGeom>
          <a:noFill/>
        </p:spPr>
        <p:txBody>
          <a:bodyPr wrap="none" lIns="0" tIns="0" rIns="0" bIns="0" anchor="t">
            <a:spAutoFit/>
          </a:bodyPr>
          <a:lstStyle/>
          <a:p>
            <a:pPr algn="ctr"/>
            <a:r>
              <a:rPr sz="1125" b="1" i="0" u="none">
                <a:solidFill>
                  <a:srgbClr val="0F172A"/>
                </a:solidFill>
                <a:latin typeface="Plus Jakarta Sans"/>
              </a:rPr>
              <a:t>Search Nearby</a:t>
            </a:r>
            <a:endParaRPr sz="1125" b="1" i="0" u="none">
              <a:solidFill>
                <a:srgbClr val="0F172A"/>
              </a:solidFill>
              <a:latin typeface="Plus Jakarta Sans"/>
            </a:endParaRPr>
          </a:p>
        </p:txBody>
      </p:sp>
      <p:sp>
        <p:nvSpPr>
          <p:cNvPr id="19" name="TextBox 18"/>
          <p:cNvSpPr txBox="1"/>
          <p:nvPr/>
        </p:nvSpPr>
        <p:spPr>
          <a:xfrm>
            <a:off x="531018" y="3490912"/>
            <a:ext cx="2786062" cy="304800"/>
          </a:xfrm>
          <a:prstGeom prst="rect">
            <a:avLst/>
          </a:prstGeom>
          <a:noFill/>
        </p:spPr>
        <p:txBody>
          <a:bodyPr wrap="square" lIns="0" tIns="0" rIns="0" bIns="0" anchor="t">
            <a:spAutoFit/>
          </a:bodyPr>
          <a:lstStyle/>
          <a:p>
            <a:pPr algn="ctr"/>
            <a:r>
              <a:rPr sz="975" b="0" i="0" u="none">
                <a:solidFill>
                  <a:srgbClr val="64748B"/>
                </a:solidFill>
                <a:latin typeface="Plus Jakarta Sans"/>
              </a:rPr>
              <a:t>App fetches the GPS location and lists nearby lots within seconds.</a:t>
            </a:r>
            <a:endParaRPr sz="975" b="0" i="0" u="none">
              <a:solidFill>
                <a:srgbClr val="64748B"/>
              </a:solidFill>
              <a:latin typeface="Plus Jakarta Sans"/>
            </a:endParaRPr>
          </a:p>
        </p:txBody>
      </p:sp>
      <p:sp>
        <p:nvSpPr>
          <p:cNvPr id="20" name="TextBox 19"/>
          <p:cNvSpPr txBox="1"/>
          <p:nvPr/>
        </p:nvSpPr>
        <p:spPr>
          <a:xfrm>
            <a:off x="4371975" y="2795587"/>
            <a:ext cx="666750" cy="381000"/>
          </a:xfrm>
          <a:prstGeom prst="rect">
            <a:avLst/>
          </a:prstGeom>
          <a:noFill/>
        </p:spPr>
        <p:txBody>
          <a:bodyPr wrap="square" lIns="0" tIns="0" rIns="0" bIns="0" anchor="ctr">
            <a:spAutoFit/>
          </a:bodyPr>
          <a:lstStyle/>
          <a:p>
            <a:pPr algn="ctr"/>
            <a:r>
              <a:rPr sz="1200" b="1" i="0" u="none">
                <a:solidFill>
                  <a:srgbClr val="2563EB"/>
                </a:solidFill>
                <a:latin typeface="Plus Jakarta Sans"/>
              </a:rPr>
              <a:t>2</a:t>
            </a:r>
            <a:endParaRPr sz="1200" b="1" i="0" u="none">
              <a:solidFill>
                <a:srgbClr val="2563EB"/>
              </a:solidFill>
              <a:latin typeface="Plus Jakarta Sans"/>
            </a:endParaRPr>
          </a:p>
        </p:txBody>
      </p:sp>
      <p:sp>
        <p:nvSpPr>
          <p:cNvPr id="21" name="TextBox 20"/>
          <p:cNvSpPr txBox="1"/>
          <p:nvPr/>
        </p:nvSpPr>
        <p:spPr>
          <a:xfrm>
            <a:off x="3242667" y="3271837"/>
            <a:ext cx="2925365" cy="180975"/>
          </a:xfrm>
          <a:prstGeom prst="rect">
            <a:avLst/>
          </a:prstGeom>
          <a:noFill/>
        </p:spPr>
        <p:txBody>
          <a:bodyPr wrap="none" lIns="0" tIns="0" rIns="0" bIns="0" anchor="t">
            <a:spAutoFit/>
          </a:bodyPr>
          <a:lstStyle/>
          <a:p>
            <a:pPr algn="ctr"/>
            <a:r>
              <a:rPr sz="1125" b="1" i="0" u="none">
                <a:solidFill>
                  <a:srgbClr val="0F172A"/>
                </a:solidFill>
                <a:latin typeface="Plus Jakarta Sans"/>
              </a:rPr>
              <a:t>Select &amp; Book</a:t>
            </a:r>
            <a:endParaRPr sz="1125" b="1" i="0" u="none">
              <a:solidFill>
                <a:srgbClr val="0F172A"/>
              </a:solidFill>
              <a:latin typeface="Plus Jakarta Sans"/>
            </a:endParaRPr>
          </a:p>
        </p:txBody>
      </p:sp>
      <p:sp>
        <p:nvSpPr>
          <p:cNvPr id="22" name="TextBox 21"/>
          <p:cNvSpPr txBox="1"/>
          <p:nvPr/>
        </p:nvSpPr>
        <p:spPr>
          <a:xfrm>
            <a:off x="3312318" y="3490912"/>
            <a:ext cx="2786062" cy="304800"/>
          </a:xfrm>
          <a:prstGeom prst="rect">
            <a:avLst/>
          </a:prstGeom>
          <a:noFill/>
        </p:spPr>
        <p:txBody>
          <a:bodyPr wrap="square" lIns="0" tIns="0" rIns="0" bIns="0" anchor="t">
            <a:spAutoFit/>
          </a:bodyPr>
          <a:lstStyle/>
          <a:p>
            <a:pPr algn="ctr"/>
            <a:r>
              <a:rPr sz="975" b="0" i="0" u="none">
                <a:solidFill>
                  <a:srgbClr val="64748B"/>
                </a:solidFill>
                <a:latin typeface="Plus Jakarta Sans"/>
              </a:rPr>
              <a:t>Driver picks a slot; the slot is locked for the booking window.</a:t>
            </a:r>
            <a:endParaRPr sz="975" b="0" i="0" u="none">
              <a:solidFill>
                <a:srgbClr val="64748B"/>
              </a:solidFill>
              <a:latin typeface="Plus Jakarta Sans"/>
            </a:endParaRPr>
          </a:p>
        </p:txBody>
      </p:sp>
      <p:sp>
        <p:nvSpPr>
          <p:cNvPr id="23" name="TextBox 22"/>
          <p:cNvSpPr txBox="1"/>
          <p:nvPr/>
        </p:nvSpPr>
        <p:spPr>
          <a:xfrm>
            <a:off x="7153275" y="2795587"/>
            <a:ext cx="666750" cy="381000"/>
          </a:xfrm>
          <a:prstGeom prst="rect">
            <a:avLst/>
          </a:prstGeom>
          <a:noFill/>
        </p:spPr>
        <p:txBody>
          <a:bodyPr wrap="square" lIns="0" tIns="0" rIns="0" bIns="0" anchor="ctr">
            <a:spAutoFit/>
          </a:bodyPr>
          <a:lstStyle/>
          <a:p>
            <a:pPr algn="ctr"/>
            <a:r>
              <a:rPr sz="1200" b="1" i="0" u="none">
                <a:solidFill>
                  <a:srgbClr val="059669"/>
                </a:solidFill>
                <a:latin typeface="Plus Jakarta Sans"/>
              </a:rPr>
              <a:t>3</a:t>
            </a:r>
            <a:endParaRPr sz="1200" b="1" i="0" u="none">
              <a:solidFill>
                <a:srgbClr val="059669"/>
              </a:solidFill>
              <a:latin typeface="Plus Jakarta Sans"/>
            </a:endParaRPr>
          </a:p>
        </p:txBody>
      </p:sp>
      <p:sp>
        <p:nvSpPr>
          <p:cNvPr id="24" name="TextBox 23"/>
          <p:cNvSpPr txBox="1"/>
          <p:nvPr/>
        </p:nvSpPr>
        <p:spPr>
          <a:xfrm>
            <a:off x="6023967" y="3271837"/>
            <a:ext cx="2925365" cy="180975"/>
          </a:xfrm>
          <a:prstGeom prst="rect">
            <a:avLst/>
          </a:prstGeom>
          <a:noFill/>
        </p:spPr>
        <p:txBody>
          <a:bodyPr wrap="none" lIns="0" tIns="0" rIns="0" bIns="0" anchor="t">
            <a:spAutoFit/>
          </a:bodyPr>
          <a:lstStyle/>
          <a:p>
            <a:pPr algn="ctr"/>
            <a:r>
              <a:rPr sz="1125" b="1" i="0" u="none">
                <a:solidFill>
                  <a:srgbClr val="0F172A"/>
                </a:solidFill>
                <a:latin typeface="Plus Jakarta Sans"/>
              </a:rPr>
              <a:t>Pay &amp; Confirm</a:t>
            </a:r>
            <a:endParaRPr sz="1125" b="1" i="0" u="none">
              <a:solidFill>
                <a:srgbClr val="0F172A"/>
              </a:solidFill>
              <a:latin typeface="Plus Jakarta Sans"/>
            </a:endParaRPr>
          </a:p>
        </p:txBody>
      </p:sp>
      <p:sp>
        <p:nvSpPr>
          <p:cNvPr id="25" name="TextBox 24"/>
          <p:cNvSpPr txBox="1"/>
          <p:nvPr/>
        </p:nvSpPr>
        <p:spPr>
          <a:xfrm>
            <a:off x="6093618" y="3490912"/>
            <a:ext cx="2786062" cy="304800"/>
          </a:xfrm>
          <a:prstGeom prst="rect">
            <a:avLst/>
          </a:prstGeom>
          <a:noFill/>
        </p:spPr>
        <p:txBody>
          <a:bodyPr wrap="square" lIns="0" tIns="0" rIns="0" bIns="0" anchor="t">
            <a:spAutoFit/>
          </a:bodyPr>
          <a:lstStyle/>
          <a:p>
            <a:pPr algn="ctr"/>
            <a:r>
              <a:rPr sz="975" b="0" i="0" u="none">
                <a:solidFill>
                  <a:srgbClr val="64748B"/>
                </a:solidFill>
                <a:latin typeface="Plus Jakarta Sans"/>
              </a:rPr>
              <a:t>Payment gateway verifies the transaction and issues an e-ticket.</a:t>
            </a:r>
            <a:endParaRPr sz="975" b="0" i="0" u="none">
              <a:solidFill>
                <a:srgbClr val="64748B"/>
              </a:solidFill>
              <a:latin typeface="Plus Jakarta Sans"/>
            </a:endParaRPr>
          </a:p>
        </p:txBody>
      </p:sp>
      <p:sp>
        <p:nvSpPr>
          <p:cNvPr id="26" name="TextBox 25"/>
          <p:cNvSpPr txBox="1"/>
          <p:nvPr/>
        </p:nvSpPr>
        <p:spPr>
          <a:xfrm>
            <a:off x="9934575" y="2795587"/>
            <a:ext cx="666750" cy="381000"/>
          </a:xfrm>
          <a:prstGeom prst="rect">
            <a:avLst/>
          </a:prstGeom>
          <a:noFill/>
        </p:spPr>
        <p:txBody>
          <a:bodyPr wrap="square" lIns="0" tIns="0" rIns="0" bIns="0" anchor="ctr">
            <a:spAutoFit/>
          </a:bodyPr>
          <a:lstStyle/>
          <a:p>
            <a:pPr algn="ctr"/>
            <a:r>
              <a:rPr sz="1200" b="1" i="0" u="none">
                <a:solidFill>
                  <a:srgbClr val="7C3AED"/>
                </a:solidFill>
                <a:latin typeface="Plus Jakarta Sans"/>
              </a:rPr>
              <a:t>4</a:t>
            </a:r>
            <a:endParaRPr sz="1200" b="1" i="0" u="none">
              <a:solidFill>
                <a:srgbClr val="7C3AED"/>
              </a:solidFill>
              <a:latin typeface="Plus Jakarta Sans"/>
            </a:endParaRPr>
          </a:p>
        </p:txBody>
      </p:sp>
      <p:sp>
        <p:nvSpPr>
          <p:cNvPr id="27" name="TextBox 26"/>
          <p:cNvSpPr txBox="1"/>
          <p:nvPr/>
        </p:nvSpPr>
        <p:spPr>
          <a:xfrm>
            <a:off x="8805267" y="3271837"/>
            <a:ext cx="2925365" cy="180975"/>
          </a:xfrm>
          <a:prstGeom prst="rect">
            <a:avLst/>
          </a:prstGeom>
          <a:noFill/>
        </p:spPr>
        <p:txBody>
          <a:bodyPr wrap="none" lIns="0" tIns="0" rIns="0" bIns="0" anchor="t">
            <a:spAutoFit/>
          </a:bodyPr>
          <a:lstStyle/>
          <a:p>
            <a:pPr algn="ctr"/>
            <a:r>
              <a:rPr sz="1125" b="1" i="0" u="none">
                <a:solidFill>
                  <a:srgbClr val="0F172A"/>
                </a:solidFill>
                <a:latin typeface="Plus Jakarta Sans"/>
              </a:rPr>
              <a:t>Navigate &amp; Park</a:t>
            </a:r>
            <a:endParaRPr sz="1125" b="1" i="0" u="none">
              <a:solidFill>
                <a:srgbClr val="0F172A"/>
              </a:solidFill>
              <a:latin typeface="Plus Jakarta Sans"/>
            </a:endParaRPr>
          </a:p>
        </p:txBody>
      </p:sp>
      <p:sp>
        <p:nvSpPr>
          <p:cNvPr id="28" name="TextBox 27"/>
          <p:cNvSpPr txBox="1"/>
          <p:nvPr/>
        </p:nvSpPr>
        <p:spPr>
          <a:xfrm>
            <a:off x="8874918" y="3490912"/>
            <a:ext cx="2786062" cy="304800"/>
          </a:xfrm>
          <a:prstGeom prst="rect">
            <a:avLst/>
          </a:prstGeom>
          <a:noFill/>
        </p:spPr>
        <p:txBody>
          <a:bodyPr wrap="square" lIns="0" tIns="0" rIns="0" bIns="0" anchor="t">
            <a:spAutoFit/>
          </a:bodyPr>
          <a:lstStyle/>
          <a:p>
            <a:pPr algn="ctr"/>
            <a:r>
              <a:rPr sz="975" b="0" i="0" u="none">
                <a:solidFill>
                  <a:srgbClr val="64748B"/>
                </a:solidFill>
                <a:latin typeface="Plus Jakarta Sans"/>
              </a:rPr>
              <a:t>Route guidance leads to the lot; slot status updates to occupied.</a:t>
            </a:r>
            <a:endParaRPr sz="975" b="0" i="0" u="none">
              <a:solidFill>
                <a:srgbClr val="64748B"/>
              </a:solidFill>
              <a:latin typeface="Plus Jakarta Sans"/>
            </a:endParaRPr>
          </a:p>
        </p:txBody>
      </p:sp>
      <p:sp>
        <p:nvSpPr>
          <p:cNvPr id="29" name="TextBox 28"/>
          <p:cNvSpPr txBox="1"/>
          <p:nvPr/>
        </p:nvSpPr>
        <p:spPr>
          <a:xfrm>
            <a:off x="847725" y="4424362"/>
            <a:ext cx="6450806" cy="180975"/>
          </a:xfrm>
          <a:prstGeom prst="rect">
            <a:avLst/>
          </a:prstGeom>
          <a:noFill/>
        </p:spPr>
        <p:txBody>
          <a:bodyPr wrap="none" lIns="257175" tIns="0" rIns="0" bIns="0" anchor="t">
            <a:spAutoFit/>
          </a:bodyPr>
          <a:lstStyle/>
          <a:p>
            <a:pPr algn="l"/>
            <a:r>
              <a:rPr sz="1125" b="1" i="0" u="none">
                <a:solidFill>
                  <a:srgbClr val="0F172A"/>
                </a:solidFill>
                <a:latin typeface="Plus Jakarta Sans"/>
              </a:rPr>
              <a:t>Frontend &amp; Mobile Client</a:t>
            </a:r>
            <a:endParaRPr sz="1125" b="1" i="0" u="none">
              <a:solidFill>
                <a:srgbClr val="0F172A"/>
              </a:solidFill>
              <a:latin typeface="Plus Jakarta Sans"/>
            </a:endParaRPr>
          </a:p>
        </p:txBody>
      </p:sp>
      <p:sp>
        <p:nvSpPr>
          <p:cNvPr id="30" name="TextBox 29"/>
          <p:cNvSpPr txBox="1"/>
          <p:nvPr/>
        </p:nvSpPr>
        <p:spPr>
          <a:xfrm>
            <a:off x="847725" y="4681537"/>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Flutter cross-platform client with Google Maps integration, GPS location services, and a clean, responsive UI built for drivers on the move.</a:t>
            </a:r>
            <a:endParaRPr sz="1050" b="0" i="0" u="none">
              <a:solidFill>
                <a:srgbClr val="475569"/>
              </a:solidFill>
              <a:latin typeface="Plus Jakarta Sans"/>
            </a:endParaRPr>
          </a:p>
        </p:txBody>
      </p:sp>
      <p:sp>
        <p:nvSpPr>
          <p:cNvPr id="31" name="TextBox 30"/>
          <p:cNvSpPr txBox="1"/>
          <p:nvPr/>
        </p:nvSpPr>
        <p:spPr>
          <a:xfrm>
            <a:off x="6429375" y="4424362"/>
            <a:ext cx="5762625" cy="180975"/>
          </a:xfrm>
          <a:prstGeom prst="rect">
            <a:avLst/>
          </a:prstGeom>
          <a:noFill/>
        </p:spPr>
        <p:txBody>
          <a:bodyPr wrap="none" lIns="200025" tIns="0" rIns="0" bIns="0" anchor="t">
            <a:spAutoFit/>
          </a:bodyPr>
          <a:lstStyle/>
          <a:p>
            <a:pPr algn="l"/>
            <a:r>
              <a:rPr sz="1125" b="1" i="0" u="none">
                <a:solidFill>
                  <a:srgbClr val="0F172A"/>
                </a:solidFill>
                <a:latin typeface="Plus Jakarta Sans"/>
              </a:rPr>
              <a:t>Backend &amp; Data Services</a:t>
            </a:r>
            <a:endParaRPr sz="1125" b="1" i="0" u="none">
              <a:solidFill>
                <a:srgbClr val="0F172A"/>
              </a:solidFill>
              <a:latin typeface="Plus Jakarta Sans"/>
            </a:endParaRPr>
          </a:p>
        </p:txBody>
      </p:sp>
      <p:sp>
        <p:nvSpPr>
          <p:cNvPr id="32" name="TextBox 31"/>
          <p:cNvSpPr txBox="1"/>
          <p:nvPr/>
        </p:nvSpPr>
        <p:spPr>
          <a:xfrm>
            <a:off x="6429375" y="4681537"/>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Node.js / Express REST APIs with PostgreSQL, Firebase real-time slot sync, Razorpay payments, and Firebase Cloud Messaging notifications.</a:t>
            </a:r>
            <a:endParaRPr sz="1050" b="0" i="0" u="none">
              <a:solidFill>
                <a:srgbClr val="475569"/>
              </a:solidFill>
              <a:latin typeface="Plus Jakarta Sans"/>
            </a:endParaRPr>
          </a:p>
        </p:txBody>
      </p:sp>
      <p:pic>
        <p:nvPicPr>
          <p:cNvPr id="33" name="SIMATS Header" descr="5b09ae4e-image.png"/>
          <p:cNvPicPr>
            <a:picLocks noChangeAspect="1"/>
          </p:cNvPicPr>
          <p:nvPr/>
        </p:nvPicPr>
        <p:blipFill>
          <a:blip r:embed="rId3"/>
          <a:stretch>
            <a:fillRect/>
          </a:stretch>
        </p:blipFill>
        <p:spPr>
          <a:xfrm>
            <a:off x="609600" y="80000"/>
            <a:ext cx="10300000" cy="10575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4386262"/>
            <a:ext cx="10972800" cy="1019175"/>
          </a:xfrm>
          <a:prstGeom prst="roundRect">
            <a:avLst>
              <a:gd name="adj" fmla="val 1121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471737"/>
            <a:ext cx="2600325" cy="1685925"/>
          </a:xfrm>
          <a:prstGeom prst="roundRect">
            <a:avLst>
              <a:gd name="adj" fmla="val 677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00425" y="2471737"/>
            <a:ext cx="2600325" cy="1685925"/>
          </a:xfrm>
          <a:prstGeom prst="roundRect">
            <a:avLst>
              <a:gd name="adj" fmla="val 677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471737"/>
            <a:ext cx="2600325" cy="1685925"/>
          </a:xfrm>
          <a:prstGeom prst="roundRect">
            <a:avLst>
              <a:gd name="adj" fmla="val 677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82075" y="2471737"/>
            <a:ext cx="2600325" cy="1685925"/>
          </a:xfrm>
          <a:prstGeom prst="roundRect">
            <a:avLst>
              <a:gd name="adj" fmla="val 677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4386262"/>
            <a:ext cx="38100" cy="101917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1307200"/>
            <a:ext cx="2924175" cy="600075"/>
          </a:xfrm>
          <a:prstGeom prst="rect">
            <a:avLst/>
          </a:prstGeom>
          <a:noFill/>
        </p:spPr>
        <p:txBody>
          <a:bodyPr wrap="square" lIns="0" tIns="0" rIns="0" bIns="0" anchor="t">
            <a:spAutoFit/>
          </a:bodyPr>
          <a:lstStyle/>
          <a:p>
            <a:pPr algn="l"/>
            <a:r>
              <a:rPr sz="975" b="1" i="0" u="none">
                <a:solidFill>
                  <a:srgbClr val="EF4444"/>
                </a:solidFill>
                <a:latin typeface="Plus Jakarta Sans"/>
              </a:rPr>
              <a:t>Verification &amp; Evaluation</a:t>
            </a:r>
            <a:endParaRPr sz="975" b="1" i="0" u="none">
              <a:solidFill>
                <a:srgbClr val="EF4444"/>
              </a:solidFill>
              <a:latin typeface="Plus Jakarta Sans"/>
            </a:endParaRPr>
          </a:p>
        </p:txBody>
      </p:sp>
      <p:sp>
        <p:nvSpPr>
          <p:cNvPr id="9" name="TextBox 8"/>
          <p:cNvSpPr txBox="1"/>
          <p:nvPr/>
        </p:nvSpPr>
        <p:spPr>
          <a:xfrm>
            <a:off x="9810750" y="1735825"/>
            <a:ext cx="2214562" cy="171450"/>
          </a:xfrm>
          <a:prstGeom prst="rect">
            <a:avLst/>
          </a:prstGeom>
          <a:noFill/>
        </p:spPr>
        <p:txBody>
          <a:bodyPr wrap="none" lIns="0" tIns="0" rIns="0" bIns="0" anchor="t">
            <a:spAutoFit/>
          </a:bodyPr>
          <a:lstStyle/>
          <a:p>
            <a:pPr algn="l"/>
            <a:r>
              <a:rPr sz="1050" b="1" i="0" u="none">
                <a:solidFill>
                  <a:srgbClr val="64748B"/>
                </a:solidFill>
                <a:latin typeface="Plus Jakarta Sans"/>
              </a:rPr>
              <a:t>Target Benchmarks</a:t>
            </a:r>
            <a:endParaRPr sz="1050" b="1" i="0" u="none">
              <a:solidFill>
                <a:srgbClr val="64748B"/>
              </a:solidFill>
              <a:latin typeface="Plus Jakarta Sans"/>
            </a:endParaRPr>
          </a:p>
        </p:txBody>
      </p:sp>
      <p:sp>
        <p:nvSpPr>
          <p:cNvPr id="10" name="TextBox 9"/>
          <p:cNvSpPr txBox="1"/>
          <p:nvPr/>
        </p:nvSpPr>
        <p:spPr>
          <a:xfrm>
            <a:off x="609600" y="1545325"/>
            <a:ext cx="3712964" cy="361950"/>
          </a:xfrm>
          <a:prstGeom prst="rect">
            <a:avLst/>
          </a:prstGeom>
          <a:noFill/>
        </p:spPr>
        <p:txBody>
          <a:bodyPr wrap="none" lIns="0" tIns="0" rIns="0" bIns="0" anchor="t">
            <a:spAutoFit/>
          </a:bodyPr>
          <a:lstStyle/>
          <a:p>
            <a:pPr algn="l"/>
            <a:r>
              <a:rPr sz="2250" b="1" i="0" u="none">
                <a:solidFill>
                  <a:srgbClr val="0F172A"/>
                </a:solidFill>
                <a:latin typeface="Plus Jakarta Sans"/>
              </a:rPr>
              <a:t>Results &amp; Discussion</a:t>
            </a:r>
            <a:endParaRPr sz="2250" b="1" i="0" u="none">
              <a:solidFill>
                <a:srgbClr val="0F172A"/>
              </a:solidFill>
              <a:latin typeface="Plus Jakarta Sans"/>
            </a:endParaRPr>
          </a:p>
        </p:txBody>
      </p:sp>
      <p:sp>
        <p:nvSpPr>
          <p:cNvPr id="11" name="TextBox 10"/>
          <p:cNvSpPr txBox="1"/>
          <p:nvPr/>
        </p:nvSpPr>
        <p:spPr>
          <a:xfrm>
            <a:off x="513159" y="2700337"/>
            <a:ext cx="2793206" cy="1228725"/>
          </a:xfrm>
          <a:prstGeom prst="rect">
            <a:avLst/>
          </a:prstGeom>
          <a:noFill/>
        </p:spPr>
        <p:txBody>
          <a:bodyPr wrap="square" lIns="0" tIns="0" rIns="0" bIns="0" anchor="t">
            <a:spAutoFit/>
          </a:bodyPr>
          <a:lstStyle/>
          <a:p>
            <a:pPr algn="ctr"/>
            <a:r>
              <a:rPr sz="3300" b="1" i="0" u="none">
                <a:solidFill>
                  <a:srgbClr val="DC2626"/>
                </a:solidFill>
                <a:latin typeface="Plus Jakarta Sans"/>
              </a:rPr>
              <a:t>&lt; 2s</a:t>
            </a:r>
            <a:endParaRPr sz="3300" b="1" i="0" u="none">
              <a:solidFill>
                <a:srgbClr val="DC2626"/>
              </a:solidFill>
              <a:latin typeface="Plus Jakarta Sans"/>
            </a:endParaRPr>
          </a:p>
        </p:txBody>
      </p:sp>
      <p:sp>
        <p:nvSpPr>
          <p:cNvPr id="12" name="TextBox 11"/>
          <p:cNvSpPr txBox="1"/>
          <p:nvPr/>
        </p:nvSpPr>
        <p:spPr>
          <a:xfrm>
            <a:off x="3303984" y="2700337"/>
            <a:ext cx="2793206" cy="1228725"/>
          </a:xfrm>
          <a:prstGeom prst="rect">
            <a:avLst/>
          </a:prstGeom>
          <a:noFill/>
        </p:spPr>
        <p:txBody>
          <a:bodyPr wrap="square" lIns="0" tIns="0" rIns="0" bIns="0" anchor="t">
            <a:spAutoFit/>
          </a:bodyPr>
          <a:lstStyle/>
          <a:p>
            <a:pPr algn="ctr"/>
            <a:r>
              <a:rPr sz="3300" b="1" i="0" u="none">
                <a:solidFill>
                  <a:srgbClr val="2563EB"/>
                </a:solidFill>
                <a:latin typeface="Plus Jakarta Sans"/>
              </a:rPr>
              <a:t>&lt; 30s</a:t>
            </a:r>
            <a:endParaRPr sz="3300" b="1" i="0" u="none">
              <a:solidFill>
                <a:srgbClr val="2563EB"/>
              </a:solidFill>
              <a:latin typeface="Plus Jakarta Sans"/>
            </a:endParaRPr>
          </a:p>
        </p:txBody>
      </p:sp>
      <p:sp>
        <p:nvSpPr>
          <p:cNvPr id="13" name="TextBox 12"/>
          <p:cNvSpPr txBox="1"/>
          <p:nvPr/>
        </p:nvSpPr>
        <p:spPr>
          <a:xfrm>
            <a:off x="6094809" y="2700337"/>
            <a:ext cx="2793206" cy="1228725"/>
          </a:xfrm>
          <a:prstGeom prst="rect">
            <a:avLst/>
          </a:prstGeom>
          <a:noFill/>
        </p:spPr>
        <p:txBody>
          <a:bodyPr wrap="square" lIns="0" tIns="0" rIns="0" bIns="0" anchor="t">
            <a:spAutoFit/>
          </a:bodyPr>
          <a:lstStyle/>
          <a:p>
            <a:pPr algn="ctr"/>
            <a:r>
              <a:rPr sz="3300" b="1" i="0" u="none">
                <a:solidFill>
                  <a:srgbClr val="059669"/>
                </a:solidFill>
                <a:latin typeface="Plus Jakarta Sans"/>
              </a:rPr>
              <a:t>99%</a:t>
            </a:r>
            <a:endParaRPr sz="3300" b="1" i="0" u="none">
              <a:solidFill>
                <a:srgbClr val="059669"/>
              </a:solidFill>
              <a:latin typeface="Plus Jakarta Sans"/>
            </a:endParaRPr>
          </a:p>
        </p:txBody>
      </p:sp>
      <p:sp>
        <p:nvSpPr>
          <p:cNvPr id="14" name="TextBox 13"/>
          <p:cNvSpPr txBox="1"/>
          <p:nvPr/>
        </p:nvSpPr>
        <p:spPr>
          <a:xfrm>
            <a:off x="8885634" y="2700337"/>
            <a:ext cx="2793206" cy="1228725"/>
          </a:xfrm>
          <a:prstGeom prst="rect">
            <a:avLst/>
          </a:prstGeom>
          <a:noFill/>
        </p:spPr>
        <p:txBody>
          <a:bodyPr wrap="square" lIns="0" tIns="0" rIns="0" bIns="0" anchor="t">
            <a:spAutoFit/>
          </a:bodyPr>
          <a:lstStyle/>
          <a:p>
            <a:pPr algn="ctr"/>
            <a:r>
              <a:rPr sz="3300" b="1" i="0" u="none">
                <a:solidFill>
                  <a:srgbClr val="7C3AED"/>
                </a:solidFill>
                <a:latin typeface="Plus Jakarta Sans"/>
              </a:rPr>
              <a:t>&lt; 10m</a:t>
            </a:r>
            <a:endParaRPr sz="3300" b="1" i="0" u="none">
              <a:solidFill>
                <a:srgbClr val="7C3AED"/>
              </a:solidFill>
              <a:latin typeface="Plus Jakarta Sans"/>
            </a:endParaRPr>
          </a:p>
        </p:txBody>
      </p:sp>
      <p:sp>
        <p:nvSpPr>
          <p:cNvPr id="15" name="TextBox 14"/>
          <p:cNvSpPr txBox="1"/>
          <p:nvPr/>
        </p:nvSpPr>
        <p:spPr>
          <a:xfrm>
            <a:off x="876300" y="4576762"/>
            <a:ext cx="11315700" cy="180975"/>
          </a:xfrm>
          <a:prstGeom prst="rect">
            <a:avLst/>
          </a:prstGeom>
          <a:noFill/>
        </p:spPr>
        <p:txBody>
          <a:bodyPr wrap="none" lIns="0" tIns="0" rIns="0" bIns="0" anchor="t">
            <a:spAutoFit/>
          </a:bodyPr>
          <a:lstStyle/>
          <a:p>
            <a:pPr algn="l"/>
            <a:r>
              <a:rPr sz="1125" b="1" i="0" u="none">
                <a:solidFill>
                  <a:srgbClr val="0F172A"/>
                </a:solidFill>
                <a:latin typeface="Plus Jakarta Sans"/>
              </a:rPr>
              <a:t>Discussion &amp; Expected Impact</a:t>
            </a:r>
            <a:endParaRPr sz="1125" b="1" i="0" u="none">
              <a:solidFill>
                <a:srgbClr val="0F172A"/>
              </a:solidFill>
              <a:latin typeface="Plus Jakarta Sans"/>
            </a:endParaRPr>
          </a:p>
        </p:txBody>
      </p:sp>
      <p:sp>
        <p:nvSpPr>
          <p:cNvPr id="16" name="TextBox 15"/>
          <p:cNvSpPr txBox="1"/>
          <p:nvPr/>
        </p:nvSpPr>
        <p:spPr>
          <a:xfrm>
            <a:off x="876300" y="4814887"/>
            <a:ext cx="10572750" cy="400050"/>
          </a:xfrm>
          <a:prstGeom prst="rect">
            <a:avLst/>
          </a:prstGeom>
          <a:noFill/>
        </p:spPr>
        <p:txBody>
          <a:bodyPr wrap="square" lIns="0" tIns="0" rIns="0" bIns="0" anchor="t">
            <a:spAutoFit/>
          </a:bodyPr>
          <a:lstStyle/>
          <a:p>
            <a:pPr algn="l">
              <a:lnSpc>
                <a:spcPts val="1575"/>
              </a:lnSpc>
            </a:pPr>
            <a:r>
              <a:rPr sz="1050" b="0" i="0" u="none">
                <a:solidFill>
                  <a:srgbClr val="334155"/>
                </a:solidFill>
                <a:latin typeface="Plus Jakarta Sans"/>
              </a:rPr>
              <a:t>The design balances fast search with reliable booking. By combining live slot sync with locked reservations, ParkEasy aims to cut parking search time and prevent double bookings compared with manual, cash-based parking.</a:t>
            </a:r>
            <a:endParaRPr sz="1050" b="0" i="0" u="none">
              <a:solidFill>
                <a:srgbClr val="334155"/>
              </a:solidFill>
              <a:latin typeface="Plus Jakarta Sans"/>
            </a:endParaRPr>
          </a:p>
        </p:txBody>
      </p:sp>
      <p:sp>
        <p:nvSpPr>
          <p:cNvPr id="17" name="TextBox 16"/>
          <p:cNvSpPr txBox="1"/>
          <p:nvPr/>
        </p:nvSpPr>
        <p:spPr>
          <a:xfrm>
            <a:off x="515838" y="3224212"/>
            <a:ext cx="2787848" cy="200025"/>
          </a:xfrm>
          <a:prstGeom prst="rect">
            <a:avLst/>
          </a:prstGeom>
          <a:noFill/>
        </p:spPr>
        <p:txBody>
          <a:bodyPr wrap="none" lIns="0" tIns="0" rIns="0" bIns="0" anchor="t">
            <a:spAutoFit/>
          </a:bodyPr>
          <a:lstStyle/>
          <a:p>
            <a:pPr algn="ctr"/>
            <a:r>
              <a:rPr sz="1200" b="1" i="0" u="none">
                <a:solidFill>
                  <a:srgbClr val="0F172A"/>
                </a:solidFill>
                <a:latin typeface="Plus Jakarta Sans"/>
              </a:rPr>
              <a:t>Search Response Time</a:t>
            </a:r>
            <a:endParaRPr sz="1200" b="1" i="0" u="none">
              <a:solidFill>
                <a:srgbClr val="0F172A"/>
              </a:solidFill>
              <a:latin typeface="Plus Jakarta Sans"/>
            </a:endParaRPr>
          </a:p>
        </p:txBody>
      </p:sp>
      <p:sp>
        <p:nvSpPr>
          <p:cNvPr id="18" name="TextBox 17"/>
          <p:cNvSpPr txBox="1"/>
          <p:nvPr/>
        </p:nvSpPr>
        <p:spPr>
          <a:xfrm>
            <a:off x="582215" y="3462337"/>
            <a:ext cx="2655093" cy="457200"/>
          </a:xfrm>
          <a:prstGeom prst="rect">
            <a:avLst/>
          </a:prstGeom>
          <a:noFill/>
        </p:spPr>
        <p:txBody>
          <a:bodyPr wrap="square" lIns="0" tIns="0" rIns="0" bIns="0" anchor="t">
            <a:spAutoFit/>
          </a:bodyPr>
          <a:lstStyle/>
          <a:p>
            <a:pPr algn="ctr"/>
            <a:r>
              <a:rPr sz="975" b="0" i="0" u="none">
                <a:solidFill>
                  <a:srgbClr val="64748B"/>
                </a:solidFill>
                <a:latin typeface="Plus Jakarta Sans"/>
              </a:rPr>
              <a:t>Design target for returning nearby lots with live slot availability.</a:t>
            </a:r>
            <a:endParaRPr sz="975" b="0" i="0" u="none">
              <a:solidFill>
                <a:srgbClr val="64748B"/>
              </a:solidFill>
              <a:latin typeface="Plus Jakarta Sans"/>
            </a:endParaRPr>
          </a:p>
        </p:txBody>
      </p:sp>
      <p:sp>
        <p:nvSpPr>
          <p:cNvPr id="19" name="TextBox 18"/>
          <p:cNvSpPr txBox="1"/>
          <p:nvPr/>
        </p:nvSpPr>
        <p:spPr>
          <a:xfrm>
            <a:off x="3306663" y="3224212"/>
            <a:ext cx="2787848" cy="200025"/>
          </a:xfrm>
          <a:prstGeom prst="rect">
            <a:avLst/>
          </a:prstGeom>
          <a:noFill/>
        </p:spPr>
        <p:txBody>
          <a:bodyPr wrap="none" lIns="0" tIns="0" rIns="0" bIns="0" anchor="t">
            <a:spAutoFit/>
          </a:bodyPr>
          <a:lstStyle/>
          <a:p>
            <a:pPr algn="ctr"/>
            <a:r>
              <a:rPr sz="1200" b="1" i="0" u="none">
                <a:solidFill>
                  <a:srgbClr val="0F172A"/>
                </a:solidFill>
                <a:latin typeface="Plus Jakarta Sans"/>
              </a:rPr>
              <a:t>Booking Completion</a:t>
            </a:r>
            <a:endParaRPr sz="1200" b="1" i="0" u="none">
              <a:solidFill>
                <a:srgbClr val="0F172A"/>
              </a:solidFill>
              <a:latin typeface="Plus Jakarta Sans"/>
            </a:endParaRPr>
          </a:p>
        </p:txBody>
      </p:sp>
      <p:sp>
        <p:nvSpPr>
          <p:cNvPr id="20" name="TextBox 19"/>
          <p:cNvSpPr txBox="1"/>
          <p:nvPr/>
        </p:nvSpPr>
        <p:spPr>
          <a:xfrm>
            <a:off x="3373040" y="3462337"/>
            <a:ext cx="2655093" cy="304800"/>
          </a:xfrm>
          <a:prstGeom prst="rect">
            <a:avLst/>
          </a:prstGeom>
          <a:noFill/>
        </p:spPr>
        <p:txBody>
          <a:bodyPr wrap="square" lIns="0" tIns="0" rIns="0" bIns="0" anchor="t">
            <a:spAutoFit/>
          </a:bodyPr>
          <a:lstStyle/>
          <a:p>
            <a:pPr algn="ctr"/>
            <a:r>
              <a:rPr sz="975" b="0" i="0" u="none">
                <a:solidFill>
                  <a:srgbClr val="64748B"/>
                </a:solidFill>
                <a:latin typeface="Plus Jakarta Sans"/>
              </a:rPr>
              <a:t>Target time from slot selection to payment and confirmation.</a:t>
            </a:r>
            <a:endParaRPr sz="975" b="0" i="0" u="none">
              <a:solidFill>
                <a:srgbClr val="64748B"/>
              </a:solidFill>
              <a:latin typeface="Plus Jakarta Sans"/>
            </a:endParaRPr>
          </a:p>
        </p:txBody>
      </p:sp>
      <p:sp>
        <p:nvSpPr>
          <p:cNvPr id="21" name="TextBox 20"/>
          <p:cNvSpPr txBox="1"/>
          <p:nvPr/>
        </p:nvSpPr>
        <p:spPr>
          <a:xfrm>
            <a:off x="6097488" y="3224212"/>
            <a:ext cx="2787848" cy="200025"/>
          </a:xfrm>
          <a:prstGeom prst="rect">
            <a:avLst/>
          </a:prstGeom>
          <a:noFill/>
        </p:spPr>
        <p:txBody>
          <a:bodyPr wrap="none" lIns="0" tIns="0" rIns="0" bIns="0" anchor="t">
            <a:spAutoFit/>
          </a:bodyPr>
          <a:lstStyle/>
          <a:p>
            <a:pPr algn="ctr"/>
            <a:r>
              <a:rPr sz="1200" b="1" i="0" u="none">
                <a:solidFill>
                  <a:srgbClr val="0F172A"/>
                </a:solidFill>
                <a:latin typeface="Plus Jakarta Sans"/>
              </a:rPr>
              <a:t>Slot Data Accuracy</a:t>
            </a:r>
            <a:endParaRPr sz="1200" b="1" i="0" u="none">
              <a:solidFill>
                <a:srgbClr val="0F172A"/>
              </a:solidFill>
              <a:latin typeface="Plus Jakarta Sans"/>
            </a:endParaRPr>
          </a:p>
        </p:txBody>
      </p:sp>
      <p:sp>
        <p:nvSpPr>
          <p:cNvPr id="22" name="TextBox 21"/>
          <p:cNvSpPr txBox="1"/>
          <p:nvPr/>
        </p:nvSpPr>
        <p:spPr>
          <a:xfrm>
            <a:off x="6163865" y="3462337"/>
            <a:ext cx="2655093" cy="457200"/>
          </a:xfrm>
          <a:prstGeom prst="rect">
            <a:avLst/>
          </a:prstGeom>
          <a:noFill/>
        </p:spPr>
        <p:txBody>
          <a:bodyPr wrap="square" lIns="0" tIns="0" rIns="0" bIns="0" anchor="t">
            <a:spAutoFit/>
          </a:bodyPr>
          <a:lstStyle/>
          <a:p>
            <a:pPr algn="ctr"/>
            <a:r>
              <a:rPr sz="975" b="0" i="0" u="none">
                <a:solidFill>
                  <a:srgbClr val="64748B"/>
                </a:solidFill>
                <a:latin typeface="Plus Jakarta Sans"/>
              </a:rPr>
              <a:t>Target accuracy of displayed availability through real-time sync.</a:t>
            </a:r>
            <a:endParaRPr sz="975" b="0" i="0" u="none">
              <a:solidFill>
                <a:srgbClr val="64748B"/>
              </a:solidFill>
              <a:latin typeface="Plus Jakarta Sans"/>
            </a:endParaRPr>
          </a:p>
        </p:txBody>
      </p:sp>
      <p:sp>
        <p:nvSpPr>
          <p:cNvPr id="23" name="TextBox 22"/>
          <p:cNvSpPr txBox="1"/>
          <p:nvPr/>
        </p:nvSpPr>
        <p:spPr>
          <a:xfrm>
            <a:off x="8888313" y="3224212"/>
            <a:ext cx="2787848" cy="200025"/>
          </a:xfrm>
          <a:prstGeom prst="rect">
            <a:avLst/>
          </a:prstGeom>
          <a:noFill/>
        </p:spPr>
        <p:txBody>
          <a:bodyPr wrap="none" lIns="0" tIns="0" rIns="0" bIns="0" anchor="t">
            <a:spAutoFit/>
          </a:bodyPr>
          <a:lstStyle/>
          <a:p>
            <a:pPr algn="ctr"/>
            <a:r>
              <a:rPr sz="1200" b="1" i="0" u="none">
                <a:solidFill>
                  <a:srgbClr val="0F172A"/>
                </a:solidFill>
                <a:latin typeface="Plus Jakarta Sans"/>
              </a:rPr>
              <a:t>Location Accuracy</a:t>
            </a:r>
            <a:endParaRPr sz="1200" b="1" i="0" u="none">
              <a:solidFill>
                <a:srgbClr val="0F172A"/>
              </a:solidFill>
              <a:latin typeface="Plus Jakarta Sans"/>
            </a:endParaRPr>
          </a:p>
        </p:txBody>
      </p:sp>
      <p:sp>
        <p:nvSpPr>
          <p:cNvPr id="24" name="TextBox 23"/>
          <p:cNvSpPr txBox="1"/>
          <p:nvPr/>
        </p:nvSpPr>
        <p:spPr>
          <a:xfrm>
            <a:off x="8954690" y="3462337"/>
            <a:ext cx="2655093" cy="304800"/>
          </a:xfrm>
          <a:prstGeom prst="rect">
            <a:avLst/>
          </a:prstGeom>
          <a:noFill/>
        </p:spPr>
        <p:txBody>
          <a:bodyPr wrap="square" lIns="0" tIns="0" rIns="0" bIns="0" anchor="t">
            <a:spAutoFit/>
          </a:bodyPr>
          <a:lstStyle/>
          <a:p>
            <a:pPr algn="ctr"/>
            <a:r>
              <a:rPr sz="975" b="0" i="0" u="none">
                <a:solidFill>
                  <a:srgbClr val="64748B"/>
                </a:solidFill>
                <a:latin typeface="Plus Jakarta Sans"/>
              </a:rPr>
              <a:t>Practical GPS accuracy needed to match drivers to the right lot.</a:t>
            </a:r>
            <a:endParaRPr sz="975" b="0" i="0" u="none">
              <a:solidFill>
                <a:srgbClr val="64748B"/>
              </a:solidFill>
              <a:latin typeface="Plus Jakarta Sans"/>
            </a:endParaRPr>
          </a:p>
        </p:txBody>
      </p:sp>
      <p:pic>
        <p:nvPicPr>
          <p:cNvPr id="25"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800350"/>
            <a:ext cx="2600325" cy="2276475"/>
          </a:xfrm>
          <a:prstGeom prst="roundRect">
            <a:avLst>
              <a:gd name="adj" fmla="val 502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400425" y="2800350"/>
            <a:ext cx="2600325" cy="2276475"/>
          </a:xfrm>
          <a:prstGeom prst="roundRect">
            <a:avLst>
              <a:gd name="adj" fmla="val 502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91250" y="2800350"/>
            <a:ext cx="2600325" cy="2276475"/>
          </a:xfrm>
          <a:prstGeom prst="roundRect">
            <a:avLst>
              <a:gd name="adj" fmla="val 502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82075" y="2800350"/>
            <a:ext cx="2600325" cy="2276475"/>
          </a:xfrm>
          <a:prstGeom prst="roundRect">
            <a:avLst>
              <a:gd name="adj" fmla="val 502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5067300"/>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2800350"/>
            <a:ext cx="2600325"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00425" y="5067300"/>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00425" y="2800350"/>
            <a:ext cx="2600325"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0425"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91225"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1250" y="5067300"/>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1250" y="2800350"/>
            <a:ext cx="2600325"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1250"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82050"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82075" y="5067300"/>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82075" y="2800350"/>
            <a:ext cx="2600325" cy="38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82075"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72875" y="2800350"/>
            <a:ext cx="9525" cy="2276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1"/>
          <a:stretch>
            <a:fillRect/>
          </a:stretch>
        </p:blipFill>
        <p:spPr>
          <a:xfrm>
            <a:off x="847725" y="3067050"/>
            <a:ext cx="361950" cy="361950"/>
          </a:xfrm>
          <a:prstGeom prst="rect">
            <a:avLst/>
          </a:prstGeom>
        </p:spPr>
      </p:pic>
      <p:pic>
        <p:nvPicPr>
          <p:cNvPr id="23" name="Picture 22" descr="image.png"/>
          <p:cNvPicPr>
            <a:picLocks noChangeAspect="1"/>
          </p:cNvPicPr>
          <p:nvPr/>
        </p:nvPicPr>
        <p:blipFill>
          <a:blip r:embed="rId2"/>
          <a:stretch>
            <a:fillRect/>
          </a:stretch>
        </p:blipFill>
        <p:spPr>
          <a:xfrm>
            <a:off x="3638550" y="3067050"/>
            <a:ext cx="361950" cy="361950"/>
          </a:xfrm>
          <a:prstGeom prst="rect">
            <a:avLst/>
          </a:prstGeom>
        </p:spPr>
      </p:pic>
      <p:pic>
        <p:nvPicPr>
          <p:cNvPr id="24" name="Picture 23" descr="image.png"/>
          <p:cNvPicPr>
            <a:picLocks noChangeAspect="1"/>
          </p:cNvPicPr>
          <p:nvPr/>
        </p:nvPicPr>
        <p:blipFill>
          <a:blip r:embed="rId3"/>
          <a:stretch>
            <a:fillRect/>
          </a:stretch>
        </p:blipFill>
        <p:spPr>
          <a:xfrm>
            <a:off x="6429375" y="3067050"/>
            <a:ext cx="361950" cy="361950"/>
          </a:xfrm>
          <a:prstGeom prst="rect">
            <a:avLst/>
          </a:prstGeom>
        </p:spPr>
      </p:pic>
      <p:pic>
        <p:nvPicPr>
          <p:cNvPr id="25" name="Picture 24" descr="image.png"/>
          <p:cNvPicPr>
            <a:picLocks noChangeAspect="1"/>
          </p:cNvPicPr>
          <p:nvPr/>
        </p:nvPicPr>
        <p:blipFill>
          <a:blip r:embed="rId4"/>
          <a:stretch>
            <a:fillRect/>
          </a:stretch>
        </p:blipFill>
        <p:spPr>
          <a:xfrm>
            <a:off x="9220200" y="3067050"/>
            <a:ext cx="361950" cy="361950"/>
          </a:xfrm>
          <a:prstGeom prst="rect">
            <a:avLst/>
          </a:prstGeom>
        </p:spPr>
      </p:pic>
      <p:pic>
        <p:nvPicPr>
          <p:cNvPr id="26" name="Picture 25" descr="image.png"/>
          <p:cNvPicPr>
            <a:picLocks noChangeAspect="1"/>
          </p:cNvPicPr>
          <p:nvPr/>
        </p:nvPicPr>
        <p:blipFill>
          <a:blip r:embed="rId5"/>
          <a:stretch>
            <a:fillRect/>
          </a:stretch>
        </p:blipFill>
        <p:spPr>
          <a:xfrm>
            <a:off x="942975" y="3171825"/>
            <a:ext cx="171450" cy="152400"/>
          </a:xfrm>
          <a:prstGeom prst="rect">
            <a:avLst/>
          </a:prstGeom>
        </p:spPr>
      </p:pic>
      <p:pic>
        <p:nvPicPr>
          <p:cNvPr id="27" name="Picture 26" descr="image.png"/>
          <p:cNvPicPr>
            <a:picLocks noChangeAspect="1"/>
          </p:cNvPicPr>
          <p:nvPr/>
        </p:nvPicPr>
        <p:blipFill>
          <a:blip r:embed="rId6"/>
          <a:stretch>
            <a:fillRect/>
          </a:stretch>
        </p:blipFill>
        <p:spPr>
          <a:xfrm>
            <a:off x="3733800" y="3171825"/>
            <a:ext cx="171450" cy="152400"/>
          </a:xfrm>
          <a:prstGeom prst="rect">
            <a:avLst/>
          </a:prstGeom>
        </p:spPr>
      </p:pic>
      <p:pic>
        <p:nvPicPr>
          <p:cNvPr id="28" name="Picture 27" descr="image.png"/>
          <p:cNvPicPr>
            <a:picLocks noChangeAspect="1"/>
          </p:cNvPicPr>
          <p:nvPr/>
        </p:nvPicPr>
        <p:blipFill>
          <a:blip r:embed="rId7"/>
          <a:stretch>
            <a:fillRect/>
          </a:stretch>
        </p:blipFill>
        <p:spPr>
          <a:xfrm>
            <a:off x="6534150" y="3171825"/>
            <a:ext cx="152400" cy="152400"/>
          </a:xfrm>
          <a:prstGeom prst="rect">
            <a:avLst/>
          </a:prstGeom>
        </p:spPr>
      </p:pic>
      <p:pic>
        <p:nvPicPr>
          <p:cNvPr id="29" name="Picture 28" descr="image.png"/>
          <p:cNvPicPr>
            <a:picLocks noChangeAspect="1"/>
          </p:cNvPicPr>
          <p:nvPr/>
        </p:nvPicPr>
        <p:blipFill>
          <a:blip r:embed="rId8"/>
          <a:stretch>
            <a:fillRect/>
          </a:stretch>
        </p:blipFill>
        <p:spPr>
          <a:xfrm>
            <a:off x="9305925" y="3171825"/>
            <a:ext cx="190500" cy="152400"/>
          </a:xfrm>
          <a:prstGeom prst="rect">
            <a:avLst/>
          </a:prstGeom>
        </p:spPr>
      </p:pic>
      <p:sp>
        <p:nvSpPr>
          <p:cNvPr id="30" name="TextBox 29"/>
          <p:cNvSpPr txBox="1"/>
          <p:nvPr/>
        </p:nvSpPr>
        <p:spPr>
          <a:xfrm>
            <a:off x="609600" y="1307200"/>
            <a:ext cx="3524250" cy="600075"/>
          </a:xfrm>
          <a:prstGeom prst="rect">
            <a:avLst/>
          </a:prstGeom>
          <a:noFill/>
        </p:spPr>
        <p:txBody>
          <a:bodyPr wrap="square" lIns="0" tIns="0" rIns="0" bIns="0" anchor="t">
            <a:spAutoFit/>
          </a:bodyPr>
          <a:lstStyle/>
          <a:p>
            <a:pPr algn="l"/>
            <a:r>
              <a:rPr sz="975" b="1" i="0" u="none">
                <a:solidFill>
                  <a:srgbClr val="EF4444"/>
                </a:solidFill>
                <a:latin typeface="Plus Jakarta Sans"/>
              </a:rPr>
              <a:t>Operational Constraints</a:t>
            </a:r>
            <a:endParaRPr sz="975" b="1" i="0" u="none">
              <a:solidFill>
                <a:srgbClr val="EF4444"/>
              </a:solidFill>
              <a:latin typeface="Plus Jakarta Sans"/>
            </a:endParaRPr>
          </a:p>
        </p:txBody>
      </p:sp>
      <p:sp>
        <p:nvSpPr>
          <p:cNvPr id="31" name="TextBox 30"/>
          <p:cNvSpPr txBox="1"/>
          <p:nvPr/>
        </p:nvSpPr>
        <p:spPr>
          <a:xfrm>
            <a:off x="10325100" y="1735825"/>
            <a:ext cx="1571625" cy="171450"/>
          </a:xfrm>
          <a:prstGeom prst="rect">
            <a:avLst/>
          </a:prstGeom>
          <a:noFill/>
        </p:spPr>
        <p:txBody>
          <a:bodyPr wrap="none" lIns="0" tIns="0" rIns="0" bIns="0" anchor="t">
            <a:spAutoFit/>
          </a:bodyPr>
          <a:lstStyle/>
          <a:p>
            <a:pPr algn="l"/>
            <a:r>
              <a:rPr sz="1050" b="1" i="0" u="none">
                <a:solidFill>
                  <a:srgbClr val="64748B"/>
                </a:solidFill>
                <a:latin typeface="Plus Jakarta Sans"/>
              </a:rPr>
              <a:t>System Constraints</a:t>
            </a:r>
            <a:endParaRPr sz="1050" b="1" i="0" u="none">
              <a:solidFill>
                <a:srgbClr val="64748B"/>
              </a:solidFill>
              <a:latin typeface="Plus Jakarta Sans"/>
            </a:endParaRPr>
          </a:p>
        </p:txBody>
      </p:sp>
      <p:sp>
        <p:nvSpPr>
          <p:cNvPr id="32" name="TextBox 31"/>
          <p:cNvSpPr txBox="1"/>
          <p:nvPr/>
        </p:nvSpPr>
        <p:spPr>
          <a:xfrm>
            <a:off x="609600" y="1545325"/>
            <a:ext cx="4500562" cy="361950"/>
          </a:xfrm>
          <a:prstGeom prst="rect">
            <a:avLst/>
          </a:prstGeom>
          <a:noFill/>
        </p:spPr>
        <p:txBody>
          <a:bodyPr wrap="none" lIns="0" tIns="0" rIns="0" bIns="0" anchor="t">
            <a:spAutoFit/>
          </a:bodyPr>
          <a:lstStyle/>
          <a:p>
            <a:pPr algn="l"/>
            <a:r>
              <a:rPr sz="2250" b="1" i="0" u="none">
                <a:solidFill>
                  <a:srgbClr val="0F172A"/>
                </a:solidFill>
                <a:latin typeface="Plus Jakarta Sans"/>
              </a:rPr>
              <a:t>Challenges &amp; Limitations</a:t>
            </a:r>
            <a:endParaRPr sz="2250" b="1" i="0" u="none">
              <a:solidFill>
                <a:srgbClr val="0F172A"/>
              </a:solidFill>
              <a:latin typeface="Plus Jakarta Sans"/>
            </a:endParaRPr>
          </a:p>
        </p:txBody>
      </p:sp>
      <p:sp>
        <p:nvSpPr>
          <p:cNvPr id="33" name="TextBox 32"/>
          <p:cNvSpPr txBox="1"/>
          <p:nvPr/>
        </p:nvSpPr>
        <p:spPr>
          <a:xfrm>
            <a:off x="847725" y="3562350"/>
            <a:ext cx="2787848" cy="200025"/>
          </a:xfrm>
          <a:prstGeom prst="rect">
            <a:avLst/>
          </a:prstGeom>
          <a:noFill/>
        </p:spPr>
        <p:txBody>
          <a:bodyPr wrap="none" lIns="0" tIns="0" rIns="0" bIns="0" anchor="t">
            <a:spAutoFit/>
          </a:bodyPr>
          <a:lstStyle/>
          <a:p>
            <a:pPr algn="l"/>
            <a:r>
              <a:rPr sz="1200" b="1" i="0" u="none">
                <a:solidFill>
                  <a:srgbClr val="0F172A"/>
                </a:solidFill>
                <a:latin typeface="Plus Jakarta Sans"/>
              </a:rPr>
              <a:t>GPS Inaccuracy</a:t>
            </a:r>
            <a:endParaRPr sz="1200" b="1" i="0" u="none">
              <a:solidFill>
                <a:srgbClr val="0F172A"/>
              </a:solidFill>
              <a:latin typeface="Plus Jakarta Sans"/>
            </a:endParaRPr>
          </a:p>
        </p:txBody>
      </p:sp>
      <p:sp>
        <p:nvSpPr>
          <p:cNvPr id="34" name="TextBox 33"/>
          <p:cNvSpPr txBox="1"/>
          <p:nvPr/>
        </p:nvSpPr>
        <p:spPr>
          <a:xfrm>
            <a:off x="847725" y="3838575"/>
            <a:ext cx="2219325" cy="80010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Urban canyons and indoor garages weaken GPS signals; map matching and manual pin adjustment are needed as fallback.</a:t>
            </a:r>
            <a:endParaRPr sz="1050" b="0" i="0" u="none">
              <a:solidFill>
                <a:srgbClr val="475569"/>
              </a:solidFill>
              <a:latin typeface="Plus Jakarta Sans"/>
            </a:endParaRPr>
          </a:p>
        </p:txBody>
      </p:sp>
      <p:sp>
        <p:nvSpPr>
          <p:cNvPr id="35" name="TextBox 34"/>
          <p:cNvSpPr txBox="1"/>
          <p:nvPr/>
        </p:nvSpPr>
        <p:spPr>
          <a:xfrm>
            <a:off x="3638550" y="3562350"/>
            <a:ext cx="2787848" cy="200025"/>
          </a:xfrm>
          <a:prstGeom prst="rect">
            <a:avLst/>
          </a:prstGeom>
          <a:noFill/>
        </p:spPr>
        <p:txBody>
          <a:bodyPr wrap="none" lIns="0" tIns="0" rIns="0" bIns="0" anchor="t">
            <a:spAutoFit/>
          </a:bodyPr>
          <a:lstStyle/>
          <a:p>
            <a:pPr algn="l"/>
            <a:r>
              <a:rPr sz="1200" b="1" i="0" u="none">
                <a:solidFill>
                  <a:srgbClr val="0F172A"/>
                </a:solidFill>
                <a:latin typeface="Plus Jakarta Sans"/>
              </a:rPr>
              <a:t>Stale Slot Data</a:t>
            </a:r>
            <a:endParaRPr sz="1200" b="1" i="0" u="none">
              <a:solidFill>
                <a:srgbClr val="0F172A"/>
              </a:solidFill>
              <a:latin typeface="Plus Jakarta Sans"/>
            </a:endParaRPr>
          </a:p>
        </p:txBody>
      </p:sp>
      <p:sp>
        <p:nvSpPr>
          <p:cNvPr id="36" name="TextBox 35"/>
          <p:cNvSpPr txBox="1"/>
          <p:nvPr/>
        </p:nvSpPr>
        <p:spPr>
          <a:xfrm>
            <a:off x="3638550" y="3838575"/>
            <a:ext cx="2219325" cy="80010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Lots without sensors rely on manual updates; frequent syncing and check-in confirmation keep availability reliable.</a:t>
            </a:r>
            <a:endParaRPr sz="1050" b="0" i="0" u="none">
              <a:solidFill>
                <a:srgbClr val="475569"/>
              </a:solidFill>
              <a:latin typeface="Plus Jakarta Sans"/>
            </a:endParaRPr>
          </a:p>
        </p:txBody>
      </p:sp>
      <p:sp>
        <p:nvSpPr>
          <p:cNvPr id="37" name="TextBox 36"/>
          <p:cNvSpPr txBox="1"/>
          <p:nvPr/>
        </p:nvSpPr>
        <p:spPr>
          <a:xfrm>
            <a:off x="6429375" y="3562350"/>
            <a:ext cx="2787848" cy="200025"/>
          </a:xfrm>
          <a:prstGeom prst="rect">
            <a:avLst/>
          </a:prstGeom>
          <a:noFill/>
        </p:spPr>
        <p:txBody>
          <a:bodyPr wrap="none" lIns="0" tIns="0" rIns="0" bIns="0" anchor="t">
            <a:spAutoFit/>
          </a:bodyPr>
          <a:lstStyle/>
          <a:p>
            <a:pPr algn="l"/>
            <a:r>
              <a:rPr sz="1200" b="1" i="0" u="none">
                <a:solidFill>
                  <a:srgbClr val="0F172A"/>
                </a:solidFill>
                <a:latin typeface="Plus Jakarta Sans"/>
              </a:rPr>
              <a:t>Double Booking</a:t>
            </a:r>
            <a:endParaRPr sz="1200" b="1" i="0" u="none">
              <a:solidFill>
                <a:srgbClr val="0F172A"/>
              </a:solidFill>
              <a:latin typeface="Plus Jakarta Sans"/>
            </a:endParaRPr>
          </a:p>
        </p:txBody>
      </p:sp>
      <p:sp>
        <p:nvSpPr>
          <p:cNvPr id="38" name="TextBox 37"/>
          <p:cNvSpPr txBox="1"/>
          <p:nvPr/>
        </p:nvSpPr>
        <p:spPr>
          <a:xfrm>
            <a:off x="6429375" y="3838575"/>
            <a:ext cx="2219325" cy="1000125"/>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Simultaneous bookings for one slot risk conflicts; requires slot locking with a short expiry during checkout.</a:t>
            </a:r>
            <a:endParaRPr sz="1050" b="0" i="0" u="none">
              <a:solidFill>
                <a:srgbClr val="475569"/>
              </a:solidFill>
              <a:latin typeface="Plus Jakarta Sans"/>
            </a:endParaRPr>
          </a:p>
        </p:txBody>
      </p:sp>
      <p:sp>
        <p:nvSpPr>
          <p:cNvPr id="39" name="TextBox 38"/>
          <p:cNvSpPr txBox="1"/>
          <p:nvPr/>
        </p:nvSpPr>
        <p:spPr>
          <a:xfrm>
            <a:off x="9220200" y="3562350"/>
            <a:ext cx="2787848" cy="200025"/>
          </a:xfrm>
          <a:prstGeom prst="rect">
            <a:avLst/>
          </a:prstGeom>
          <a:noFill/>
        </p:spPr>
        <p:txBody>
          <a:bodyPr wrap="none" lIns="0" tIns="0" rIns="0" bIns="0" anchor="t">
            <a:spAutoFit/>
          </a:bodyPr>
          <a:lstStyle/>
          <a:p>
            <a:pPr algn="l"/>
            <a:r>
              <a:rPr sz="1200" b="1" i="0" u="none">
                <a:solidFill>
                  <a:srgbClr val="0F172A"/>
                </a:solidFill>
                <a:latin typeface="Plus Jakarta Sans"/>
              </a:rPr>
              <a:t>Peak-Hour Load</a:t>
            </a:r>
            <a:endParaRPr sz="1200" b="1" i="0" u="none">
              <a:solidFill>
                <a:srgbClr val="0F172A"/>
              </a:solidFill>
              <a:latin typeface="Plus Jakarta Sans"/>
            </a:endParaRPr>
          </a:p>
        </p:txBody>
      </p:sp>
      <p:sp>
        <p:nvSpPr>
          <p:cNvPr id="40" name="TextBox 39"/>
          <p:cNvSpPr txBox="1"/>
          <p:nvPr/>
        </p:nvSpPr>
        <p:spPr>
          <a:xfrm>
            <a:off x="9220200" y="3838575"/>
            <a:ext cx="2219325" cy="80010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Traffic spikes at events and rush hours demand auto-scaling servers and cached search results.</a:t>
            </a:r>
            <a:endParaRPr sz="1050" b="0" i="0" u="none">
              <a:solidFill>
                <a:srgbClr val="475569"/>
              </a:solidFill>
              <a:latin typeface="Plus Jakarta Sans"/>
            </a:endParaRPr>
          </a:p>
        </p:txBody>
      </p:sp>
      <p:pic>
        <p:nvPicPr>
          <p:cNvPr id="41" name="SIMATS Header" descr="5b09ae4e-image.png"/>
          <p:cNvPicPr>
            <a:picLocks noChangeAspect="1"/>
          </p:cNvPicPr>
          <p:nvPr/>
        </p:nvPicPr>
        <p:blipFill>
          <a:blip r:embed="rId9"/>
          <a:stretch>
            <a:fillRect/>
          </a:stretch>
        </p:blipFill>
        <p:spPr>
          <a:xfrm>
            <a:off x="609600" y="80000"/>
            <a:ext cx="10300000" cy="10575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405062"/>
            <a:ext cx="5391150" cy="1438275"/>
          </a:xfrm>
          <a:prstGeom prst="roundRect">
            <a:avLst>
              <a:gd name="adj" fmla="val 79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91250" y="2405062"/>
            <a:ext cx="5391150" cy="1438275"/>
          </a:xfrm>
          <a:prstGeom prst="roundRect">
            <a:avLst>
              <a:gd name="adj" fmla="val 79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033837"/>
            <a:ext cx="5391150" cy="1438275"/>
          </a:xfrm>
          <a:prstGeom prst="roundRect">
            <a:avLst>
              <a:gd name="adj" fmla="val 79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4033837"/>
            <a:ext cx="5391150" cy="1438275"/>
          </a:xfrm>
          <a:prstGeom prst="roundRect">
            <a:avLst>
              <a:gd name="adj" fmla="val 79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1307200"/>
            <a:ext cx="4362450" cy="600075"/>
          </a:xfrm>
          <a:prstGeom prst="rect">
            <a:avLst/>
          </a:prstGeom>
          <a:noFill/>
        </p:spPr>
        <p:txBody>
          <a:bodyPr wrap="square" lIns="0" tIns="0" rIns="0" bIns="0" anchor="t">
            <a:spAutoFit/>
          </a:bodyPr>
          <a:lstStyle/>
          <a:p>
            <a:pPr algn="l"/>
            <a:r>
              <a:rPr sz="975" b="1" i="0" u="none">
                <a:solidFill>
                  <a:srgbClr val="EF4444"/>
                </a:solidFill>
                <a:latin typeface="Plus Jakarta Sans"/>
              </a:rPr>
              <a:t>Long-Term Roadmap</a:t>
            </a:r>
            <a:endParaRPr sz="975" b="1" i="0" u="none">
              <a:solidFill>
                <a:srgbClr val="EF4444"/>
              </a:solidFill>
              <a:latin typeface="Plus Jakarta Sans"/>
            </a:endParaRPr>
          </a:p>
        </p:txBody>
      </p:sp>
      <p:sp>
        <p:nvSpPr>
          <p:cNvPr id="7" name="TextBox 6"/>
          <p:cNvSpPr txBox="1"/>
          <p:nvPr/>
        </p:nvSpPr>
        <p:spPr>
          <a:xfrm>
            <a:off x="10248900" y="1735825"/>
            <a:ext cx="1666875" cy="171450"/>
          </a:xfrm>
          <a:prstGeom prst="rect">
            <a:avLst/>
          </a:prstGeom>
          <a:noFill/>
        </p:spPr>
        <p:txBody>
          <a:bodyPr wrap="none" lIns="0" tIns="0" rIns="0" bIns="0" anchor="t">
            <a:spAutoFit/>
          </a:bodyPr>
          <a:lstStyle/>
          <a:p>
            <a:pPr algn="l"/>
            <a:r>
              <a:rPr sz="1050" b="1" i="0" u="none">
                <a:solidFill>
                  <a:srgbClr val="64748B"/>
                </a:solidFill>
                <a:latin typeface="Plus Jakarta Sans"/>
              </a:rPr>
              <a:t>Innovation Trajectory</a:t>
            </a:r>
            <a:endParaRPr sz="1050" b="1" i="0" u="none">
              <a:solidFill>
                <a:srgbClr val="64748B"/>
              </a:solidFill>
              <a:latin typeface="Plus Jakarta Sans"/>
            </a:endParaRPr>
          </a:p>
        </p:txBody>
      </p:sp>
      <p:sp>
        <p:nvSpPr>
          <p:cNvPr id="8" name="TextBox 7"/>
          <p:cNvSpPr txBox="1"/>
          <p:nvPr/>
        </p:nvSpPr>
        <p:spPr>
          <a:xfrm>
            <a:off x="609600" y="1545325"/>
            <a:ext cx="5600700" cy="361950"/>
          </a:xfrm>
          <a:prstGeom prst="rect">
            <a:avLst/>
          </a:prstGeom>
          <a:noFill/>
        </p:spPr>
        <p:txBody>
          <a:bodyPr wrap="none" lIns="0" tIns="0" rIns="0" bIns="0" anchor="t">
            <a:spAutoFit/>
          </a:bodyPr>
          <a:lstStyle/>
          <a:p>
            <a:pPr algn="l"/>
            <a:r>
              <a:rPr sz="2250" b="1" i="0" u="none">
                <a:solidFill>
                  <a:srgbClr val="0F172A"/>
                </a:solidFill>
                <a:latin typeface="Plus Jakarta Sans"/>
              </a:rPr>
              <a:t>Future Scope &amp; Enhancements</a:t>
            </a:r>
            <a:endParaRPr sz="2250" b="1" i="0" u="none">
              <a:solidFill>
                <a:srgbClr val="0F172A"/>
              </a:solidFill>
              <a:latin typeface="Plus Jakarta Sans"/>
            </a:endParaRPr>
          </a:p>
        </p:txBody>
      </p:sp>
      <p:sp>
        <p:nvSpPr>
          <p:cNvPr id="9" name="TextBox 8"/>
          <p:cNvSpPr txBox="1"/>
          <p:nvPr/>
        </p:nvSpPr>
        <p:spPr>
          <a:xfrm>
            <a:off x="838200" y="2633662"/>
            <a:ext cx="5029200" cy="981075"/>
          </a:xfrm>
          <a:prstGeom prst="rect">
            <a:avLst/>
          </a:prstGeom>
          <a:noFill/>
        </p:spPr>
        <p:txBody>
          <a:bodyPr wrap="square" lIns="0" tIns="0" rIns="0" bIns="0" anchor="t">
            <a:spAutoFit/>
          </a:bodyPr>
          <a:lstStyle/>
          <a:p>
            <a:pPr algn="l"/>
            <a:r>
              <a:rPr sz="900" b="1" i="0" u="none">
                <a:solidFill>
                  <a:srgbClr val="2563EB"/>
                </a:solidFill>
                <a:latin typeface="Plus Jakarta Sans"/>
              </a:rPr>
              <a:t>Enhancement 01</a:t>
            </a:r>
            <a:endParaRPr sz="900" b="1" i="0" u="none">
              <a:solidFill>
                <a:srgbClr val="2563EB"/>
              </a:solidFill>
              <a:latin typeface="Plus Jakarta Sans"/>
            </a:endParaRPr>
          </a:p>
        </p:txBody>
      </p:sp>
      <p:sp>
        <p:nvSpPr>
          <p:cNvPr id="10" name="TextBox 9"/>
          <p:cNvSpPr txBox="1"/>
          <p:nvPr/>
        </p:nvSpPr>
        <p:spPr>
          <a:xfrm>
            <a:off x="6419850" y="2633662"/>
            <a:ext cx="5029200" cy="981075"/>
          </a:xfrm>
          <a:prstGeom prst="rect">
            <a:avLst/>
          </a:prstGeom>
          <a:noFill/>
        </p:spPr>
        <p:txBody>
          <a:bodyPr wrap="square" lIns="0" tIns="0" rIns="0" bIns="0" anchor="t">
            <a:spAutoFit/>
          </a:bodyPr>
          <a:lstStyle/>
          <a:p>
            <a:pPr algn="l"/>
            <a:r>
              <a:rPr sz="900" b="1" i="0" u="none">
                <a:solidFill>
                  <a:srgbClr val="059669"/>
                </a:solidFill>
                <a:latin typeface="Plus Jakarta Sans"/>
              </a:rPr>
              <a:t>Enhancement 02</a:t>
            </a:r>
            <a:endParaRPr sz="900" b="1" i="0" u="none">
              <a:solidFill>
                <a:srgbClr val="059669"/>
              </a:solidFill>
              <a:latin typeface="Plus Jakarta Sans"/>
            </a:endParaRPr>
          </a:p>
        </p:txBody>
      </p:sp>
      <p:sp>
        <p:nvSpPr>
          <p:cNvPr id="11" name="TextBox 10"/>
          <p:cNvSpPr txBox="1"/>
          <p:nvPr/>
        </p:nvSpPr>
        <p:spPr>
          <a:xfrm>
            <a:off x="838200" y="4262437"/>
            <a:ext cx="5029200" cy="981075"/>
          </a:xfrm>
          <a:prstGeom prst="rect">
            <a:avLst/>
          </a:prstGeom>
          <a:noFill/>
        </p:spPr>
        <p:txBody>
          <a:bodyPr wrap="square" lIns="0" tIns="0" rIns="0" bIns="0" anchor="t">
            <a:spAutoFit/>
          </a:bodyPr>
          <a:lstStyle/>
          <a:p>
            <a:pPr algn="l"/>
            <a:r>
              <a:rPr sz="900" b="1" i="0" u="none">
                <a:solidFill>
                  <a:srgbClr val="7C3AED"/>
                </a:solidFill>
                <a:latin typeface="Plus Jakarta Sans"/>
              </a:rPr>
              <a:t>Enhancement 03</a:t>
            </a:r>
            <a:endParaRPr sz="900" b="1" i="0" u="none">
              <a:solidFill>
                <a:srgbClr val="7C3AED"/>
              </a:solidFill>
              <a:latin typeface="Plus Jakarta Sans"/>
            </a:endParaRPr>
          </a:p>
        </p:txBody>
      </p:sp>
      <p:sp>
        <p:nvSpPr>
          <p:cNvPr id="12" name="TextBox 11"/>
          <p:cNvSpPr txBox="1"/>
          <p:nvPr/>
        </p:nvSpPr>
        <p:spPr>
          <a:xfrm>
            <a:off x="6419850" y="4262437"/>
            <a:ext cx="5029200" cy="981075"/>
          </a:xfrm>
          <a:prstGeom prst="rect">
            <a:avLst/>
          </a:prstGeom>
          <a:noFill/>
        </p:spPr>
        <p:txBody>
          <a:bodyPr wrap="square" lIns="0" tIns="0" rIns="0" bIns="0" anchor="t">
            <a:spAutoFit/>
          </a:bodyPr>
          <a:lstStyle/>
          <a:p>
            <a:pPr algn="l"/>
            <a:r>
              <a:rPr sz="900" b="1" i="0" u="none">
                <a:solidFill>
                  <a:srgbClr val="EF4444"/>
                </a:solidFill>
                <a:latin typeface="Plus Jakarta Sans"/>
              </a:rPr>
              <a:t>Enhancement 04</a:t>
            </a:r>
            <a:endParaRPr sz="900" b="1" i="0" u="none">
              <a:solidFill>
                <a:srgbClr val="EF4444"/>
              </a:solidFill>
              <a:latin typeface="Plus Jakarta Sans"/>
            </a:endParaRPr>
          </a:p>
        </p:txBody>
      </p:sp>
      <p:sp>
        <p:nvSpPr>
          <p:cNvPr id="13" name="TextBox 12"/>
          <p:cNvSpPr txBox="1"/>
          <p:nvPr/>
        </p:nvSpPr>
        <p:spPr>
          <a:xfrm>
            <a:off x="847725" y="2900362"/>
            <a:ext cx="6450806" cy="209550"/>
          </a:xfrm>
          <a:prstGeom prst="rect">
            <a:avLst/>
          </a:prstGeom>
          <a:noFill/>
        </p:spPr>
        <p:txBody>
          <a:bodyPr wrap="none" lIns="0" tIns="0" rIns="0" bIns="0" anchor="t">
            <a:spAutoFit/>
          </a:bodyPr>
          <a:lstStyle/>
          <a:p>
            <a:pPr algn="l"/>
            <a:r>
              <a:rPr sz="1275" b="1" i="0" u="none">
                <a:solidFill>
                  <a:srgbClr val="0F172A"/>
                </a:solidFill>
                <a:latin typeface="Plus Jakarta Sans"/>
              </a:rPr>
              <a:t>IoT Sensor Slot Detection</a:t>
            </a:r>
            <a:endParaRPr sz="1275" b="1" i="0" u="none">
              <a:solidFill>
                <a:srgbClr val="0F172A"/>
              </a:solidFill>
              <a:latin typeface="Plus Jakarta Sans"/>
            </a:endParaRPr>
          </a:p>
        </p:txBody>
      </p:sp>
      <p:sp>
        <p:nvSpPr>
          <p:cNvPr id="14" name="TextBox 13"/>
          <p:cNvSpPr txBox="1"/>
          <p:nvPr/>
        </p:nvSpPr>
        <p:spPr>
          <a:xfrm>
            <a:off x="847725" y="3205162"/>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Ultrasonic and camera sensors detect occupancy automatically and update slot status without manual input.</a:t>
            </a:r>
            <a:endParaRPr sz="1050" b="0" i="0" u="none">
              <a:solidFill>
                <a:srgbClr val="475569"/>
              </a:solidFill>
              <a:latin typeface="Plus Jakarta Sans"/>
            </a:endParaRPr>
          </a:p>
        </p:txBody>
      </p:sp>
      <p:sp>
        <p:nvSpPr>
          <p:cNvPr id="15" name="TextBox 14"/>
          <p:cNvSpPr txBox="1"/>
          <p:nvPr/>
        </p:nvSpPr>
        <p:spPr>
          <a:xfrm>
            <a:off x="6429375" y="2900362"/>
            <a:ext cx="5762625" cy="209550"/>
          </a:xfrm>
          <a:prstGeom prst="rect">
            <a:avLst/>
          </a:prstGeom>
          <a:noFill/>
        </p:spPr>
        <p:txBody>
          <a:bodyPr wrap="none" lIns="0" tIns="0" rIns="0" bIns="0" anchor="t">
            <a:spAutoFit/>
          </a:bodyPr>
          <a:lstStyle/>
          <a:p>
            <a:pPr algn="l"/>
            <a:r>
              <a:rPr sz="1275" b="1" i="0" u="none">
                <a:solidFill>
                  <a:srgbClr val="0F172A"/>
                </a:solidFill>
                <a:latin typeface="Plus Jakarta Sans"/>
              </a:rPr>
              <a:t>AI Demand Prediction</a:t>
            </a:r>
            <a:endParaRPr sz="1275" b="1" i="0" u="none">
              <a:solidFill>
                <a:srgbClr val="0F172A"/>
              </a:solidFill>
              <a:latin typeface="Plus Jakarta Sans"/>
            </a:endParaRPr>
          </a:p>
        </p:txBody>
      </p:sp>
      <p:sp>
        <p:nvSpPr>
          <p:cNvPr id="16" name="TextBox 15"/>
          <p:cNvSpPr txBox="1"/>
          <p:nvPr/>
        </p:nvSpPr>
        <p:spPr>
          <a:xfrm>
            <a:off x="6429375" y="3205162"/>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Machine learning models forecast parking availability and suggest the best lot and time before the driver leaves.</a:t>
            </a:r>
            <a:endParaRPr sz="1050" b="0" i="0" u="none">
              <a:solidFill>
                <a:srgbClr val="475569"/>
              </a:solidFill>
              <a:latin typeface="Plus Jakarta Sans"/>
            </a:endParaRPr>
          </a:p>
        </p:txBody>
      </p:sp>
      <p:sp>
        <p:nvSpPr>
          <p:cNvPr id="17" name="TextBox 16"/>
          <p:cNvSpPr txBox="1"/>
          <p:nvPr/>
        </p:nvSpPr>
        <p:spPr>
          <a:xfrm>
            <a:off x="847725" y="4529137"/>
            <a:ext cx="6450806" cy="209550"/>
          </a:xfrm>
          <a:prstGeom prst="rect">
            <a:avLst/>
          </a:prstGeom>
          <a:noFill/>
        </p:spPr>
        <p:txBody>
          <a:bodyPr wrap="none" lIns="0" tIns="0" rIns="0" bIns="0" anchor="t">
            <a:spAutoFit/>
          </a:bodyPr>
          <a:lstStyle/>
          <a:p>
            <a:pPr algn="l"/>
            <a:r>
              <a:rPr sz="1275" b="1" i="0" u="none">
                <a:solidFill>
                  <a:srgbClr val="0F172A"/>
                </a:solidFill>
                <a:latin typeface="Plus Jakarta Sans"/>
              </a:rPr>
              <a:t>Dynamic Pricing &amp; EV Charging</a:t>
            </a:r>
            <a:endParaRPr sz="1275" b="1" i="0" u="none">
              <a:solidFill>
                <a:srgbClr val="0F172A"/>
              </a:solidFill>
              <a:latin typeface="Plus Jakarta Sans"/>
            </a:endParaRPr>
          </a:p>
        </p:txBody>
      </p:sp>
      <p:sp>
        <p:nvSpPr>
          <p:cNvPr id="18" name="TextBox 17"/>
          <p:cNvSpPr txBox="1"/>
          <p:nvPr/>
        </p:nvSpPr>
        <p:spPr>
          <a:xfrm>
            <a:off x="847725" y="4833937"/>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Demand-based parking rates and EV charging-slot booking to support smart-city mobility goals.</a:t>
            </a:r>
            <a:endParaRPr sz="1050" b="0" i="0" u="none">
              <a:solidFill>
                <a:srgbClr val="475569"/>
              </a:solidFill>
              <a:latin typeface="Plus Jakarta Sans"/>
            </a:endParaRPr>
          </a:p>
        </p:txBody>
      </p:sp>
      <p:sp>
        <p:nvSpPr>
          <p:cNvPr id="19" name="TextBox 18"/>
          <p:cNvSpPr txBox="1"/>
          <p:nvPr/>
        </p:nvSpPr>
        <p:spPr>
          <a:xfrm>
            <a:off x="6429375" y="4529137"/>
            <a:ext cx="5762625" cy="209550"/>
          </a:xfrm>
          <a:prstGeom prst="rect">
            <a:avLst/>
          </a:prstGeom>
          <a:noFill/>
        </p:spPr>
        <p:txBody>
          <a:bodyPr wrap="none" lIns="0" tIns="0" rIns="0" bIns="0" anchor="t">
            <a:spAutoFit/>
          </a:bodyPr>
          <a:lstStyle/>
          <a:p>
            <a:pPr algn="l"/>
            <a:r>
              <a:rPr sz="1275" b="1" i="0" u="none">
                <a:solidFill>
                  <a:srgbClr val="0F172A"/>
                </a:solidFill>
                <a:latin typeface="Plus Jakarta Sans"/>
              </a:rPr>
              <a:t>ANPR &amp; Contactless Entry</a:t>
            </a:r>
            <a:endParaRPr sz="1275" b="1" i="0" u="none">
              <a:solidFill>
                <a:srgbClr val="0F172A"/>
              </a:solidFill>
              <a:latin typeface="Plus Jakarta Sans"/>
            </a:endParaRPr>
          </a:p>
        </p:txBody>
      </p:sp>
      <p:sp>
        <p:nvSpPr>
          <p:cNvPr id="20" name="TextBox 19"/>
          <p:cNvSpPr txBox="1"/>
          <p:nvPr/>
        </p:nvSpPr>
        <p:spPr>
          <a:xfrm>
            <a:off x="6429375" y="4833937"/>
            <a:ext cx="50101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Plus Jakarta Sans"/>
              </a:rPr>
              <a:t>License-plate recognition and QR-based gates for ticketless entry and automatic exit billing.</a:t>
            </a:r>
            <a:endParaRPr sz="1050" b="0" i="0" u="none">
              <a:solidFill>
                <a:srgbClr val="475569"/>
              </a:solidFill>
              <a:latin typeface="Plus Jakarta Sans"/>
            </a:endParaRPr>
          </a:p>
        </p:txBody>
      </p:sp>
      <p:pic>
        <p:nvPicPr>
          <p:cNvPr id="21"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306240"/>
            <a:ext cx="10972800" cy="434280"/>
          </a:xfrm>
          <a:prstGeom prst="roundRect">
            <a:avLst>
              <a:gd name="adj" fmla="val 175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873871"/>
            <a:ext cx="10972800" cy="620910"/>
          </a:xfrm>
          <a:prstGeom prst="roundRect">
            <a:avLst>
              <a:gd name="adj" fmla="val 1227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628132"/>
            <a:ext cx="10972800" cy="620910"/>
          </a:xfrm>
          <a:prstGeom prst="roundRect">
            <a:avLst>
              <a:gd name="adj" fmla="val 1227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382392"/>
            <a:ext cx="10972800" cy="620910"/>
          </a:xfrm>
          <a:prstGeom prst="roundRect">
            <a:avLst>
              <a:gd name="adj" fmla="val 1227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5136653"/>
            <a:ext cx="10972800" cy="434280"/>
          </a:xfrm>
          <a:prstGeom prst="roundRect">
            <a:avLst>
              <a:gd name="adj" fmla="val 175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307200"/>
            <a:ext cx="1785937" cy="600075"/>
          </a:xfrm>
          <a:prstGeom prst="rect">
            <a:avLst/>
          </a:prstGeom>
          <a:noFill/>
        </p:spPr>
        <p:txBody>
          <a:bodyPr wrap="square" lIns="0" tIns="0" rIns="0" bIns="0" anchor="t">
            <a:spAutoFit/>
          </a:bodyPr>
          <a:lstStyle/>
          <a:p>
            <a:pPr algn="l"/>
            <a:r>
              <a:rPr sz="975" b="1" i="0" u="none">
                <a:solidFill>
                  <a:srgbClr val="EF4444"/>
                </a:solidFill>
                <a:latin typeface="Plus Jakarta Sans"/>
              </a:rPr>
              <a:t>Technical Sources</a:t>
            </a:r>
            <a:endParaRPr sz="975" b="1" i="0" u="none">
              <a:solidFill>
                <a:srgbClr val="EF4444"/>
              </a:solidFill>
              <a:latin typeface="Plus Jakarta Sans"/>
            </a:endParaRPr>
          </a:p>
        </p:txBody>
      </p:sp>
      <p:sp>
        <p:nvSpPr>
          <p:cNvPr id="8" name="TextBox 7"/>
          <p:cNvSpPr txBox="1"/>
          <p:nvPr/>
        </p:nvSpPr>
        <p:spPr>
          <a:xfrm>
            <a:off x="10144125" y="1735825"/>
            <a:ext cx="1797843" cy="171450"/>
          </a:xfrm>
          <a:prstGeom prst="rect">
            <a:avLst/>
          </a:prstGeom>
          <a:noFill/>
        </p:spPr>
        <p:txBody>
          <a:bodyPr wrap="none" lIns="0" tIns="0" rIns="0" bIns="0" anchor="t">
            <a:spAutoFit/>
          </a:bodyPr>
          <a:lstStyle/>
          <a:p>
            <a:pPr algn="l"/>
            <a:r>
              <a:rPr sz="1050" b="1" i="0" u="none">
                <a:solidFill>
                  <a:srgbClr val="64748B"/>
                </a:solidFill>
                <a:latin typeface="Plus Jakarta Sans"/>
              </a:rPr>
              <a:t>Technical Documentation</a:t>
            </a:r>
            <a:endParaRPr sz="1050" b="1" i="0" u="none">
              <a:solidFill>
                <a:srgbClr val="64748B"/>
              </a:solidFill>
              <a:latin typeface="Plus Jakarta Sans"/>
            </a:endParaRPr>
          </a:p>
        </p:txBody>
      </p:sp>
      <p:sp>
        <p:nvSpPr>
          <p:cNvPr id="9" name="TextBox 8"/>
          <p:cNvSpPr txBox="1"/>
          <p:nvPr/>
        </p:nvSpPr>
        <p:spPr>
          <a:xfrm>
            <a:off x="609600" y="1545325"/>
            <a:ext cx="2219027" cy="361950"/>
          </a:xfrm>
          <a:prstGeom prst="rect">
            <a:avLst/>
          </a:prstGeom>
          <a:noFill/>
        </p:spPr>
        <p:txBody>
          <a:bodyPr wrap="none" lIns="0" tIns="0" rIns="0" bIns="0" anchor="t">
            <a:spAutoFit/>
          </a:bodyPr>
          <a:lstStyle/>
          <a:p>
            <a:pPr algn="l"/>
            <a:r>
              <a:rPr sz="2250" b="1" i="0" u="none">
                <a:solidFill>
                  <a:srgbClr val="0F172A"/>
                </a:solidFill>
                <a:latin typeface="Plus Jakarta Sans"/>
              </a:rPr>
              <a:t>References</a:t>
            </a:r>
            <a:endParaRPr sz="2250" b="1" i="0" u="none">
              <a:solidFill>
                <a:srgbClr val="0F172A"/>
              </a:solidFill>
              <a:latin typeface="Plus Jakarta Sans"/>
            </a:endParaRPr>
          </a:p>
        </p:txBody>
      </p:sp>
      <p:sp>
        <p:nvSpPr>
          <p:cNvPr id="10" name="TextBox 9"/>
          <p:cNvSpPr txBox="1"/>
          <p:nvPr/>
        </p:nvSpPr>
        <p:spPr>
          <a:xfrm>
            <a:off x="790575" y="2430065"/>
            <a:ext cx="11401425" cy="186630"/>
          </a:xfrm>
          <a:prstGeom prst="rect">
            <a:avLst/>
          </a:prstGeom>
          <a:noFill/>
        </p:spPr>
        <p:txBody>
          <a:bodyPr wrap="none" lIns="0" tIns="0" rIns="0" bIns="0" anchor="t">
            <a:spAutoFit/>
          </a:bodyPr>
          <a:lstStyle/>
          <a:p>
            <a:pPr algn="l">
              <a:lnSpc>
                <a:spcPts val="1470"/>
              </a:lnSpc>
            </a:pPr>
            <a:r>
              <a:rPr sz="1050" b="1" i="0" u="none">
                <a:solidFill>
                  <a:srgbClr val="334155"/>
                </a:solidFill>
                <a:latin typeface="Plus Jakarta Sans"/>
              </a:rPr>
              <a:t>[1] Google Maps Platform:</a:t>
            </a:r>
            <a:r>
              <a:rPr sz="1050" b="0" i="0" u="none">
                <a:solidFill>
                  <a:srgbClr val="334155"/>
                </a:solidFill>
                <a:latin typeface="Plus Jakarta Sans"/>
              </a:rPr>
              <a:t> </a:t>
            </a:r>
            <a:r>
              <a:rPr sz="1050" b="0" i="1" u="none">
                <a:solidFill>
                  <a:srgbClr val="334155"/>
                </a:solidFill>
                <a:latin typeface="Plus Jakarta Sans"/>
              </a:rPr>
              <a:t>“Maps SDK, Places API, and Directions API Documentation,”</a:t>
            </a:r>
            <a:r>
              <a:rPr sz="1050" b="0" i="0" u="none">
                <a:solidFill>
                  <a:srgbClr val="334155"/>
                </a:solidFill>
                <a:latin typeface="Plus Jakarta Sans"/>
              </a:rPr>
              <a:t> Google LLC, developers.google.com/maps.</a:t>
            </a:r>
            <a:endParaRPr sz="1050" b="0" i="0" u="none">
              <a:solidFill>
                <a:srgbClr val="334155"/>
              </a:solidFill>
              <a:latin typeface="Plus Jakarta Sans"/>
            </a:endParaRPr>
          </a:p>
        </p:txBody>
      </p:sp>
      <p:sp>
        <p:nvSpPr>
          <p:cNvPr id="11" name="TextBox 10"/>
          <p:cNvSpPr txBox="1"/>
          <p:nvPr/>
        </p:nvSpPr>
        <p:spPr>
          <a:xfrm>
            <a:off x="790575" y="2997696"/>
            <a:ext cx="10706100" cy="373260"/>
          </a:xfrm>
          <a:prstGeom prst="rect">
            <a:avLst/>
          </a:prstGeom>
          <a:noFill/>
        </p:spPr>
        <p:txBody>
          <a:bodyPr wrap="square" lIns="0" tIns="0" rIns="0" bIns="0" anchor="t">
            <a:spAutoFit/>
          </a:bodyPr>
          <a:lstStyle/>
          <a:p>
            <a:pPr algn="l">
              <a:lnSpc>
                <a:spcPts val="1470"/>
              </a:lnSpc>
            </a:pPr>
            <a:r>
              <a:rPr sz="1050" b="1" i="0" u="none">
                <a:solidFill>
                  <a:srgbClr val="334155"/>
                </a:solidFill>
                <a:latin typeface="Plus Jakarta Sans"/>
              </a:rPr>
              <a:t>[2] Flutter:</a:t>
            </a:r>
            <a:r>
              <a:rPr sz="1050" b="0" i="0" u="none">
                <a:solidFill>
                  <a:srgbClr val="334155"/>
                </a:solidFill>
                <a:latin typeface="Plus Jakarta Sans"/>
              </a:rPr>
              <a:t> </a:t>
            </a:r>
            <a:r>
              <a:rPr sz="1050" b="0" i="1" u="none">
                <a:solidFill>
                  <a:srgbClr val="334155"/>
                </a:solidFill>
                <a:latin typeface="Plus Jakarta Sans"/>
              </a:rPr>
              <a:t>“Flutter Documentation: Building Cross-Platform Applications,”</a:t>
            </a:r>
            <a:r>
              <a:rPr sz="1050" b="0" i="0" u="none">
                <a:solidFill>
                  <a:srgbClr val="334155"/>
                </a:solidFill>
                <a:latin typeface="Plus Jakarta Sans"/>
              </a:rPr>
              <a:t> Google LLC, docs.flutter.dev.</a:t>
            </a:r>
            <a:endParaRPr sz="1050" b="0" i="0" u="none">
              <a:solidFill>
                <a:srgbClr val="334155"/>
              </a:solidFill>
              <a:latin typeface="Plus Jakarta Sans"/>
            </a:endParaRPr>
          </a:p>
        </p:txBody>
      </p:sp>
      <p:sp>
        <p:nvSpPr>
          <p:cNvPr id="12" name="TextBox 11"/>
          <p:cNvSpPr txBox="1"/>
          <p:nvPr/>
        </p:nvSpPr>
        <p:spPr>
          <a:xfrm>
            <a:off x="790575" y="3751957"/>
            <a:ext cx="10706100" cy="373260"/>
          </a:xfrm>
          <a:prstGeom prst="rect">
            <a:avLst/>
          </a:prstGeom>
          <a:noFill/>
        </p:spPr>
        <p:txBody>
          <a:bodyPr wrap="square" lIns="0" tIns="0" rIns="0" bIns="0" anchor="t">
            <a:spAutoFit/>
          </a:bodyPr>
          <a:lstStyle/>
          <a:p>
            <a:pPr algn="l">
              <a:lnSpc>
                <a:spcPts val="1470"/>
              </a:lnSpc>
            </a:pPr>
            <a:r>
              <a:rPr sz="1050" b="1" i="0" u="none">
                <a:solidFill>
                  <a:srgbClr val="334155"/>
                </a:solidFill>
                <a:latin typeface="Plus Jakarta Sans"/>
              </a:rPr>
              <a:t>[3] Firebase:</a:t>
            </a:r>
            <a:r>
              <a:rPr sz="1050" b="0" i="0" u="none">
                <a:solidFill>
                  <a:srgbClr val="334155"/>
                </a:solidFill>
                <a:latin typeface="Plus Jakarta Sans"/>
              </a:rPr>
              <a:t> </a:t>
            </a:r>
            <a:r>
              <a:rPr sz="1050" b="0" i="1" u="none">
                <a:solidFill>
                  <a:srgbClr val="334155"/>
                </a:solidFill>
                <a:latin typeface="Plus Jakarta Sans"/>
              </a:rPr>
              <a:t>“Firebase Authentication, Realtime Database, and Cloud Messaging Documentation,”</a:t>
            </a:r>
            <a:r>
              <a:rPr sz="1050" b="0" i="0" u="none">
                <a:solidFill>
                  <a:srgbClr val="334155"/>
                </a:solidFill>
                <a:latin typeface="Plus Jakarta Sans"/>
              </a:rPr>
              <a:t> Google LLC, firebase.google.com/docs.</a:t>
            </a:r>
            <a:endParaRPr sz="1050" b="0" i="0" u="none">
              <a:solidFill>
                <a:srgbClr val="334155"/>
              </a:solidFill>
              <a:latin typeface="Plus Jakarta Sans"/>
            </a:endParaRPr>
          </a:p>
        </p:txBody>
      </p:sp>
      <p:sp>
        <p:nvSpPr>
          <p:cNvPr id="13" name="TextBox 12"/>
          <p:cNvSpPr txBox="1"/>
          <p:nvPr/>
        </p:nvSpPr>
        <p:spPr>
          <a:xfrm>
            <a:off x="790575" y="4506217"/>
            <a:ext cx="10706100" cy="373260"/>
          </a:xfrm>
          <a:prstGeom prst="rect">
            <a:avLst/>
          </a:prstGeom>
          <a:noFill/>
        </p:spPr>
        <p:txBody>
          <a:bodyPr wrap="square" lIns="0" tIns="0" rIns="0" bIns="0" anchor="t">
            <a:spAutoFit/>
          </a:bodyPr>
          <a:lstStyle/>
          <a:p>
            <a:pPr algn="l">
              <a:lnSpc>
                <a:spcPts val="1470"/>
              </a:lnSpc>
            </a:pPr>
            <a:r>
              <a:rPr sz="1050" b="1" i="0" u="none">
                <a:solidFill>
                  <a:srgbClr val="334155"/>
                </a:solidFill>
                <a:latin typeface="Plus Jakarta Sans"/>
              </a:rPr>
              <a:t>[4] Razorpay:</a:t>
            </a:r>
            <a:r>
              <a:rPr sz="1050" b="0" i="0" u="none">
                <a:solidFill>
                  <a:srgbClr val="334155"/>
                </a:solidFill>
                <a:latin typeface="Plus Jakarta Sans"/>
              </a:rPr>
              <a:t> </a:t>
            </a:r>
            <a:r>
              <a:rPr sz="1050" b="0" i="1" u="none">
                <a:solidFill>
                  <a:srgbClr val="334155"/>
                </a:solidFill>
                <a:latin typeface="Plus Jakarta Sans"/>
              </a:rPr>
              <a:t>“Razorpay Payment Gateway API Documentation,”</a:t>
            </a:r>
            <a:r>
              <a:rPr sz="1050" b="0" i="0" u="none">
                <a:solidFill>
                  <a:srgbClr val="334155"/>
                </a:solidFill>
                <a:latin typeface="Plus Jakarta Sans"/>
              </a:rPr>
              <a:t> Razorpay Software Pvt. Ltd., razorpay.com/docs.</a:t>
            </a:r>
            <a:endParaRPr sz="1050" b="0" i="0" u="none">
              <a:solidFill>
                <a:srgbClr val="334155"/>
              </a:solidFill>
              <a:latin typeface="Plus Jakarta Sans"/>
            </a:endParaRPr>
          </a:p>
        </p:txBody>
      </p:sp>
      <p:sp>
        <p:nvSpPr>
          <p:cNvPr id="14" name="TextBox 13"/>
          <p:cNvSpPr txBox="1"/>
          <p:nvPr/>
        </p:nvSpPr>
        <p:spPr>
          <a:xfrm>
            <a:off x="790575" y="5260478"/>
            <a:ext cx="11401425" cy="186630"/>
          </a:xfrm>
          <a:prstGeom prst="rect">
            <a:avLst/>
          </a:prstGeom>
          <a:noFill/>
        </p:spPr>
        <p:txBody>
          <a:bodyPr wrap="none" lIns="0" tIns="0" rIns="0" bIns="0" anchor="t">
            <a:spAutoFit/>
          </a:bodyPr>
          <a:lstStyle/>
          <a:p>
            <a:pPr algn="l">
              <a:lnSpc>
                <a:spcPts val="1470"/>
              </a:lnSpc>
            </a:pPr>
            <a:r>
              <a:rPr sz="1050" b="1" i="0" u="none">
                <a:solidFill>
                  <a:srgbClr val="334155"/>
                </a:solidFill>
                <a:latin typeface="Plus Jakarta Sans"/>
              </a:rPr>
              <a:t>[5] OpenStreetMap Contributors:</a:t>
            </a:r>
            <a:r>
              <a:rPr sz="1050" b="0" i="0" u="none">
                <a:solidFill>
                  <a:srgbClr val="334155"/>
                </a:solidFill>
                <a:latin typeface="Plus Jakarta Sans"/>
              </a:rPr>
              <a:t> </a:t>
            </a:r>
            <a:r>
              <a:rPr sz="1050" b="0" i="1" u="none">
                <a:solidFill>
                  <a:srgbClr val="334155"/>
                </a:solidFill>
                <a:latin typeface="Plus Jakarta Sans"/>
              </a:rPr>
              <a:t>“OpenStreetMap: Open Geographic Data for Mapping and Routing,”</a:t>
            </a:r>
            <a:r>
              <a:rPr sz="1050" b="0" i="0" u="none">
                <a:solidFill>
                  <a:srgbClr val="334155"/>
                </a:solidFill>
                <a:latin typeface="Plus Jakarta Sans"/>
              </a:rPr>
              <a:t> OpenStreetMap Foundation, openstreetmap.org.</a:t>
            </a:r>
            <a:endParaRPr sz="1050" b="0" i="0" u="none">
              <a:solidFill>
                <a:srgbClr val="334155"/>
              </a:solidFill>
              <a:latin typeface="Plus Jakarta Sans"/>
            </a:endParaRPr>
          </a:p>
        </p:txBody>
      </p:sp>
      <p:pic>
        <p:nvPicPr>
          <p:cNvPr id="15"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5867400" y="2114550"/>
            <a:ext cx="457200" cy="381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786312" y="4333875"/>
            <a:ext cx="2619375" cy="409575"/>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20690" y="2381250"/>
            <a:ext cx="4950618" cy="714375"/>
          </a:xfrm>
          <a:prstGeom prst="rect">
            <a:avLst/>
          </a:prstGeom>
          <a:noFill/>
        </p:spPr>
        <p:txBody>
          <a:bodyPr wrap="none" lIns="0" tIns="0" rIns="0" bIns="0" anchor="t">
            <a:spAutoFit/>
          </a:bodyPr>
          <a:lstStyle/>
          <a:p>
            <a:pPr algn="ctr"/>
            <a:r>
              <a:rPr sz="4500" b="1" i="0" u="none">
                <a:solidFill>
                  <a:srgbClr val="F8FAFC"/>
                </a:solidFill>
                <a:latin typeface="Plus Jakarta Sans"/>
              </a:rPr>
              <a:t>THANK YOU!</a:t>
            </a:r>
            <a:endParaRPr sz="4500" b="1" i="0" u="none">
              <a:solidFill>
                <a:srgbClr val="F8FAFC"/>
              </a:solidFill>
              <a:latin typeface="Plus Jakarta Sans"/>
            </a:endParaRPr>
          </a:p>
        </p:txBody>
      </p:sp>
      <p:sp>
        <p:nvSpPr>
          <p:cNvPr id="5" name="TextBox 4"/>
          <p:cNvSpPr txBox="1"/>
          <p:nvPr/>
        </p:nvSpPr>
        <p:spPr>
          <a:xfrm>
            <a:off x="4512468" y="3228975"/>
            <a:ext cx="3167062" cy="266700"/>
          </a:xfrm>
          <a:prstGeom prst="rect">
            <a:avLst/>
          </a:prstGeom>
          <a:noFill/>
        </p:spPr>
        <p:txBody>
          <a:bodyPr wrap="none" lIns="0" tIns="0" rIns="0" bIns="0" anchor="t">
            <a:spAutoFit/>
          </a:bodyPr>
          <a:lstStyle/>
          <a:p>
            <a:pPr algn="ctr"/>
            <a:r>
              <a:rPr sz="1650" b="1" i="0" u="none">
                <a:solidFill>
                  <a:srgbClr val="38BDF8"/>
                </a:solidFill>
                <a:latin typeface="Plus Jakarta Sans"/>
              </a:rPr>
              <a:t>ParkEasy Platform</a:t>
            </a:r>
            <a:endParaRPr sz="1650" b="1" i="0" u="none">
              <a:solidFill>
                <a:srgbClr val="38BDF8"/>
              </a:solidFill>
              <a:latin typeface="Plus Jakarta Sans"/>
            </a:endParaRPr>
          </a:p>
        </p:txBody>
      </p:sp>
      <p:sp>
        <p:nvSpPr>
          <p:cNvPr id="6" name="TextBox 5"/>
          <p:cNvSpPr txBox="1"/>
          <p:nvPr/>
        </p:nvSpPr>
        <p:spPr>
          <a:xfrm>
            <a:off x="2047875" y="3571875"/>
            <a:ext cx="8096250" cy="457200"/>
          </a:xfrm>
          <a:prstGeom prst="rect">
            <a:avLst/>
          </a:prstGeom>
          <a:noFill/>
        </p:spPr>
        <p:txBody>
          <a:bodyPr wrap="square" lIns="0" tIns="0" rIns="0" bIns="0" anchor="t">
            <a:spAutoFit/>
          </a:bodyPr>
          <a:lstStyle/>
          <a:p>
            <a:pPr algn="ctr">
              <a:lnSpc>
                <a:spcPts val="1800"/>
              </a:lnSpc>
            </a:pPr>
            <a:r>
              <a:rPr sz="1200" b="0" i="0" u="none">
                <a:solidFill>
                  <a:srgbClr val="94A3B8"/>
                </a:solidFill>
                <a:latin typeface="Plus Jakarta Sans"/>
              </a:rPr>
              <a:t>A smart parking solution that helps drivers find, book, pay for, and navigate to parking in minutes.</a:t>
            </a:r>
            <a:endParaRPr sz="1200" b="0" i="0" u="none">
              <a:solidFill>
                <a:srgbClr val="94A3B8"/>
              </a:solidFill>
              <a:latin typeface="Plus Jakarta Sans"/>
            </a:endParaRPr>
          </a:p>
        </p:txBody>
      </p:sp>
      <p:sp>
        <p:nvSpPr>
          <p:cNvPr id="7" name="TextBox 6"/>
          <p:cNvSpPr txBox="1"/>
          <p:nvPr/>
        </p:nvSpPr>
        <p:spPr>
          <a:xfrm>
            <a:off x="4725590" y="4429125"/>
            <a:ext cx="2740818" cy="219075"/>
          </a:xfrm>
          <a:prstGeom prst="rect">
            <a:avLst/>
          </a:prstGeom>
          <a:noFill/>
        </p:spPr>
        <p:txBody>
          <a:bodyPr wrap="square" lIns="0" tIns="0" rIns="0" bIns="0" anchor="t">
            <a:spAutoFit/>
          </a:bodyPr>
          <a:lstStyle/>
          <a:p>
            <a:pPr algn="ctr"/>
            <a:r>
              <a:rPr sz="1050" b="1" i="0" u="none">
                <a:solidFill>
                  <a:srgbClr val="E2E8F0"/>
                </a:solidFill>
                <a:latin typeface="Plus Jakarta Sans"/>
              </a:rPr>
              <a:t>Questions &amp; Technical Discussion</a:t>
            </a:r>
            <a:endParaRPr sz="1050" b="1" i="0" u="none">
              <a:solidFill>
                <a:srgbClr val="E2E8F0"/>
              </a:solidFill>
              <a:latin typeface="Plus Jakarta Sans"/>
            </a:endParaRPr>
          </a:p>
        </p:txBody>
      </p:sp>
      <p:sp>
        <p:nvSpPr>
          <p:cNvPr id="8" name="Header Band"/>
          <p:cNvSpPr/>
          <p:nvPr/>
        </p:nvSpPr>
        <p:spPr>
          <a:xfrm>
            <a:off x="0" y="0"/>
            <a:ext cx="12192000" cy="12175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IMATS Header" descr="5b09ae4e-image.png"/>
          <p:cNvPicPr>
            <a:picLocks noChangeAspect="1"/>
          </p:cNvPicPr>
          <p:nvPr/>
        </p:nvPicPr>
        <p:blipFill>
          <a:blip r:embed="rId1"/>
          <a:stretch>
            <a:fillRect/>
          </a:stretch>
        </p:blipFill>
        <p:spPr>
          <a:xfrm>
            <a:off x="609600" y="80000"/>
            <a:ext cx="10300000" cy="105753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464185" y="596265"/>
            <a:ext cx="5447665" cy="5665470"/>
          </a:xfrm>
          <a:prstGeom prst="rect">
            <a:avLst/>
          </a:prstGeom>
        </p:spPr>
      </p:pic>
      <p:pic>
        <p:nvPicPr>
          <p:cNvPr id="3" name="Picture 2"/>
          <p:cNvPicPr>
            <a:picLocks noChangeAspect="1"/>
          </p:cNvPicPr>
          <p:nvPr/>
        </p:nvPicPr>
        <p:blipFill>
          <a:blip r:embed="rId2"/>
          <a:stretch>
            <a:fillRect/>
          </a:stretch>
        </p:blipFill>
        <p:spPr>
          <a:xfrm>
            <a:off x="5911850" y="848995"/>
            <a:ext cx="5993765" cy="5412740"/>
          </a:xfrm>
          <a:prstGeom prst="rect">
            <a:avLst/>
          </a:prstGeom>
        </p:spPr>
      </p:pic>
    </p:spTree>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Editorial</Template>
  <TotalTime>0</TotalTime>
  <Words>9642</Words>
  <Application>WPS Presentation</Application>
  <PresentationFormat>Widescreen</PresentationFormat>
  <Paragraphs>620</Paragraphs>
  <Slides>17</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Aptos</vt:lpstr>
      <vt:lpstr>Segoe UI</vt:lpstr>
      <vt:lpstr>Helvetica Neue</vt:lpstr>
      <vt:lpstr>Times New Roman</vt:lpstr>
      <vt:lpstr>Plus Jakarta Sans</vt:lpstr>
      <vt:lpstr>Segoe Print</vt:lpstr>
      <vt:lpstr>Trade Gothic Next Light</vt:lpstr>
      <vt:lpstr>Microsoft YaHei</vt:lpstr>
      <vt:lpstr>Arial Unicode MS</vt:lpstr>
      <vt:lpstr>Haettenschweiler</vt:lpstr>
      <vt:lpstr>Calibri</vt:lpstr>
      <vt:lpstr>Editorial</vt:lpstr>
      <vt:lpstr>ParkEasy — Location-Based Smart Parking &amp; Navigation App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pradeepkumar673atyt</cp:lastModifiedBy>
  <cp:revision>4</cp:revision>
  <dcterms:created xsi:type="dcterms:W3CDTF">2013-01-27T09:14:00Z</dcterms:created>
  <dcterms:modified xsi:type="dcterms:W3CDTF">2026-10-15T04:58:07Z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0FBEFC5DEB104CEFAAA7A8C3D8689A4E_13</vt:lpwstr>
  </property>
  <property fmtid="{D5CDD505-2E9C-101B-9397-08002B2CF9AE}" pid="3" name="KSOProductBuildVer">
    <vt:lpwstr>2057-12.2.0.23206</vt:lpwstr>
  </property>
</Properties>
</file>